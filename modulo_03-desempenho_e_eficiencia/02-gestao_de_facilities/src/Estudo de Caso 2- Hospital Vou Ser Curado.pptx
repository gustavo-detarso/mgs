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60" r:id="rId2"/>
    <p:sldId id="261" r:id="rId3"/>
  </p:sldIdLst>
  <p:sldSz cx="7772400" cy="10058400"/>
  <p:notesSz cx="10058400"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64"/>
    <p:restoredTop sz="94610"/>
  </p:normalViewPr>
  <p:slideViewPr>
    <p:cSldViewPr snapToGrid="0" snapToObjects="1">
      <p:cViewPr>
        <p:scale>
          <a:sx n="130" d="100"/>
          <a:sy n="130" d="100"/>
        </p:scale>
        <p:origin x="1584" y="-30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3258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94B43-4F8D-F4D5-4F72-15B8A3FEC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0E7E41-EE83-8DD9-A847-AFA5BA12BC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D2274B-2A07-5A75-E6B4-80D4831367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A843C4-E370-162E-AD93-A1EFD446EB04}"/>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996152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4CDA6-8004-087C-86D7-25C2A5E797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5F6A9D-D9A8-809E-855D-ACD11D05EC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7780C3-53AE-3642-5101-D289FC5E23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BA3183-85E3-B8C2-D214-89C9B3487A11}"/>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88247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6C945-8AD4-A1F1-7D49-69FF7F8D6CF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3BBD730-87FE-FA77-B16E-B05D9B5DB0C6}"/>
              </a:ext>
            </a:extLst>
          </p:cNvPr>
          <p:cNvPicPr>
            <a:picLocks noChangeAspect="1"/>
          </p:cNvPicPr>
          <p:nvPr/>
        </p:nvPicPr>
        <p:blipFill>
          <a:blip r:embed="rId3"/>
          <a:stretch>
            <a:fillRect/>
          </a:stretch>
        </p:blipFill>
        <p:spPr>
          <a:xfrm>
            <a:off x="0" y="0"/>
            <a:ext cx="7772400" cy="10058400"/>
          </a:xfrm>
          <a:prstGeom prst="rect">
            <a:avLst/>
          </a:prstGeom>
        </p:spPr>
      </p:pic>
      <p:pic>
        <p:nvPicPr>
          <p:cNvPr id="3" name="Image 1" descr="preencoded.png">
            <a:extLst>
              <a:ext uri="{FF2B5EF4-FFF2-40B4-BE49-F238E27FC236}">
                <a16:creationId xmlns:a16="http://schemas.microsoft.com/office/drawing/2014/main" id="{E52D4E94-67CD-14C1-490C-CFDBEC9D9B00}"/>
              </a:ext>
            </a:extLst>
          </p:cNvPr>
          <p:cNvPicPr>
            <a:picLocks noChangeAspect="1"/>
          </p:cNvPicPr>
          <p:nvPr/>
        </p:nvPicPr>
        <p:blipFill>
          <a:blip r:embed="rId4"/>
          <a:stretch>
            <a:fillRect/>
          </a:stretch>
        </p:blipFill>
        <p:spPr>
          <a:xfrm>
            <a:off x="5688" y="131021"/>
            <a:ext cx="7772400" cy="2695575"/>
          </a:xfrm>
          <a:prstGeom prst="rect">
            <a:avLst/>
          </a:prstGeom>
        </p:spPr>
      </p:pic>
      <p:pic>
        <p:nvPicPr>
          <p:cNvPr id="4" name="Image 2" descr="preencoded.png">
            <a:extLst>
              <a:ext uri="{FF2B5EF4-FFF2-40B4-BE49-F238E27FC236}">
                <a16:creationId xmlns:a16="http://schemas.microsoft.com/office/drawing/2014/main" id="{4816BA16-B5B0-3C5C-5BEA-34179DE094A6}"/>
              </a:ext>
            </a:extLst>
          </p:cNvPr>
          <p:cNvPicPr>
            <a:picLocks noChangeAspect="1"/>
          </p:cNvPicPr>
          <p:nvPr/>
        </p:nvPicPr>
        <p:blipFill>
          <a:blip r:embed="rId5"/>
          <a:stretch>
            <a:fillRect/>
          </a:stretch>
        </p:blipFill>
        <p:spPr>
          <a:xfrm>
            <a:off x="-28575" y="9953530"/>
            <a:ext cx="1962150" cy="104775"/>
          </a:xfrm>
          <a:prstGeom prst="rect">
            <a:avLst/>
          </a:prstGeom>
        </p:spPr>
      </p:pic>
      <p:pic>
        <p:nvPicPr>
          <p:cNvPr id="5" name="Image 3" descr="preencoded.png">
            <a:extLst>
              <a:ext uri="{FF2B5EF4-FFF2-40B4-BE49-F238E27FC236}">
                <a16:creationId xmlns:a16="http://schemas.microsoft.com/office/drawing/2014/main" id="{4D7CAC7D-E1D6-43C0-CA36-D705218996EE}"/>
              </a:ext>
            </a:extLst>
          </p:cNvPr>
          <p:cNvPicPr>
            <a:picLocks noChangeAspect="1"/>
          </p:cNvPicPr>
          <p:nvPr/>
        </p:nvPicPr>
        <p:blipFill>
          <a:blip r:embed="rId6"/>
          <a:stretch>
            <a:fillRect/>
          </a:stretch>
        </p:blipFill>
        <p:spPr>
          <a:xfrm>
            <a:off x="1917697" y="9953530"/>
            <a:ext cx="1962150" cy="104775"/>
          </a:xfrm>
          <a:prstGeom prst="rect">
            <a:avLst/>
          </a:prstGeom>
        </p:spPr>
      </p:pic>
      <p:pic>
        <p:nvPicPr>
          <p:cNvPr id="6" name="Image 4" descr="preencoded.png">
            <a:extLst>
              <a:ext uri="{FF2B5EF4-FFF2-40B4-BE49-F238E27FC236}">
                <a16:creationId xmlns:a16="http://schemas.microsoft.com/office/drawing/2014/main" id="{8C2DB5D8-DD1F-4CC1-954D-DF418E25ED01}"/>
              </a:ext>
            </a:extLst>
          </p:cNvPr>
          <p:cNvPicPr>
            <a:picLocks noChangeAspect="1"/>
          </p:cNvPicPr>
          <p:nvPr/>
        </p:nvPicPr>
        <p:blipFill>
          <a:blip r:embed="rId7"/>
          <a:stretch>
            <a:fillRect/>
          </a:stretch>
        </p:blipFill>
        <p:spPr>
          <a:xfrm>
            <a:off x="3863978" y="9953530"/>
            <a:ext cx="1962150" cy="104775"/>
          </a:xfrm>
          <a:prstGeom prst="rect">
            <a:avLst/>
          </a:prstGeom>
        </p:spPr>
      </p:pic>
      <p:pic>
        <p:nvPicPr>
          <p:cNvPr id="7" name="Image 5" descr="preencoded.png">
            <a:extLst>
              <a:ext uri="{FF2B5EF4-FFF2-40B4-BE49-F238E27FC236}">
                <a16:creationId xmlns:a16="http://schemas.microsoft.com/office/drawing/2014/main" id="{BA33D31F-42DF-3BC5-7B8C-357D6B6F1D72}"/>
              </a:ext>
            </a:extLst>
          </p:cNvPr>
          <p:cNvPicPr>
            <a:picLocks noChangeAspect="1"/>
          </p:cNvPicPr>
          <p:nvPr/>
        </p:nvPicPr>
        <p:blipFill>
          <a:blip r:embed="rId8"/>
          <a:stretch>
            <a:fillRect/>
          </a:stretch>
        </p:blipFill>
        <p:spPr>
          <a:xfrm>
            <a:off x="5810250" y="9953625"/>
            <a:ext cx="1962150" cy="104775"/>
          </a:xfrm>
          <a:prstGeom prst="rect">
            <a:avLst/>
          </a:prstGeom>
        </p:spPr>
      </p:pic>
      <p:sp>
        <p:nvSpPr>
          <p:cNvPr id="8" name="Text 0">
            <a:extLst>
              <a:ext uri="{FF2B5EF4-FFF2-40B4-BE49-F238E27FC236}">
                <a16:creationId xmlns:a16="http://schemas.microsoft.com/office/drawing/2014/main" id="{98039779-43BA-2D55-9998-E65C44A79E5D}"/>
              </a:ext>
            </a:extLst>
          </p:cNvPr>
          <p:cNvSpPr/>
          <p:nvPr/>
        </p:nvSpPr>
        <p:spPr>
          <a:xfrm>
            <a:off x="1197769" y="9286875"/>
            <a:ext cx="1362075" cy="314325"/>
          </a:xfrm>
          <a:prstGeom prst="rect">
            <a:avLst/>
          </a:prstGeom>
          <a:noFill/>
          <a:ln/>
        </p:spPr>
        <p:txBody>
          <a:bodyPr wrap="square" lIns="0" tIns="0" rIns="0" bIns="0" rtlCol="0" anchor="ctr"/>
          <a:lstStyle/>
          <a:p>
            <a:pPr marL="0" indent="0" algn="l">
              <a:lnSpc>
                <a:spcPct val="73116"/>
              </a:lnSpc>
              <a:buNone/>
            </a:pPr>
            <a:r>
              <a:rPr lang="en-US" sz="1125" b="1" dirty="0">
                <a:solidFill>
                  <a:srgbClr val="1E1E1E"/>
                </a:solidFill>
                <a:latin typeface="Karla" pitchFamily="34" charset="0"/>
                <a:ea typeface="Karla" pitchFamily="34" charset="-122"/>
                <a:cs typeface="Karla" pitchFamily="34" charset="-120"/>
              </a:rPr>
              <a:t>HOSPITAL VOU SER CURADO</a:t>
            </a:r>
            <a:endParaRPr lang="en-US" sz="1125" dirty="0"/>
          </a:p>
        </p:txBody>
      </p:sp>
      <p:pic>
        <p:nvPicPr>
          <p:cNvPr id="9" name="Image 6" descr="preencoded.png">
            <a:extLst>
              <a:ext uri="{FF2B5EF4-FFF2-40B4-BE49-F238E27FC236}">
                <a16:creationId xmlns:a16="http://schemas.microsoft.com/office/drawing/2014/main" id="{1E2ED79D-5E6B-F391-BB60-F9B443D8C754}"/>
              </a:ext>
            </a:extLst>
          </p:cNvPr>
          <p:cNvPicPr>
            <a:picLocks noChangeAspect="1"/>
          </p:cNvPicPr>
          <p:nvPr/>
        </p:nvPicPr>
        <p:blipFill>
          <a:blip r:embed="rId9"/>
          <a:stretch>
            <a:fillRect/>
          </a:stretch>
        </p:blipFill>
        <p:spPr>
          <a:xfrm>
            <a:off x="2545556" y="9267825"/>
            <a:ext cx="190500" cy="342900"/>
          </a:xfrm>
          <a:prstGeom prst="rect">
            <a:avLst/>
          </a:prstGeom>
        </p:spPr>
      </p:pic>
      <p:pic>
        <p:nvPicPr>
          <p:cNvPr id="10" name="Image 7" descr="preencoded.png">
            <a:extLst>
              <a:ext uri="{FF2B5EF4-FFF2-40B4-BE49-F238E27FC236}">
                <a16:creationId xmlns:a16="http://schemas.microsoft.com/office/drawing/2014/main" id="{50352B24-B882-44EB-916F-274552D9E0C6}"/>
              </a:ext>
            </a:extLst>
          </p:cNvPr>
          <p:cNvPicPr>
            <a:picLocks noChangeAspect="1"/>
          </p:cNvPicPr>
          <p:nvPr/>
        </p:nvPicPr>
        <p:blipFill>
          <a:blip r:embed="rId10"/>
          <a:stretch>
            <a:fillRect/>
          </a:stretch>
        </p:blipFill>
        <p:spPr>
          <a:xfrm rot="-818934">
            <a:off x="5638476" y="1067010"/>
            <a:ext cx="1752600" cy="876300"/>
          </a:xfrm>
          <a:prstGeom prst="rect">
            <a:avLst/>
          </a:prstGeom>
        </p:spPr>
      </p:pic>
      <p:pic>
        <p:nvPicPr>
          <p:cNvPr id="11" name="Image 8" descr="preencoded.png">
            <a:extLst>
              <a:ext uri="{FF2B5EF4-FFF2-40B4-BE49-F238E27FC236}">
                <a16:creationId xmlns:a16="http://schemas.microsoft.com/office/drawing/2014/main" id="{03CA062A-95DE-2FCD-C4F5-37A4FCF8025C}"/>
              </a:ext>
            </a:extLst>
          </p:cNvPr>
          <p:cNvPicPr>
            <a:picLocks noChangeAspect="1"/>
          </p:cNvPicPr>
          <p:nvPr/>
        </p:nvPicPr>
        <p:blipFill>
          <a:blip r:embed="rId11"/>
          <a:stretch>
            <a:fillRect/>
          </a:stretch>
        </p:blipFill>
        <p:spPr>
          <a:xfrm>
            <a:off x="5705475" y="409575"/>
            <a:ext cx="1409700" cy="1409700"/>
          </a:xfrm>
          <a:prstGeom prst="rect">
            <a:avLst/>
          </a:prstGeom>
        </p:spPr>
      </p:pic>
      <p:sp>
        <p:nvSpPr>
          <p:cNvPr id="18" name="Text 4">
            <a:extLst>
              <a:ext uri="{FF2B5EF4-FFF2-40B4-BE49-F238E27FC236}">
                <a16:creationId xmlns:a16="http://schemas.microsoft.com/office/drawing/2014/main" id="{41B4BD7C-390D-44F3-88A7-3DE89F1E327B}"/>
              </a:ext>
            </a:extLst>
          </p:cNvPr>
          <p:cNvSpPr/>
          <p:nvPr/>
        </p:nvSpPr>
        <p:spPr>
          <a:xfrm>
            <a:off x="466725" y="923925"/>
            <a:ext cx="4791075" cy="247650"/>
          </a:xfrm>
          <a:prstGeom prst="rect">
            <a:avLst/>
          </a:prstGeom>
          <a:noFill/>
          <a:ln/>
        </p:spPr>
        <p:txBody>
          <a:bodyPr wrap="square" lIns="0" tIns="0" rIns="0" bIns="0" rtlCol="0" anchor="ctr"/>
          <a:lstStyle/>
          <a:p>
            <a:pPr marL="0" indent="0" algn="l">
              <a:lnSpc>
                <a:spcPct val="79650"/>
              </a:lnSpc>
              <a:buNone/>
            </a:pPr>
            <a:r>
              <a:rPr lang="en-US" sz="1650" dirty="0">
                <a:solidFill>
                  <a:srgbClr val="FFFFFF"/>
                </a:solidFill>
                <a:latin typeface="Karla" pitchFamily="34" charset="0"/>
                <a:ea typeface="Karla" pitchFamily="34" charset="-122"/>
                <a:cs typeface="Karla" pitchFamily="34" charset="-120"/>
              </a:rPr>
              <a:t>Estudo de Caso: Gestão Hospitalar e Segurança</a:t>
            </a:r>
            <a:endParaRPr lang="en-US" sz="1650" dirty="0"/>
          </a:p>
        </p:txBody>
      </p:sp>
      <p:sp>
        <p:nvSpPr>
          <p:cNvPr id="19" name="Text 5">
            <a:extLst>
              <a:ext uri="{FF2B5EF4-FFF2-40B4-BE49-F238E27FC236}">
                <a16:creationId xmlns:a16="http://schemas.microsoft.com/office/drawing/2014/main" id="{A2547BBF-2CA1-4980-6971-43B59D6F4618}"/>
              </a:ext>
            </a:extLst>
          </p:cNvPr>
          <p:cNvSpPr/>
          <p:nvPr/>
        </p:nvSpPr>
        <p:spPr>
          <a:xfrm>
            <a:off x="444193" y="50287"/>
            <a:ext cx="5964011" cy="504825"/>
          </a:xfrm>
          <a:prstGeom prst="rect">
            <a:avLst/>
          </a:prstGeom>
          <a:noFill/>
          <a:ln/>
        </p:spPr>
        <p:txBody>
          <a:bodyPr wrap="square" lIns="0" tIns="0" rIns="0" bIns="0" rtlCol="0" anchor="ctr"/>
          <a:lstStyle/>
          <a:p>
            <a:pPr marL="0" indent="0" algn="l">
              <a:lnSpc>
                <a:spcPct val="66563"/>
              </a:lnSpc>
              <a:buNone/>
            </a:pPr>
            <a:endParaRPr lang="en-US" sz="2025" b="1" dirty="0">
              <a:solidFill>
                <a:srgbClr val="F6C326"/>
              </a:solidFill>
              <a:latin typeface="Karla" pitchFamily="34" charset="0"/>
              <a:ea typeface="Karla" pitchFamily="34" charset="-122"/>
              <a:cs typeface="Karla" pitchFamily="34" charset="-120"/>
            </a:endParaRPr>
          </a:p>
          <a:p>
            <a:pPr marL="0" indent="0" algn="l">
              <a:lnSpc>
                <a:spcPct val="66563"/>
              </a:lnSpc>
              <a:buNone/>
            </a:pPr>
            <a:r>
              <a:rPr lang="en-US" sz="2025" b="1" dirty="0">
                <a:solidFill>
                  <a:srgbClr val="F6C326"/>
                </a:solidFill>
                <a:latin typeface="Karla" pitchFamily="34" charset="0"/>
                <a:ea typeface="Karla" pitchFamily="34" charset="-122"/>
                <a:cs typeface="Karla" pitchFamily="34" charset="-120"/>
              </a:rPr>
              <a:t>CASE 2: Hospital Público 'VOU SER CURADO'</a:t>
            </a:r>
            <a:endParaRPr lang="en-US" sz="2025" dirty="0"/>
          </a:p>
        </p:txBody>
      </p:sp>
      <p:pic>
        <p:nvPicPr>
          <p:cNvPr id="20" name="Image 12" descr="preencoded.png">
            <a:extLst>
              <a:ext uri="{FF2B5EF4-FFF2-40B4-BE49-F238E27FC236}">
                <a16:creationId xmlns:a16="http://schemas.microsoft.com/office/drawing/2014/main" id="{57CC3F59-C7AD-F6AF-D921-F79BAC77787F}"/>
              </a:ext>
            </a:extLst>
          </p:cNvPr>
          <p:cNvPicPr>
            <a:picLocks noChangeAspect="1"/>
          </p:cNvPicPr>
          <p:nvPr/>
        </p:nvPicPr>
        <p:blipFill>
          <a:blip r:embed="rId12"/>
          <a:stretch>
            <a:fillRect/>
          </a:stretch>
        </p:blipFill>
        <p:spPr>
          <a:xfrm>
            <a:off x="781050" y="9277350"/>
            <a:ext cx="323850" cy="323850"/>
          </a:xfrm>
          <a:prstGeom prst="rect">
            <a:avLst/>
          </a:prstGeom>
        </p:spPr>
      </p:pic>
      <p:sp>
        <p:nvSpPr>
          <p:cNvPr id="22" name="Text 7">
            <a:extLst>
              <a:ext uri="{FF2B5EF4-FFF2-40B4-BE49-F238E27FC236}">
                <a16:creationId xmlns:a16="http://schemas.microsoft.com/office/drawing/2014/main" id="{C50D84FA-C27D-1FBC-83C7-4071A2EDEFC0}"/>
              </a:ext>
            </a:extLst>
          </p:cNvPr>
          <p:cNvSpPr/>
          <p:nvPr/>
        </p:nvSpPr>
        <p:spPr>
          <a:xfrm>
            <a:off x="2847975" y="9267825"/>
            <a:ext cx="4152900" cy="161925"/>
          </a:xfrm>
          <a:prstGeom prst="rect">
            <a:avLst/>
          </a:prstGeom>
          <a:noFill/>
          <a:ln/>
        </p:spPr>
        <p:txBody>
          <a:bodyPr wrap="square" lIns="0" tIns="0" rIns="0" bIns="0" rtlCol="0" anchor="ctr"/>
          <a:lstStyle/>
          <a:p>
            <a:pPr marL="0" indent="0" algn="l">
              <a:lnSpc>
                <a:spcPct val="79650"/>
              </a:lnSpc>
              <a:buNone/>
            </a:pPr>
            <a:r>
              <a:rPr lang="en-US" sz="1050" b="1" dirty="0">
                <a:solidFill>
                  <a:srgbClr val="000000"/>
                </a:solidFill>
                <a:latin typeface="Karla" pitchFamily="34" charset="0"/>
                <a:ea typeface="Karla" pitchFamily="34" charset="-122"/>
                <a:cs typeface="Karla" pitchFamily="34" charset="-120"/>
              </a:rPr>
              <a:t>Estudo de Caso do Hospital VOU SER CURADO</a:t>
            </a:r>
            <a:endParaRPr lang="en-US" sz="1050" dirty="0"/>
          </a:p>
        </p:txBody>
      </p:sp>
      <p:sp>
        <p:nvSpPr>
          <p:cNvPr id="23" name="CaixaDeTexto 22">
            <a:extLst>
              <a:ext uri="{FF2B5EF4-FFF2-40B4-BE49-F238E27FC236}">
                <a16:creationId xmlns:a16="http://schemas.microsoft.com/office/drawing/2014/main" id="{FF723BB6-922F-FE19-73B6-A92A3C7BBAE8}"/>
              </a:ext>
            </a:extLst>
          </p:cNvPr>
          <p:cNvSpPr txBox="1"/>
          <p:nvPr/>
        </p:nvSpPr>
        <p:spPr>
          <a:xfrm>
            <a:off x="485775" y="739164"/>
            <a:ext cx="4884204" cy="923330"/>
          </a:xfrm>
          <a:prstGeom prst="rect">
            <a:avLst/>
          </a:prstGeom>
          <a:noFill/>
        </p:spPr>
        <p:txBody>
          <a:bodyPr wrap="square" rtlCol="0">
            <a:spAutoFit/>
          </a:bodyPr>
          <a:lstStyle/>
          <a:p>
            <a:r>
              <a:rPr lang="pt-BR" dirty="0"/>
              <a:t>Disciplina: Gestão de </a:t>
            </a:r>
            <a:r>
              <a:rPr lang="pt-BR" dirty="0" err="1"/>
              <a:t>Facilities</a:t>
            </a:r>
            <a:r>
              <a:rPr lang="pt-BR" dirty="0"/>
              <a:t> em Organizações de Saúde</a:t>
            </a:r>
          </a:p>
          <a:p>
            <a:r>
              <a:rPr lang="pt-BR" dirty="0" err="1"/>
              <a:t>Profa</a:t>
            </a:r>
            <a:r>
              <a:rPr lang="pt-BR" dirty="0"/>
              <a:t>: Cláudia Herminia</a:t>
            </a:r>
          </a:p>
        </p:txBody>
      </p:sp>
      <p:sp>
        <p:nvSpPr>
          <p:cNvPr id="24" name="CaixaDeTexto 23">
            <a:extLst>
              <a:ext uri="{FF2B5EF4-FFF2-40B4-BE49-F238E27FC236}">
                <a16:creationId xmlns:a16="http://schemas.microsoft.com/office/drawing/2014/main" id="{AA1F7FB0-9F44-B6E3-7477-3E73DB9AE1C0}"/>
              </a:ext>
            </a:extLst>
          </p:cNvPr>
          <p:cNvSpPr txBox="1"/>
          <p:nvPr/>
        </p:nvSpPr>
        <p:spPr>
          <a:xfrm>
            <a:off x="444193" y="3322093"/>
            <a:ext cx="6753020" cy="5588068"/>
          </a:xfrm>
          <a:prstGeom prst="rect">
            <a:avLst/>
          </a:prstGeom>
          <a:noFill/>
        </p:spPr>
        <p:txBody>
          <a:bodyPr wrap="square">
            <a:spAutoFit/>
          </a:bodyPr>
          <a:lstStyle/>
          <a:p>
            <a:pPr indent="450215" algn="just">
              <a:lnSpc>
                <a:spcPct val="150000"/>
              </a:lnSpc>
              <a:buNone/>
            </a:pPr>
            <a:r>
              <a:rPr lang="pt-BR" sz="1600" dirty="0">
                <a:effectLst/>
                <a:latin typeface="Times New Roman" panose="02020603050405020304" pitchFamily="18" charset="0"/>
                <a:ea typeface="Times New Roman" panose="02020603050405020304" pitchFamily="18" charset="0"/>
              </a:rPr>
              <a:t>O Hospital público “ VOU SER CURADO” tem um contrato de gestão de 23 milhões, porém o estado vem passando por dificuldades financeiras e revisou todos os contratos com as OSS, reduzindo o valor em 20%. </a:t>
            </a:r>
          </a:p>
          <a:p>
            <a:pPr indent="450215" algn="just">
              <a:lnSpc>
                <a:spcPct val="150000"/>
              </a:lnSpc>
              <a:buNone/>
            </a:pPr>
            <a:r>
              <a:rPr lang="pt-BR" sz="1600" dirty="0">
                <a:effectLst/>
                <a:latin typeface="Times New Roman" panose="02020603050405020304" pitchFamily="18" charset="0"/>
                <a:ea typeface="Times New Roman" panose="02020603050405020304" pitchFamily="18" charset="0"/>
              </a:rPr>
              <a:t>Hospital de alta complexidade está localizado na região metropolitana com 2 milhões de habitantes, com alto índice de violência urbana. Volume de atendimento de 10mil/mês, dispõe de 350 leitos, sendo 85 leitos de CTI, e referência para Trauma.</a:t>
            </a:r>
          </a:p>
          <a:p>
            <a:pPr indent="450215" algn="just">
              <a:lnSpc>
                <a:spcPct val="150000"/>
              </a:lnSpc>
              <a:buNone/>
            </a:pPr>
            <a:r>
              <a:rPr lang="pt-BR" sz="1600" dirty="0">
                <a:effectLst/>
                <a:latin typeface="Times New Roman" panose="02020603050405020304" pitchFamily="18" charset="0"/>
                <a:ea typeface="Times New Roman" panose="02020603050405020304" pitchFamily="18" charset="0"/>
              </a:rPr>
              <a:t>O Gestor fez um estudo de viabilidade para terceirizar o serviço de segurança e usou como referência um que já tinha desenvolvido num mesmo Hospital no interior, administrado pela mesma OSS, porém ficou 80% acima do valor. </a:t>
            </a:r>
          </a:p>
          <a:p>
            <a:pPr indent="450215" algn="just">
              <a:lnSpc>
                <a:spcPct val="150000"/>
              </a:lnSpc>
              <a:buNone/>
            </a:pPr>
            <a:r>
              <a:rPr lang="pt-BR" sz="1600" dirty="0">
                <a:effectLst/>
                <a:latin typeface="Times New Roman" panose="02020603050405020304" pitchFamily="18" charset="0"/>
                <a:ea typeface="Times New Roman" panose="02020603050405020304" pitchFamily="18" charset="0"/>
              </a:rPr>
              <a:t>O Hospital do interior que serviu como base, tinha também 350 leitos, porém todos de enfermaria, com perfil de baixa complexidade, não tinham emergência aberta, sendo referência de internação para as UPAS da região. </a:t>
            </a:r>
          </a:p>
          <a:p>
            <a:pPr indent="450215" algn="just">
              <a:lnSpc>
                <a:spcPct val="150000"/>
              </a:lnSpc>
              <a:buNone/>
            </a:pPr>
            <a:r>
              <a:rPr lang="pt-BR" sz="16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2320300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A4426-F937-7704-DCB9-3D91D247A17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7B35759-C933-8EFC-A5C4-88A45AAD95C9}"/>
              </a:ext>
            </a:extLst>
          </p:cNvPr>
          <p:cNvPicPr>
            <a:picLocks noChangeAspect="1"/>
          </p:cNvPicPr>
          <p:nvPr/>
        </p:nvPicPr>
        <p:blipFill>
          <a:blip r:embed="rId3"/>
          <a:stretch>
            <a:fillRect/>
          </a:stretch>
        </p:blipFill>
        <p:spPr>
          <a:xfrm>
            <a:off x="0" y="0"/>
            <a:ext cx="7772400" cy="10058400"/>
          </a:xfrm>
          <a:prstGeom prst="rect">
            <a:avLst/>
          </a:prstGeom>
        </p:spPr>
      </p:pic>
      <p:pic>
        <p:nvPicPr>
          <p:cNvPr id="4" name="Image 2" descr="preencoded.png">
            <a:extLst>
              <a:ext uri="{FF2B5EF4-FFF2-40B4-BE49-F238E27FC236}">
                <a16:creationId xmlns:a16="http://schemas.microsoft.com/office/drawing/2014/main" id="{3F0C411B-1228-FBDF-BD7A-27A7A2B719E9}"/>
              </a:ext>
            </a:extLst>
          </p:cNvPr>
          <p:cNvPicPr>
            <a:picLocks noChangeAspect="1"/>
          </p:cNvPicPr>
          <p:nvPr/>
        </p:nvPicPr>
        <p:blipFill>
          <a:blip r:embed="rId4"/>
          <a:stretch>
            <a:fillRect/>
          </a:stretch>
        </p:blipFill>
        <p:spPr>
          <a:xfrm>
            <a:off x="-28575" y="9953530"/>
            <a:ext cx="1962150" cy="104775"/>
          </a:xfrm>
          <a:prstGeom prst="rect">
            <a:avLst/>
          </a:prstGeom>
        </p:spPr>
      </p:pic>
      <p:pic>
        <p:nvPicPr>
          <p:cNvPr id="5" name="Image 3" descr="preencoded.png">
            <a:extLst>
              <a:ext uri="{FF2B5EF4-FFF2-40B4-BE49-F238E27FC236}">
                <a16:creationId xmlns:a16="http://schemas.microsoft.com/office/drawing/2014/main" id="{03C53B0C-2618-794E-FDC5-99EBA3FBB0F9}"/>
              </a:ext>
            </a:extLst>
          </p:cNvPr>
          <p:cNvPicPr>
            <a:picLocks noChangeAspect="1"/>
          </p:cNvPicPr>
          <p:nvPr/>
        </p:nvPicPr>
        <p:blipFill>
          <a:blip r:embed="rId5"/>
          <a:stretch>
            <a:fillRect/>
          </a:stretch>
        </p:blipFill>
        <p:spPr>
          <a:xfrm>
            <a:off x="1917697" y="9953530"/>
            <a:ext cx="1962150" cy="104775"/>
          </a:xfrm>
          <a:prstGeom prst="rect">
            <a:avLst/>
          </a:prstGeom>
        </p:spPr>
      </p:pic>
      <p:pic>
        <p:nvPicPr>
          <p:cNvPr id="6" name="Image 4" descr="preencoded.png">
            <a:extLst>
              <a:ext uri="{FF2B5EF4-FFF2-40B4-BE49-F238E27FC236}">
                <a16:creationId xmlns:a16="http://schemas.microsoft.com/office/drawing/2014/main" id="{918E6E94-76D7-89C6-7199-F7A019154642}"/>
              </a:ext>
            </a:extLst>
          </p:cNvPr>
          <p:cNvPicPr>
            <a:picLocks noChangeAspect="1"/>
          </p:cNvPicPr>
          <p:nvPr/>
        </p:nvPicPr>
        <p:blipFill>
          <a:blip r:embed="rId6"/>
          <a:stretch>
            <a:fillRect/>
          </a:stretch>
        </p:blipFill>
        <p:spPr>
          <a:xfrm>
            <a:off x="3863978" y="9953530"/>
            <a:ext cx="1962150" cy="104775"/>
          </a:xfrm>
          <a:prstGeom prst="rect">
            <a:avLst/>
          </a:prstGeom>
        </p:spPr>
      </p:pic>
      <p:pic>
        <p:nvPicPr>
          <p:cNvPr id="7" name="Image 5" descr="preencoded.png">
            <a:extLst>
              <a:ext uri="{FF2B5EF4-FFF2-40B4-BE49-F238E27FC236}">
                <a16:creationId xmlns:a16="http://schemas.microsoft.com/office/drawing/2014/main" id="{10EA8EFD-5F23-80F4-3F1F-B65760252620}"/>
              </a:ext>
            </a:extLst>
          </p:cNvPr>
          <p:cNvPicPr>
            <a:picLocks noChangeAspect="1"/>
          </p:cNvPicPr>
          <p:nvPr/>
        </p:nvPicPr>
        <p:blipFill>
          <a:blip r:embed="rId7"/>
          <a:stretch>
            <a:fillRect/>
          </a:stretch>
        </p:blipFill>
        <p:spPr>
          <a:xfrm>
            <a:off x="5810250" y="9953625"/>
            <a:ext cx="1962150" cy="104775"/>
          </a:xfrm>
          <a:prstGeom prst="rect">
            <a:avLst/>
          </a:prstGeom>
        </p:spPr>
      </p:pic>
      <p:sp>
        <p:nvSpPr>
          <p:cNvPr id="8" name="Text 0">
            <a:extLst>
              <a:ext uri="{FF2B5EF4-FFF2-40B4-BE49-F238E27FC236}">
                <a16:creationId xmlns:a16="http://schemas.microsoft.com/office/drawing/2014/main" id="{C63F9DB7-4933-4BEC-D149-ECC46B2623E3}"/>
              </a:ext>
            </a:extLst>
          </p:cNvPr>
          <p:cNvSpPr/>
          <p:nvPr/>
        </p:nvSpPr>
        <p:spPr>
          <a:xfrm>
            <a:off x="1197769" y="9286875"/>
            <a:ext cx="1362075" cy="314325"/>
          </a:xfrm>
          <a:prstGeom prst="rect">
            <a:avLst/>
          </a:prstGeom>
          <a:noFill/>
          <a:ln/>
        </p:spPr>
        <p:txBody>
          <a:bodyPr wrap="square" lIns="0" tIns="0" rIns="0" bIns="0" rtlCol="0" anchor="ctr"/>
          <a:lstStyle/>
          <a:p>
            <a:pPr marL="0" indent="0" algn="l">
              <a:lnSpc>
                <a:spcPct val="73116"/>
              </a:lnSpc>
              <a:buNone/>
            </a:pPr>
            <a:r>
              <a:rPr lang="en-US" sz="1125" b="1" dirty="0">
                <a:solidFill>
                  <a:srgbClr val="1E1E1E"/>
                </a:solidFill>
                <a:latin typeface="Karla" pitchFamily="34" charset="0"/>
                <a:ea typeface="Karla" pitchFamily="34" charset="-122"/>
                <a:cs typeface="Karla" pitchFamily="34" charset="-120"/>
              </a:rPr>
              <a:t>HOSPITAL VOU SER CURADO</a:t>
            </a:r>
            <a:endParaRPr lang="en-US" sz="1125" dirty="0"/>
          </a:p>
        </p:txBody>
      </p:sp>
      <p:pic>
        <p:nvPicPr>
          <p:cNvPr id="9" name="Image 6" descr="preencoded.png">
            <a:extLst>
              <a:ext uri="{FF2B5EF4-FFF2-40B4-BE49-F238E27FC236}">
                <a16:creationId xmlns:a16="http://schemas.microsoft.com/office/drawing/2014/main" id="{4A737ECF-0066-3EA0-2381-B598BAE67FA4}"/>
              </a:ext>
            </a:extLst>
          </p:cNvPr>
          <p:cNvPicPr>
            <a:picLocks noChangeAspect="1"/>
          </p:cNvPicPr>
          <p:nvPr/>
        </p:nvPicPr>
        <p:blipFill>
          <a:blip r:embed="rId8"/>
          <a:stretch>
            <a:fillRect/>
          </a:stretch>
        </p:blipFill>
        <p:spPr>
          <a:xfrm>
            <a:off x="2545556" y="9267825"/>
            <a:ext cx="190500" cy="342900"/>
          </a:xfrm>
          <a:prstGeom prst="rect">
            <a:avLst/>
          </a:prstGeom>
        </p:spPr>
      </p:pic>
      <p:pic>
        <p:nvPicPr>
          <p:cNvPr id="10" name="Image 7" descr="preencoded.png">
            <a:extLst>
              <a:ext uri="{FF2B5EF4-FFF2-40B4-BE49-F238E27FC236}">
                <a16:creationId xmlns:a16="http://schemas.microsoft.com/office/drawing/2014/main" id="{98350BDD-71A2-17E2-6D8B-E6E8190EDCA1}"/>
              </a:ext>
            </a:extLst>
          </p:cNvPr>
          <p:cNvPicPr>
            <a:picLocks noChangeAspect="1"/>
          </p:cNvPicPr>
          <p:nvPr/>
        </p:nvPicPr>
        <p:blipFill>
          <a:blip r:embed="rId9"/>
          <a:stretch>
            <a:fillRect/>
          </a:stretch>
        </p:blipFill>
        <p:spPr>
          <a:xfrm rot="-818934">
            <a:off x="5638476" y="1067010"/>
            <a:ext cx="1752600" cy="876300"/>
          </a:xfrm>
          <a:prstGeom prst="rect">
            <a:avLst/>
          </a:prstGeom>
        </p:spPr>
      </p:pic>
      <p:pic>
        <p:nvPicPr>
          <p:cNvPr id="11" name="Image 8" descr="preencoded.png">
            <a:extLst>
              <a:ext uri="{FF2B5EF4-FFF2-40B4-BE49-F238E27FC236}">
                <a16:creationId xmlns:a16="http://schemas.microsoft.com/office/drawing/2014/main" id="{DD27F929-6A3E-9040-441E-05F3607903B7}"/>
              </a:ext>
            </a:extLst>
          </p:cNvPr>
          <p:cNvPicPr>
            <a:picLocks noChangeAspect="1"/>
          </p:cNvPicPr>
          <p:nvPr/>
        </p:nvPicPr>
        <p:blipFill>
          <a:blip r:embed="rId10"/>
          <a:stretch>
            <a:fillRect/>
          </a:stretch>
        </p:blipFill>
        <p:spPr>
          <a:xfrm>
            <a:off x="5705475" y="409575"/>
            <a:ext cx="1409700" cy="1409700"/>
          </a:xfrm>
          <a:prstGeom prst="rect">
            <a:avLst/>
          </a:prstGeom>
        </p:spPr>
      </p:pic>
      <p:sp>
        <p:nvSpPr>
          <p:cNvPr id="18" name="Text 4">
            <a:extLst>
              <a:ext uri="{FF2B5EF4-FFF2-40B4-BE49-F238E27FC236}">
                <a16:creationId xmlns:a16="http://schemas.microsoft.com/office/drawing/2014/main" id="{205E6FEB-8063-3240-D352-095E5578C36B}"/>
              </a:ext>
            </a:extLst>
          </p:cNvPr>
          <p:cNvSpPr/>
          <p:nvPr/>
        </p:nvSpPr>
        <p:spPr>
          <a:xfrm>
            <a:off x="466725" y="923925"/>
            <a:ext cx="4791075" cy="247650"/>
          </a:xfrm>
          <a:prstGeom prst="rect">
            <a:avLst/>
          </a:prstGeom>
          <a:noFill/>
          <a:ln/>
        </p:spPr>
        <p:txBody>
          <a:bodyPr wrap="square" lIns="0" tIns="0" rIns="0" bIns="0" rtlCol="0" anchor="ctr"/>
          <a:lstStyle/>
          <a:p>
            <a:pPr marL="0" indent="0" algn="l">
              <a:lnSpc>
                <a:spcPct val="79650"/>
              </a:lnSpc>
              <a:buNone/>
            </a:pPr>
            <a:r>
              <a:rPr lang="en-US" sz="1650" dirty="0">
                <a:solidFill>
                  <a:srgbClr val="FFFFFF"/>
                </a:solidFill>
                <a:latin typeface="Karla" pitchFamily="34" charset="0"/>
                <a:ea typeface="Karla" pitchFamily="34" charset="-122"/>
                <a:cs typeface="Karla" pitchFamily="34" charset="-120"/>
              </a:rPr>
              <a:t>Estudo de Caso: Gestão Hospitalar e Segurança</a:t>
            </a:r>
            <a:endParaRPr lang="en-US" sz="1650" dirty="0"/>
          </a:p>
        </p:txBody>
      </p:sp>
      <p:sp>
        <p:nvSpPr>
          <p:cNvPr id="19" name="Text 5">
            <a:extLst>
              <a:ext uri="{FF2B5EF4-FFF2-40B4-BE49-F238E27FC236}">
                <a16:creationId xmlns:a16="http://schemas.microsoft.com/office/drawing/2014/main" id="{C96FA28F-398E-0A7E-5F39-DFAD040B80C8}"/>
              </a:ext>
            </a:extLst>
          </p:cNvPr>
          <p:cNvSpPr/>
          <p:nvPr/>
        </p:nvSpPr>
        <p:spPr>
          <a:xfrm>
            <a:off x="444193" y="50287"/>
            <a:ext cx="5964011" cy="504825"/>
          </a:xfrm>
          <a:prstGeom prst="rect">
            <a:avLst/>
          </a:prstGeom>
          <a:noFill/>
          <a:ln/>
        </p:spPr>
        <p:txBody>
          <a:bodyPr wrap="square" lIns="0" tIns="0" rIns="0" bIns="0" rtlCol="0" anchor="ctr"/>
          <a:lstStyle/>
          <a:p>
            <a:pPr marL="0" indent="0" algn="l">
              <a:lnSpc>
                <a:spcPct val="66563"/>
              </a:lnSpc>
              <a:buNone/>
            </a:pPr>
            <a:endParaRPr lang="en-US" sz="2025" b="1" dirty="0">
              <a:solidFill>
                <a:srgbClr val="F6C326"/>
              </a:solidFill>
              <a:latin typeface="Karla" pitchFamily="34" charset="0"/>
              <a:ea typeface="Karla" pitchFamily="34" charset="-122"/>
              <a:cs typeface="Karla" pitchFamily="34" charset="-120"/>
            </a:endParaRPr>
          </a:p>
          <a:p>
            <a:pPr marL="0" indent="0" algn="l">
              <a:lnSpc>
                <a:spcPct val="66563"/>
              </a:lnSpc>
              <a:buNone/>
            </a:pPr>
            <a:r>
              <a:rPr lang="en-US" sz="2025" b="1" dirty="0">
                <a:solidFill>
                  <a:srgbClr val="F6C326"/>
                </a:solidFill>
                <a:latin typeface="Karla" pitchFamily="34" charset="0"/>
                <a:ea typeface="Karla" pitchFamily="34" charset="-122"/>
                <a:cs typeface="Karla" pitchFamily="34" charset="-120"/>
              </a:rPr>
              <a:t>CASE 2: Hospital Público 'VOU SER CURADO'</a:t>
            </a:r>
            <a:endParaRPr lang="en-US" sz="2025" dirty="0"/>
          </a:p>
        </p:txBody>
      </p:sp>
      <p:pic>
        <p:nvPicPr>
          <p:cNvPr id="20" name="Image 12" descr="preencoded.png">
            <a:extLst>
              <a:ext uri="{FF2B5EF4-FFF2-40B4-BE49-F238E27FC236}">
                <a16:creationId xmlns:a16="http://schemas.microsoft.com/office/drawing/2014/main" id="{7D86AD43-4948-0D81-CB5C-BFF220E2A479}"/>
              </a:ext>
            </a:extLst>
          </p:cNvPr>
          <p:cNvPicPr>
            <a:picLocks noChangeAspect="1"/>
          </p:cNvPicPr>
          <p:nvPr/>
        </p:nvPicPr>
        <p:blipFill>
          <a:blip r:embed="rId11"/>
          <a:stretch>
            <a:fillRect/>
          </a:stretch>
        </p:blipFill>
        <p:spPr>
          <a:xfrm>
            <a:off x="781050" y="9277350"/>
            <a:ext cx="323850" cy="323850"/>
          </a:xfrm>
          <a:prstGeom prst="rect">
            <a:avLst/>
          </a:prstGeom>
        </p:spPr>
      </p:pic>
      <p:sp>
        <p:nvSpPr>
          <p:cNvPr id="22" name="Text 7">
            <a:extLst>
              <a:ext uri="{FF2B5EF4-FFF2-40B4-BE49-F238E27FC236}">
                <a16:creationId xmlns:a16="http://schemas.microsoft.com/office/drawing/2014/main" id="{1AE77432-64F5-535A-1DD8-2396EEAE1EF3}"/>
              </a:ext>
            </a:extLst>
          </p:cNvPr>
          <p:cNvSpPr/>
          <p:nvPr/>
        </p:nvSpPr>
        <p:spPr>
          <a:xfrm>
            <a:off x="2847975" y="9267825"/>
            <a:ext cx="4152900" cy="161925"/>
          </a:xfrm>
          <a:prstGeom prst="rect">
            <a:avLst/>
          </a:prstGeom>
          <a:noFill/>
          <a:ln/>
        </p:spPr>
        <p:txBody>
          <a:bodyPr wrap="square" lIns="0" tIns="0" rIns="0" bIns="0" rtlCol="0" anchor="ctr"/>
          <a:lstStyle/>
          <a:p>
            <a:pPr marL="0" indent="0" algn="l">
              <a:lnSpc>
                <a:spcPct val="79650"/>
              </a:lnSpc>
              <a:buNone/>
            </a:pPr>
            <a:r>
              <a:rPr lang="en-US" sz="1050" b="1" dirty="0">
                <a:solidFill>
                  <a:srgbClr val="000000"/>
                </a:solidFill>
                <a:latin typeface="Karla" pitchFamily="34" charset="0"/>
                <a:ea typeface="Karla" pitchFamily="34" charset="-122"/>
                <a:cs typeface="Karla" pitchFamily="34" charset="-120"/>
              </a:rPr>
              <a:t>Estudo de Caso do Hospital VOU SER CURADO</a:t>
            </a:r>
            <a:endParaRPr lang="en-US" sz="1050" dirty="0"/>
          </a:p>
        </p:txBody>
      </p:sp>
      <p:sp>
        <p:nvSpPr>
          <p:cNvPr id="23" name="CaixaDeTexto 22">
            <a:extLst>
              <a:ext uri="{FF2B5EF4-FFF2-40B4-BE49-F238E27FC236}">
                <a16:creationId xmlns:a16="http://schemas.microsoft.com/office/drawing/2014/main" id="{1080AC43-D185-46E5-5C15-5C81766D2C37}"/>
              </a:ext>
            </a:extLst>
          </p:cNvPr>
          <p:cNvSpPr txBox="1"/>
          <p:nvPr/>
        </p:nvSpPr>
        <p:spPr>
          <a:xfrm>
            <a:off x="485775" y="739164"/>
            <a:ext cx="4884204" cy="923330"/>
          </a:xfrm>
          <a:prstGeom prst="rect">
            <a:avLst/>
          </a:prstGeom>
          <a:noFill/>
        </p:spPr>
        <p:txBody>
          <a:bodyPr wrap="square" rtlCol="0">
            <a:spAutoFit/>
          </a:bodyPr>
          <a:lstStyle/>
          <a:p>
            <a:r>
              <a:rPr lang="pt-BR" dirty="0"/>
              <a:t>Disciplina: Gestão de </a:t>
            </a:r>
            <a:r>
              <a:rPr lang="pt-BR" dirty="0" err="1"/>
              <a:t>Facilities</a:t>
            </a:r>
            <a:r>
              <a:rPr lang="pt-BR" dirty="0"/>
              <a:t> em Organizações de Saúde</a:t>
            </a:r>
          </a:p>
          <a:p>
            <a:r>
              <a:rPr lang="pt-BR" dirty="0" err="1"/>
              <a:t>Profa</a:t>
            </a:r>
            <a:r>
              <a:rPr lang="pt-BR" dirty="0"/>
              <a:t>: Cláudia Herminia</a:t>
            </a:r>
          </a:p>
        </p:txBody>
      </p:sp>
      <p:sp>
        <p:nvSpPr>
          <p:cNvPr id="13" name="CaixaDeTexto 12">
            <a:extLst>
              <a:ext uri="{FF2B5EF4-FFF2-40B4-BE49-F238E27FC236}">
                <a16:creationId xmlns:a16="http://schemas.microsoft.com/office/drawing/2014/main" id="{08B9CF73-75D5-4595-DABD-DF319C566F43}"/>
              </a:ext>
            </a:extLst>
          </p:cNvPr>
          <p:cNvSpPr txBox="1"/>
          <p:nvPr/>
        </p:nvSpPr>
        <p:spPr>
          <a:xfrm>
            <a:off x="444193" y="2282301"/>
            <a:ext cx="6779649" cy="5305491"/>
          </a:xfrm>
          <a:prstGeom prst="rect">
            <a:avLst/>
          </a:prstGeom>
          <a:noFill/>
        </p:spPr>
        <p:txBody>
          <a:bodyPr wrap="square">
            <a:spAutoFit/>
          </a:bodyPr>
          <a:lstStyle/>
          <a:p>
            <a:pPr marL="342900" lvl="0" indent="-342900" algn="just">
              <a:lnSpc>
                <a:spcPct val="150000"/>
              </a:lnSpc>
              <a:buFont typeface="+mj-lt"/>
              <a:buAutoNum type="arabicPeriod"/>
            </a:pPr>
            <a:r>
              <a:rPr lang="pt-BR" sz="1800" dirty="0">
                <a:effectLst/>
                <a:latin typeface="Times New Roman" panose="02020603050405020304" pitchFamily="18" charset="0"/>
                <a:ea typeface="Times New Roman" panose="02020603050405020304" pitchFamily="18" charset="0"/>
              </a:rPr>
              <a:t>Avalie os possíveis motivos que tornaram a terceirização da Segurança do Hospital “VOU SER CURADO” acima do valor do Hospital do Interior e relacione pelo menos 05 destes motivos.</a:t>
            </a:r>
          </a:p>
          <a:p>
            <a:pPr marL="457200" indent="450215" algn="just">
              <a:lnSpc>
                <a:spcPct val="150000"/>
              </a:lnSpc>
              <a:buNone/>
            </a:pPr>
            <a:r>
              <a:rPr lang="pt-BR" sz="1800" dirty="0">
                <a:effectLst/>
                <a:latin typeface="Times New Roman" panose="02020603050405020304" pitchFamily="18" charset="0"/>
                <a:ea typeface="Times New Roman" panose="02020603050405020304" pitchFamily="18" charset="0"/>
              </a:rPr>
              <a:t> </a:t>
            </a:r>
          </a:p>
          <a:p>
            <a:pPr lvl="0" algn="just">
              <a:lnSpc>
                <a:spcPct val="150000"/>
              </a:lnSpc>
            </a:pPr>
            <a:r>
              <a:rPr lang="pt-BR" sz="1800" dirty="0">
                <a:effectLst/>
                <a:latin typeface="Times New Roman" panose="02020603050405020304" pitchFamily="18" charset="0"/>
                <a:ea typeface="Times New Roman" panose="02020603050405020304" pitchFamily="18" charset="0"/>
              </a:rPr>
              <a:t>2. – Como Gestor, quais as estratégias você usaria para tentar reduzir esse custo da terceirização, uma vez que seu contrato de Gestão reduziu em 20%. </a:t>
            </a:r>
          </a:p>
          <a:p>
            <a:pPr lvl="0" algn="just">
              <a:lnSpc>
                <a:spcPct val="150000"/>
              </a:lnSpc>
            </a:pPr>
            <a:r>
              <a:rPr lang="pt-BR" dirty="0">
                <a:latin typeface="Times New Roman" panose="02020603050405020304" pitchFamily="18" charset="0"/>
                <a:ea typeface="Times New Roman" panose="02020603050405020304" pitchFamily="18" charset="0"/>
              </a:rPr>
              <a:t>3. </a:t>
            </a:r>
            <a:r>
              <a:rPr lang="pt-BR" sz="1800" dirty="0">
                <a:effectLst/>
                <a:latin typeface="Times New Roman" panose="02020603050405020304" pitchFamily="18" charset="0"/>
                <a:ea typeface="Times New Roman" panose="02020603050405020304" pitchFamily="18" charset="0"/>
              </a:rPr>
              <a:t>– Além de reduzir os custos, esse hospital poderia utilizar estratégias para melhorar a qualidade do seu atendimento aos clientes e, ainda, contribuir para aumentar seu faturamento. Como gestor hospitalar quais estratégias adotaria?</a:t>
            </a:r>
          </a:p>
          <a:p>
            <a:pPr marL="449580">
              <a:buNone/>
            </a:pPr>
            <a:r>
              <a:rPr lang="pt-BR" sz="1800" dirty="0">
                <a:effectLst/>
                <a:latin typeface="Times New Roman" panose="02020603050405020304" pitchFamily="18" charset="0"/>
                <a:ea typeface="Times New Roman" panose="02020603050405020304" pitchFamily="18" charset="0"/>
              </a:rPr>
              <a:t> </a:t>
            </a:r>
          </a:p>
          <a:p>
            <a:pPr indent="450215" algn="just">
              <a:lnSpc>
                <a:spcPct val="150000"/>
              </a:lnSpc>
              <a:buNone/>
            </a:pPr>
            <a:r>
              <a:rPr lang="pt-BR" sz="18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31684773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359</Words>
  <Application>Microsoft Macintosh PowerPoint</Application>
  <PresentationFormat>Personalizar</PresentationFormat>
  <Paragraphs>27</Paragraphs>
  <Slides>2</Slides>
  <Notes>2</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vt:i4>
      </vt:variant>
    </vt:vector>
  </HeadingPairs>
  <TitlesOfParts>
    <vt:vector size="6" baseType="lpstr">
      <vt:lpstr>Arial</vt:lpstr>
      <vt:lpstr>Karla</vt:lpstr>
      <vt:lpstr>Times New Roman</vt:lpstr>
      <vt:lpstr>Office Theme</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Claudia Herminia - Odile</cp:lastModifiedBy>
  <cp:revision>2</cp:revision>
  <dcterms:created xsi:type="dcterms:W3CDTF">2025-12-11T00:07:54Z</dcterms:created>
  <dcterms:modified xsi:type="dcterms:W3CDTF">2025-12-11T00:52:46Z</dcterms:modified>
</cp:coreProperties>
</file>