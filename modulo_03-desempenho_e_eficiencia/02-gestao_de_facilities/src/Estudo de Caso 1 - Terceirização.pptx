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29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7.xml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slide" Target="slide6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slide" Target="slide5.xml"/><Relationship Id="rId5" Type="http://schemas.openxmlformats.org/officeDocument/2006/relationships/image" Target="../media/image8.png"/><Relationship Id="rId15" Type="http://schemas.openxmlformats.org/officeDocument/2006/relationships/slide" Target="slide9.xml"/><Relationship Id="rId10" Type="http://schemas.openxmlformats.org/officeDocument/2006/relationships/slide" Target="slide4.xml"/><Relationship Id="rId4" Type="http://schemas.openxmlformats.org/officeDocument/2006/relationships/image" Target="../media/image7.png"/><Relationship Id="rId9" Type="http://schemas.openxmlformats.org/officeDocument/2006/relationships/slide" Target="slide3.xml"/><Relationship Id="rId1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3.png"/><Relationship Id="rId5" Type="http://schemas.openxmlformats.org/officeDocument/2006/relationships/image" Target="../media/image9.png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0.png"/><Relationship Id="rId5" Type="http://schemas.openxmlformats.org/officeDocument/2006/relationships/image" Target="../media/image7.png"/><Relationship Id="rId10" Type="http://schemas.openxmlformats.org/officeDocument/2006/relationships/image" Target="../media/image29.png"/><Relationship Id="rId4" Type="http://schemas.openxmlformats.org/officeDocument/2006/relationships/image" Target="../media/image9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3.png"/><Relationship Id="rId10" Type="http://schemas.openxmlformats.org/officeDocument/2006/relationships/image" Target="../media/image12.png"/><Relationship Id="rId4" Type="http://schemas.openxmlformats.org/officeDocument/2006/relationships/image" Target="../media/image32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3171825"/>
            <a:ext cx="6838950" cy="3714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5905500"/>
            <a:ext cx="6838950" cy="819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466725"/>
            <a:ext cx="6838950" cy="2705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6886575"/>
            <a:ext cx="6838950" cy="240982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33425" y="3438525"/>
            <a:ext cx="63055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Caso: Terceirização do Serviço de Limpeza no Hospital “VAI FICAR TUDO BEM”</a:t>
            </a:r>
            <a:endParaRPr lang="en-US" sz="2775" dirty="0"/>
          </a:p>
        </p:txBody>
      </p:sp>
      <p:sp>
        <p:nvSpPr>
          <p:cNvPr id="8" name="Text 1"/>
          <p:cNvSpPr/>
          <p:nvPr/>
        </p:nvSpPr>
        <p:spPr>
          <a:xfrm>
            <a:off x="733425" y="5048250"/>
            <a:ext cx="630555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i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Análise de Viabilidade Econômica, Assistencial e Jurídica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3333750" y="6124575"/>
            <a:ext cx="1581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1125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0300" y="6127642"/>
            <a:ext cx="390525" cy="381000"/>
          </a:xfrm>
          <a:prstGeom prst="rect">
            <a:avLst/>
          </a:prstGeom>
        </p:spPr>
      </p:pic>
      <p:sp>
        <p:nvSpPr>
          <p:cNvPr id="11" name="Text 16">
            <a:extLst>
              <a:ext uri="{FF2B5EF4-FFF2-40B4-BE49-F238E27FC236}">
                <a16:creationId xmlns:a16="http://schemas.microsoft.com/office/drawing/2014/main" id="{920EDE5C-8C04-5EA5-2473-90A29C3972FD}"/>
              </a:ext>
            </a:extLst>
          </p:cNvPr>
          <p:cNvSpPr/>
          <p:nvPr/>
        </p:nvSpPr>
        <p:spPr>
          <a:xfrm>
            <a:off x="733425" y="9458326"/>
            <a:ext cx="6305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24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Disciplina</a:t>
            </a:r>
            <a:r>
              <a:rPr lang="en-US" sz="24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: </a:t>
            </a:r>
            <a:r>
              <a:rPr lang="en-US" sz="20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Gestão</a:t>
            </a:r>
            <a:r>
              <a:rPr lang="en-US" sz="20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de Facilities </a:t>
            </a:r>
            <a:r>
              <a:rPr lang="en-US" sz="20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em</a:t>
            </a:r>
            <a:r>
              <a:rPr lang="en-US" sz="20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Organizações</a:t>
            </a:r>
            <a:r>
              <a:rPr lang="en-US" sz="20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Saúde</a:t>
            </a:r>
            <a:r>
              <a:rPr lang="en-US" sz="20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Profa</a:t>
            </a:r>
            <a:r>
              <a:rPr lang="en-US" sz="24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. Cláudia Herminia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9124950"/>
            <a:ext cx="6838950" cy="4667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3295650"/>
            <a:ext cx="5276850" cy="1066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76238"/>
            <a:ext cx="42957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775" y="5686425"/>
            <a:ext cx="5276850" cy="32289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9073896"/>
            <a:ext cx="6838950" cy="476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66725" y="704850"/>
            <a:ext cx="42005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Sumário</a:t>
            </a:r>
            <a:endParaRPr lang="en-US" sz="2700" dirty="0"/>
          </a:p>
        </p:txBody>
      </p:sp>
      <p:sp>
        <p:nvSpPr>
          <p:cNvPr id="9" name="Text 1"/>
          <p:cNvSpPr/>
          <p:nvPr/>
        </p:nvSpPr>
        <p:spPr>
          <a:xfrm>
            <a:off x="1343025" y="1828800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 Estudo de Caso</a:t>
            </a:r>
            <a:endParaRPr lang="en-US" sz="2100" dirty="0"/>
          </a:p>
        </p:txBody>
      </p:sp>
      <p:sp>
        <p:nvSpPr>
          <p:cNvPr id="10" name="Text 2"/>
          <p:cNvSpPr/>
          <p:nvPr/>
        </p:nvSpPr>
        <p:spPr>
          <a:xfrm>
            <a:off x="1343025" y="2360609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Situação</a:t>
            </a:r>
            <a:endParaRPr lang="en-US" sz="2100" dirty="0"/>
          </a:p>
        </p:txBody>
      </p:sp>
      <p:sp>
        <p:nvSpPr>
          <p:cNvPr id="11" name="Text 3"/>
          <p:cNvSpPr/>
          <p:nvPr/>
        </p:nvSpPr>
        <p:spPr>
          <a:xfrm>
            <a:off x="1343025" y="2892428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Os Riscos Envolvidos</a:t>
            </a:r>
            <a:endParaRPr lang="en-US" sz="2100" dirty="0"/>
          </a:p>
        </p:txBody>
      </p:sp>
      <p:sp>
        <p:nvSpPr>
          <p:cNvPr id="12" name="Text 4"/>
          <p:cNvSpPr/>
          <p:nvPr/>
        </p:nvSpPr>
        <p:spPr>
          <a:xfrm>
            <a:off x="1343025" y="3429000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</a:rPr>
              <a:t>Qual a </a:t>
            </a:r>
            <a:r>
              <a:rPr lang="en-US" sz="21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</a:rPr>
              <a:t>solução</a:t>
            </a: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</a:rPr>
              <a:t>proposta</a:t>
            </a: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</a:rPr>
              <a:t>?</a:t>
            </a:r>
            <a:endParaRPr lang="en-US" sz="2100" dirty="0"/>
          </a:p>
        </p:txBody>
      </p:sp>
      <p:sp>
        <p:nvSpPr>
          <p:cNvPr id="13" name="Text 5"/>
          <p:cNvSpPr/>
          <p:nvPr/>
        </p:nvSpPr>
        <p:spPr>
          <a:xfrm>
            <a:off x="1364456" y="4049486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Quais </a:t>
            </a:r>
            <a:r>
              <a:rPr lang="en-US" sz="21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os</a:t>
            </a: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resultados </a:t>
            </a:r>
            <a:r>
              <a:rPr lang="en-US" sz="2100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esperados</a:t>
            </a: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?</a:t>
            </a:r>
            <a:endParaRPr lang="en-US" sz="2100" dirty="0"/>
          </a:p>
        </p:txBody>
      </p:sp>
      <p:sp>
        <p:nvSpPr>
          <p:cNvPr id="14" name="Text 6"/>
          <p:cNvSpPr/>
          <p:nvPr/>
        </p:nvSpPr>
        <p:spPr>
          <a:xfrm>
            <a:off x="1343025" y="4487866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Citação Inspiradora</a:t>
            </a:r>
            <a:endParaRPr lang="en-US" sz="2100" dirty="0"/>
          </a:p>
        </p:txBody>
      </p:sp>
      <p:sp>
        <p:nvSpPr>
          <p:cNvPr id="15" name="Text 7"/>
          <p:cNvSpPr/>
          <p:nvPr/>
        </p:nvSpPr>
        <p:spPr>
          <a:xfrm>
            <a:off x="1343025" y="5019675"/>
            <a:ext cx="4200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Conclusão</a:t>
            </a:r>
            <a:endParaRPr lang="en-US" sz="2100" dirty="0"/>
          </a:p>
        </p:txBody>
      </p:sp>
      <p:sp>
        <p:nvSpPr>
          <p:cNvPr id="16" name="Text 8"/>
          <p:cNvSpPr/>
          <p:nvPr/>
        </p:nvSpPr>
        <p:spPr>
          <a:xfrm>
            <a:off x="5581650" y="1828800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b="1" u="sng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5581650" y="2362200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b="1" u="sng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100" dirty="0"/>
          </a:p>
        </p:txBody>
      </p:sp>
      <p:sp>
        <p:nvSpPr>
          <p:cNvPr id="18" name="Text 10"/>
          <p:cNvSpPr/>
          <p:nvPr/>
        </p:nvSpPr>
        <p:spPr>
          <a:xfrm>
            <a:off x="5581650" y="2895600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b="1" u="sng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5581650" y="3429000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b="1" u="sng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2100" dirty="0"/>
          </a:p>
        </p:txBody>
      </p:sp>
      <p:sp>
        <p:nvSpPr>
          <p:cNvPr id="20" name="Text 12"/>
          <p:cNvSpPr/>
          <p:nvPr/>
        </p:nvSpPr>
        <p:spPr>
          <a:xfrm>
            <a:off x="5581650" y="3952875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b="1" u="sng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5581650" y="4486275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b="1" u="sng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2100" dirty="0"/>
          </a:p>
        </p:txBody>
      </p:sp>
      <p:sp>
        <p:nvSpPr>
          <p:cNvPr id="22" name="Text 14"/>
          <p:cNvSpPr/>
          <p:nvPr/>
        </p:nvSpPr>
        <p:spPr>
          <a:xfrm>
            <a:off x="5581650" y="5019675"/>
            <a:ext cx="83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6166"/>
              </a:lnSpc>
              <a:buNone/>
            </a:pPr>
            <a:r>
              <a:rPr lang="en-US" sz="2100" b="1" u="sng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endParaRPr lang="en-US" sz="2100" dirty="0"/>
          </a:p>
        </p:txBody>
      </p:sp>
      <p:sp>
        <p:nvSpPr>
          <p:cNvPr id="23" name="Text 15"/>
          <p:cNvSpPr/>
          <p:nvPr/>
        </p:nvSpPr>
        <p:spPr>
          <a:xfrm>
            <a:off x="5915025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64981" y="9217990"/>
            <a:ext cx="2952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76238"/>
            <a:ext cx="4295775" cy="19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25" y="5514975"/>
            <a:ext cx="3267075" cy="3409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1666875"/>
            <a:ext cx="3267075" cy="384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5076825"/>
            <a:ext cx="3267075" cy="384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859" y="9124045"/>
            <a:ext cx="6838950" cy="466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" y="9077325"/>
            <a:ext cx="6838950" cy="47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1666875"/>
            <a:ext cx="3267075" cy="34099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914158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4114" y="9217990"/>
            <a:ext cx="295275" cy="29527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676275" y="5886450"/>
            <a:ext cx="2857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 Hospital Particular “VAI FICAR TUDO BEM” possuía um serviço de limpeza próprio, com estrutura completa de equipamentos e mão de obra. Prestava um serviço de qualidade, com satisfação dos clientes acima de 90%.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4259409" y="2028825"/>
            <a:ext cx="2857500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Apesar do sucesso, o departamento financeiro recomendou a terceirização para reduzir custos em 35%, devido a uma crise financeira. No entanto, as áreas assistencial e jurídica apresentaram pareceres desfavoráveis, citando riscos de qualidade e jurídicos.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466725" y="704850"/>
            <a:ext cx="42005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 Estudo de Caso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76238"/>
            <a:ext cx="4295775" cy="19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9162881"/>
            <a:ext cx="6838950" cy="466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9077325"/>
            <a:ext cx="6838950" cy="47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4857750"/>
            <a:ext cx="3267075" cy="25241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4857750"/>
            <a:ext cx="3276600" cy="35528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1050" y="1676400"/>
            <a:ext cx="2162175" cy="517207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914158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4114" y="9217990"/>
            <a:ext cx="295275" cy="295275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4038600" y="7586663"/>
            <a:ext cx="32670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Esta decisão, no entanto, coloca a diretoria em uma posição delicada: priorizar a saúde financeira imediata ou a manutenção da qualidade assistencial e segurança jurídica a longo prazo.</a:t>
            </a:r>
            <a:endParaRPr lang="en-US" sz="825" dirty="0"/>
          </a:p>
        </p:txBody>
      </p:sp>
      <p:sp>
        <p:nvSpPr>
          <p:cNvPr id="13" name="Text 3"/>
          <p:cNvSpPr/>
          <p:nvPr/>
        </p:nvSpPr>
        <p:spPr>
          <a:xfrm>
            <a:off x="466725" y="1719263"/>
            <a:ext cx="3276600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 hospital enfrenta uma encruzilhada financeira. A perda recente de contratos com operadoras de saúde tornou a redução de custos uma prioridade urgente. A proposta de terceirização da limpeza promete uma economia substancial de 35%, um alívio financeiro significativo para a unidade.</a:t>
            </a:r>
            <a:endParaRPr lang="en-US" sz="1200" dirty="0"/>
          </a:p>
        </p:txBody>
      </p:sp>
      <p:sp>
        <p:nvSpPr>
          <p:cNvPr id="14" name="Text 4"/>
          <p:cNvSpPr/>
          <p:nvPr/>
        </p:nvSpPr>
        <p:spPr>
          <a:xfrm>
            <a:off x="466725" y="704850"/>
            <a:ext cx="42005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Situação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" y="2886075"/>
            <a:ext cx="3590925" cy="48291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76238"/>
            <a:ext cx="429577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59" y="9124045"/>
            <a:ext cx="6838950" cy="4667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9077325"/>
            <a:ext cx="6838950" cy="47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5275" y="5314950"/>
            <a:ext cx="3200400" cy="36099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5275" y="1676400"/>
            <a:ext cx="3200400" cy="36385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5275" y="5276850"/>
            <a:ext cx="3200400" cy="476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6412" y="1676400"/>
            <a:ext cx="57150" cy="72485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914158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4114" y="9217990"/>
            <a:ext cx="295275" cy="295275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685800" y="3990975"/>
            <a:ext cx="31432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 principal risco assistencial é a queda na qualidade da limpeza, podendo levar a um aumento das infecções hospitalares, comprometendo a segurança do paciente. Juridicamente, o contrato proposto apresenta lacunas que podem gerar futuros processos trabalhistas, anulando a economia financeira pretendida e criando passivos para o hospital.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466725" y="704850"/>
            <a:ext cx="42005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Os Riscos Envolvidos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76238"/>
            <a:ext cx="4295775" cy="19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59" y="9124045"/>
            <a:ext cx="6838950" cy="466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9077325"/>
            <a:ext cx="6838950" cy="47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5321" y="4427887"/>
            <a:ext cx="3143250" cy="36099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4105275"/>
            <a:ext cx="3143250" cy="3619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321" y="4380262"/>
            <a:ext cx="3143250" cy="476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623" y="7723537"/>
            <a:ext cx="3143250" cy="4762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914158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4114" y="9217990"/>
            <a:ext cx="295275" cy="29527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466725" y="1704975"/>
            <a:ext cx="314325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1- Como novo Gerente de Facilities do Hospital o que você propõe ?    </a:t>
            </a:r>
            <a:endParaRPr lang="en-US" sz="1200" dirty="0"/>
          </a:p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2- como tornar viável o processo de terceirização do serviço de limpeza do Hospital, tendo em vista a escassez de recurso?</a:t>
            </a:r>
            <a:endParaRPr lang="en-US" sz="1200" dirty="0"/>
          </a:p>
          <a:p>
            <a:pPr marL="0" indent="0" algn="just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4165321" y="1703737"/>
            <a:ext cx="3143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3- Quais Indicadores de Qualidade (KPIs) você irá propor para monitorar limpeza e higiene, atrelados a penalidades, para mitigar o risco de infecções.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466725" y="704850"/>
            <a:ext cx="42005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Qual a </a:t>
            </a:r>
            <a:r>
              <a:rPr lang="en-US" sz="2700" b="1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solução</a:t>
            </a: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proposta</a:t>
            </a: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?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158" y="1849622"/>
            <a:ext cx="4295775" cy="19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59" y="9124045"/>
            <a:ext cx="6838950" cy="466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9077325"/>
            <a:ext cx="6838950" cy="47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" y="1476375"/>
            <a:ext cx="1019175" cy="10191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" y="2743200"/>
            <a:ext cx="1019175" cy="10191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" y="4010025"/>
            <a:ext cx="1019175" cy="10191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" y="5276850"/>
            <a:ext cx="1019175" cy="10191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158" y="3274628"/>
            <a:ext cx="4295775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348" y="4441412"/>
            <a:ext cx="4295775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22" y="5773826"/>
            <a:ext cx="4295775" cy="1905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914158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4114" y="9217990"/>
            <a:ext cx="295275" cy="295275"/>
          </a:xfrm>
          <a:prstGeom prst="rect">
            <a:avLst/>
          </a:prstGeom>
        </p:spPr>
      </p:pic>
      <p:sp>
        <p:nvSpPr>
          <p:cNvPr id="17" name="Text 3"/>
          <p:cNvSpPr/>
          <p:nvPr/>
        </p:nvSpPr>
        <p:spPr>
          <a:xfrm>
            <a:off x="466725" y="704850"/>
            <a:ext cx="42005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Quais os Resultados esperados</a:t>
            </a:r>
            <a:endParaRPr lang="en-US" sz="1800" dirty="0"/>
          </a:p>
        </p:txBody>
      </p:sp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875" y="1609725"/>
            <a:ext cx="762000" cy="762000"/>
          </a:xfrm>
          <a:prstGeom prst="rect">
            <a:avLst/>
          </a:prstGeom>
        </p:spPr>
      </p:pic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4925" y="2889018"/>
            <a:ext cx="704850" cy="733425"/>
          </a:xfrm>
          <a:prstGeom prst="rect">
            <a:avLst/>
          </a:prstGeom>
        </p:spPr>
      </p:pic>
      <p:pic>
        <p:nvPicPr>
          <p:cNvPr id="20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4925" y="4307453"/>
            <a:ext cx="704850" cy="438150"/>
          </a:xfrm>
          <a:prstGeom prst="rect">
            <a:avLst/>
          </a:prstGeom>
        </p:spPr>
      </p:pic>
      <p:pic>
        <p:nvPicPr>
          <p:cNvPr id="21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49064" y="5448300"/>
            <a:ext cx="63817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733550"/>
            <a:ext cx="6257925" cy="26765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425" y="4267200"/>
            <a:ext cx="4010025" cy="3838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76238"/>
            <a:ext cx="42957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59" y="9124045"/>
            <a:ext cx="6838950" cy="4667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9077325"/>
            <a:ext cx="6838950" cy="476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2175" y="4543425"/>
            <a:ext cx="3429000" cy="328612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914158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4114" y="9217990"/>
            <a:ext cx="295275" cy="295275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1247775" y="2386013"/>
            <a:ext cx="526732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“A essência da gestão é tornar os problemas interessantes e suas soluções construtivas, para que todos queiram trabalhar e lidar com eles.”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466725" y="704850"/>
            <a:ext cx="42005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Citação Inspiradora</a:t>
            </a:r>
            <a:endParaRPr lang="en-US" sz="2700" dirty="0"/>
          </a:p>
        </p:txBody>
      </p:sp>
      <p:sp>
        <p:nvSpPr>
          <p:cNvPr id="14" name="Text 4"/>
          <p:cNvSpPr/>
          <p:nvPr/>
        </p:nvSpPr>
        <p:spPr>
          <a:xfrm>
            <a:off x="1876425" y="8258175"/>
            <a:ext cx="4010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2663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Peter Drucker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630"/>
            <a:ext cx="7772400" cy="10058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76238"/>
            <a:ext cx="429577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59" y="9124045"/>
            <a:ext cx="6838950" cy="4667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9077325"/>
            <a:ext cx="6838950" cy="476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7775" y="5895975"/>
            <a:ext cx="5267325" cy="27622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914158" y="9210675"/>
            <a:ext cx="1266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Estudo de Caso Hospitalar</a:t>
            </a:r>
            <a:endParaRPr lang="en-US" sz="900" dirty="0"/>
          </a:p>
        </p:txBody>
      </p:sp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4114" y="9217990"/>
            <a:ext cx="295275" cy="295275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466725" y="704850"/>
            <a:ext cx="42005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616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Conclusão</a:t>
            </a:r>
            <a:endParaRPr lang="en-US" sz="2700" dirty="0"/>
          </a:p>
        </p:txBody>
      </p:sp>
      <p:sp>
        <p:nvSpPr>
          <p:cNvPr id="12" name="Text 3"/>
          <p:cNvSpPr/>
          <p:nvPr/>
        </p:nvSpPr>
        <p:spPr>
          <a:xfrm>
            <a:off x="1247775" y="2414588"/>
            <a:ext cx="5267325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663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Este estudo de caso demonstra que…..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448</Words>
  <Application>Microsoft Macintosh PowerPoint</Application>
  <PresentationFormat>Personalizar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Epilogue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Claudia Herminia - Odile</cp:lastModifiedBy>
  <cp:revision>2</cp:revision>
  <dcterms:created xsi:type="dcterms:W3CDTF">2025-12-10T23:58:43Z</dcterms:created>
  <dcterms:modified xsi:type="dcterms:W3CDTF">2025-12-11T00:35:39Z</dcterms:modified>
</cp:coreProperties>
</file>