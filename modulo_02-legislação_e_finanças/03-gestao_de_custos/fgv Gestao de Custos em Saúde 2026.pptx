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67"/>
  </p:notesMasterIdLst>
  <p:handoutMasterIdLst>
    <p:handoutMasterId r:id="rId68"/>
  </p:handoutMasterIdLst>
  <p:sldIdLst>
    <p:sldId id="340" r:id="rId2"/>
    <p:sldId id="428" r:id="rId3"/>
    <p:sldId id="429" r:id="rId4"/>
    <p:sldId id="401" r:id="rId5"/>
    <p:sldId id="402" r:id="rId6"/>
    <p:sldId id="403" r:id="rId7"/>
    <p:sldId id="394" r:id="rId8"/>
    <p:sldId id="404" r:id="rId9"/>
    <p:sldId id="405" r:id="rId10"/>
    <p:sldId id="406" r:id="rId11"/>
    <p:sldId id="407" r:id="rId12"/>
    <p:sldId id="395" r:id="rId13"/>
    <p:sldId id="396" r:id="rId14"/>
    <p:sldId id="347" r:id="rId15"/>
    <p:sldId id="344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66" r:id="rId26"/>
    <p:sldId id="408" r:id="rId27"/>
    <p:sldId id="409" r:id="rId28"/>
    <p:sldId id="410" r:id="rId29"/>
    <p:sldId id="411" r:id="rId30"/>
    <p:sldId id="412" r:id="rId31"/>
    <p:sldId id="413" r:id="rId32"/>
    <p:sldId id="414" r:id="rId33"/>
    <p:sldId id="415" r:id="rId34"/>
    <p:sldId id="416" r:id="rId35"/>
    <p:sldId id="399" r:id="rId36"/>
    <p:sldId id="397" r:id="rId37"/>
    <p:sldId id="370" r:id="rId38"/>
    <p:sldId id="371" r:id="rId39"/>
    <p:sldId id="372" r:id="rId40"/>
    <p:sldId id="373" r:id="rId41"/>
    <p:sldId id="374" r:id="rId42"/>
    <p:sldId id="375" r:id="rId43"/>
    <p:sldId id="376" r:id="rId44"/>
    <p:sldId id="377" r:id="rId45"/>
    <p:sldId id="378" r:id="rId46"/>
    <p:sldId id="417" r:id="rId47"/>
    <p:sldId id="418" r:id="rId48"/>
    <p:sldId id="379" r:id="rId49"/>
    <p:sldId id="380" r:id="rId50"/>
    <p:sldId id="381" r:id="rId51"/>
    <p:sldId id="382" r:id="rId52"/>
    <p:sldId id="383" r:id="rId53"/>
    <p:sldId id="384" r:id="rId54"/>
    <p:sldId id="359" r:id="rId55"/>
    <p:sldId id="419" r:id="rId56"/>
    <p:sldId id="420" r:id="rId57"/>
    <p:sldId id="421" r:id="rId58"/>
    <p:sldId id="422" r:id="rId59"/>
    <p:sldId id="423" r:id="rId60"/>
    <p:sldId id="388" r:id="rId61"/>
    <p:sldId id="424" r:id="rId62"/>
    <p:sldId id="425" r:id="rId63"/>
    <p:sldId id="426" r:id="rId64"/>
    <p:sldId id="427" r:id="rId65"/>
    <p:sldId id="393" r:id="rId66"/>
  </p:sldIdLst>
  <p:sldSz cx="13716000" cy="10287000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8561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37123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205685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74247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3428091" algn="l" defTabSz="1371239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4113710" algn="l" defTabSz="1371239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4799328" algn="l" defTabSz="1371239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5484947" algn="l" defTabSz="1371239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orient="horz" pos="3989" userDrawn="1">
          <p15:clr>
            <a:srgbClr val="A4A3A4"/>
          </p15:clr>
        </p15:guide>
        <p15:guide id="3" orient="horz" pos="1403" userDrawn="1">
          <p15:clr>
            <a:srgbClr val="A4A3A4"/>
          </p15:clr>
        </p15:guide>
        <p15:guide id="4" orient="horz" pos="5418" userDrawn="1">
          <p15:clr>
            <a:srgbClr val="A4A3A4"/>
          </p15:clr>
        </p15:guide>
        <p15:guide id="5" orient="horz" pos="1605" userDrawn="1">
          <p15:clr>
            <a:srgbClr val="A4A3A4"/>
          </p15:clr>
        </p15:guide>
        <p15:guide id="6" pos="5273" userDrawn="1">
          <p15:clr>
            <a:srgbClr val="A4A3A4"/>
          </p15:clr>
        </p15:guide>
        <p15:guide id="7" pos="4592" userDrawn="1">
          <p15:clr>
            <a:srgbClr val="A4A3A4"/>
          </p15:clr>
        </p15:guide>
        <p15:guide id="8" pos="8221" userDrawn="1">
          <p15:clr>
            <a:srgbClr val="A4A3A4"/>
          </p15:clr>
        </p15:guide>
        <p15:guide id="9" pos="8302" userDrawn="1">
          <p15:clr>
            <a:srgbClr val="A4A3A4"/>
          </p15:clr>
        </p15:guide>
        <p15:guide id="10" pos="6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9CE5"/>
    <a:srgbClr val="105B95"/>
    <a:srgbClr val="8FC157"/>
    <a:srgbClr val="69ADE7"/>
    <a:srgbClr val="666666"/>
    <a:srgbClr val="4F81BD"/>
    <a:srgbClr val="F6862A"/>
    <a:srgbClr val="C0E3F8"/>
    <a:srgbClr val="9236A4"/>
    <a:srgbClr val="00A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90" autoAdjust="0"/>
    <p:restoredTop sz="96087" autoAdjust="0"/>
  </p:normalViewPr>
  <p:slideViewPr>
    <p:cSldViewPr>
      <p:cViewPr varScale="1">
        <p:scale>
          <a:sx n="58" d="100"/>
          <a:sy n="58" d="100"/>
        </p:scale>
        <p:origin x="1188" y="78"/>
      </p:cViewPr>
      <p:guideLst>
        <p:guide orient="horz" pos="3240"/>
        <p:guide orient="horz" pos="3989"/>
        <p:guide orient="horz" pos="1403"/>
        <p:guide orient="horz" pos="5418"/>
        <p:guide orient="horz" pos="1605"/>
        <p:guide pos="5273"/>
        <p:guide pos="4592"/>
        <p:guide pos="8221"/>
        <p:guide pos="8302"/>
        <p:guide pos="6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09D3BAD1-04B5-4EEE-A8EB-0A8F5F6AB81D}" type="datetimeFigureOut">
              <a:rPr lang="pt-BR"/>
              <a:pPr>
                <a:defRPr/>
              </a:pPr>
              <a:t>27/01/2025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25ECD6-F5DB-4F3E-9689-E133323AC37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897262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55B27D2-8001-409F-9786-9B08DAA3F560}" type="datetimeFigureOut">
              <a:rPr lang="pt-BR"/>
              <a:pPr>
                <a:defRPr/>
              </a:pPr>
              <a:t>27/01/2025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CAC094A0-DBFF-4992-80E8-A859C9DC321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340755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619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239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6856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2473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8091" algn="l" defTabSz="137123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3710" algn="l" defTabSz="137123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799328" algn="l" defTabSz="137123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4947" algn="l" defTabSz="137123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abert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55893" y="1615108"/>
            <a:ext cx="11477643" cy="3096344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solidFill>
                  <a:srgbClr val="69ADE7"/>
                </a:solidFill>
              </a:defRPr>
            </a:lvl1pPr>
          </a:lstStyle>
          <a:p>
            <a:r>
              <a:rPr lang="pt-BR" dirty="0"/>
              <a:t>Nome da Disciplina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0" hasCustomPrompt="1"/>
          </p:nvPr>
        </p:nvSpPr>
        <p:spPr>
          <a:xfrm>
            <a:off x="855893" y="4999043"/>
            <a:ext cx="11477625" cy="3889375"/>
          </a:xfrm>
          <a:prstGeom prst="rect">
            <a:avLst/>
          </a:prstGeom>
        </p:spPr>
        <p:txBody>
          <a:bodyPr anchor="ctr"/>
          <a:lstStyle>
            <a:lvl1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lang="pt-BR" sz="4951" b="0" kern="1200" dirty="0" smtClean="0">
                <a:solidFill>
                  <a:srgbClr val="69ADE7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lang="pt-BR" sz="4951" b="0" kern="1200" dirty="0" smtClean="0">
                <a:solidFill>
                  <a:srgbClr val="69ADE7"/>
                </a:solidFill>
                <a:latin typeface="+mj-lt"/>
                <a:ea typeface="+mj-ea"/>
                <a:cs typeface="+mj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lang="pt-BR" sz="4951" b="0" kern="1200" dirty="0" smtClean="0">
                <a:solidFill>
                  <a:srgbClr val="69ADE7"/>
                </a:solidFill>
                <a:latin typeface="+mj-lt"/>
                <a:ea typeface="+mj-ea"/>
                <a:cs typeface="+mj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lang="pt-BR" sz="4951" b="0" kern="1200" dirty="0" smtClean="0">
                <a:solidFill>
                  <a:srgbClr val="69ADE7"/>
                </a:solidFill>
                <a:latin typeface="+mj-lt"/>
                <a:ea typeface="+mj-ea"/>
                <a:cs typeface="+mj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lang="pt-BR" sz="4951" b="0" kern="1200" dirty="0">
                <a:solidFill>
                  <a:srgbClr val="69ADE7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pt-BR" dirty="0"/>
              <a:t>Nome do professor</a:t>
            </a:r>
          </a:p>
        </p:txBody>
      </p:sp>
    </p:spTree>
    <p:extLst>
      <p:ext uri="{BB962C8B-B14F-4D97-AF65-F5344CB8AC3E}">
        <p14:creationId xmlns:p14="http://schemas.microsoft.com/office/powerpoint/2010/main" val="1530713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sz="quarter" idx="13"/>
          </p:nvPr>
        </p:nvSpPr>
        <p:spPr>
          <a:xfrm>
            <a:off x="532799" y="968400"/>
            <a:ext cx="12138172" cy="8783612"/>
          </a:xfrm>
          <a:prstGeom prst="rect">
            <a:avLst/>
          </a:prstGeom>
        </p:spPr>
        <p:txBody>
          <a:bodyPr anchor="t">
            <a:normAutofit/>
          </a:bodyPr>
          <a:lstStyle>
            <a:lvl1pPr marL="305388" indent="-305388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80000"/>
              <a:buFont typeface="Wingdings" panose="05000000000000000000" pitchFamily="2" charset="2"/>
              <a:buChar char="§"/>
              <a:defRPr sz="30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608990" indent="-303602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60000"/>
              <a:buFont typeface="Wingdings" panose="05000000000000000000" pitchFamily="2" charset="2"/>
              <a:buChar char="§"/>
              <a:defRPr sz="30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87592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sz="quarter" idx="15"/>
          </p:nvPr>
        </p:nvSpPr>
        <p:spPr>
          <a:xfrm>
            <a:off x="532800" y="968400"/>
            <a:ext cx="12138171" cy="8783612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6840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 linha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532800" y="324000"/>
            <a:ext cx="9360000" cy="6480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+mj-lt"/>
              <a:buNone/>
              <a:defRPr sz="4050" b="1" cap="none" baseline="0">
                <a:solidFill>
                  <a:srgbClr val="69ADE7"/>
                </a:solidFill>
                <a:effectLst/>
                <a:latin typeface="+mj-lt"/>
                <a:cs typeface="Arial" panose="020B0604020202020204" pitchFamily="34" charset="0"/>
              </a:defRPr>
            </a:lvl1pPr>
            <a:lvl2pPr marL="205359" indent="0" algn="just">
              <a:lnSpc>
                <a:spcPts val="2363"/>
              </a:lnSpc>
              <a:spcBef>
                <a:spcPts val="0"/>
              </a:spcBef>
              <a:buClr>
                <a:srgbClr val="7CAEC5"/>
              </a:buClr>
              <a:buFont typeface="Arial" pitchFamily="34" charset="0"/>
              <a:buNone/>
              <a:defRPr sz="18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r>
              <a:rPr lang="pt-BR" dirty="0"/>
              <a:t>&lt;Título do slide&gt;</a:t>
            </a:r>
          </a:p>
        </p:txBody>
      </p:sp>
      <p:sp>
        <p:nvSpPr>
          <p:cNvPr id="5" name="Espaço Reservado para Texto 2"/>
          <p:cNvSpPr>
            <a:spLocks noGrp="1"/>
          </p:cNvSpPr>
          <p:nvPr>
            <p:ph type="body" sz="quarter" idx="13"/>
          </p:nvPr>
        </p:nvSpPr>
        <p:spPr>
          <a:xfrm>
            <a:off x="532799" y="1470968"/>
            <a:ext cx="12138172" cy="8281044"/>
          </a:xfrm>
          <a:prstGeom prst="rect">
            <a:avLst/>
          </a:prstGeom>
        </p:spPr>
        <p:txBody>
          <a:bodyPr anchor="t">
            <a:normAutofit/>
          </a:bodyPr>
          <a:lstStyle>
            <a:lvl1pPr marL="305388" indent="-305388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80000"/>
              <a:buFont typeface="Wingdings" panose="05000000000000000000" pitchFamily="2" charset="2"/>
              <a:buChar char="§"/>
              <a:defRPr sz="30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608990" indent="-303602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60000"/>
              <a:buFont typeface="Wingdings" panose="05000000000000000000" pitchFamily="2" charset="2"/>
              <a:buChar char="§"/>
              <a:defRPr sz="30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3058763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 linhas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532800" y="324000"/>
            <a:ext cx="9360000" cy="119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10286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+mj-lt"/>
              <a:buNone/>
              <a:tabLst/>
              <a:defRPr sz="4050" b="1" cap="none" baseline="0">
                <a:solidFill>
                  <a:srgbClr val="69ADE7"/>
                </a:solidFill>
                <a:effectLst/>
                <a:latin typeface="+mj-lt"/>
                <a:cs typeface="Arial" panose="020B0604020202020204" pitchFamily="34" charset="0"/>
              </a:defRPr>
            </a:lvl1pPr>
            <a:lvl2pPr marL="205359" indent="0" algn="just">
              <a:lnSpc>
                <a:spcPts val="2363"/>
              </a:lnSpc>
              <a:spcBef>
                <a:spcPts val="0"/>
              </a:spcBef>
              <a:buClr>
                <a:srgbClr val="7CAEC5"/>
              </a:buClr>
              <a:buFont typeface="Arial" pitchFamily="34" charset="0"/>
              <a:buNone/>
              <a:defRPr sz="18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r>
              <a:rPr lang="pt-BR" dirty="0"/>
              <a:t>&lt;Título do slide&gt;</a:t>
            </a:r>
          </a:p>
          <a:p>
            <a:r>
              <a:rPr lang="pt-BR" dirty="0"/>
              <a:t>&lt;Título do slide&gt;</a:t>
            </a:r>
          </a:p>
        </p:txBody>
      </p:sp>
      <p:sp>
        <p:nvSpPr>
          <p:cNvPr id="5" name="Espaço Reservado para Texto 2"/>
          <p:cNvSpPr>
            <a:spLocks noGrp="1"/>
          </p:cNvSpPr>
          <p:nvPr>
            <p:ph type="body" sz="quarter" idx="13"/>
          </p:nvPr>
        </p:nvSpPr>
        <p:spPr>
          <a:xfrm>
            <a:off x="532800" y="2043896"/>
            <a:ext cx="12138171" cy="7708116"/>
          </a:xfrm>
          <a:prstGeom prst="rect">
            <a:avLst/>
          </a:prstGeom>
        </p:spPr>
        <p:txBody>
          <a:bodyPr anchor="t">
            <a:normAutofit/>
          </a:bodyPr>
          <a:lstStyle>
            <a:lvl1pPr marL="305388" indent="-305388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80000"/>
              <a:buFont typeface="Wingdings" panose="05000000000000000000" pitchFamily="2" charset="2"/>
              <a:buChar char="§"/>
              <a:defRPr sz="30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608990" indent="-303602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60000"/>
              <a:buFont typeface="Wingdings" panose="05000000000000000000" pitchFamily="2" charset="2"/>
              <a:buChar char="§"/>
              <a:defRPr sz="30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153980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 linhas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532800" y="324000"/>
            <a:ext cx="9360000" cy="207505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10286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+mj-lt"/>
              <a:buNone/>
              <a:tabLst/>
              <a:defRPr sz="4050" b="1" cap="none" baseline="0">
                <a:solidFill>
                  <a:srgbClr val="69ADE7"/>
                </a:solidFill>
                <a:effectLst/>
                <a:latin typeface="+mj-lt"/>
                <a:cs typeface="Arial" panose="020B0604020202020204" pitchFamily="34" charset="0"/>
              </a:defRPr>
            </a:lvl1pPr>
            <a:lvl2pPr marL="205359" indent="0" algn="just">
              <a:lnSpc>
                <a:spcPts val="2363"/>
              </a:lnSpc>
              <a:spcBef>
                <a:spcPts val="0"/>
              </a:spcBef>
              <a:buClr>
                <a:srgbClr val="7CAEC5"/>
              </a:buClr>
              <a:buFont typeface="Arial" pitchFamily="34" charset="0"/>
              <a:buNone/>
              <a:defRPr sz="18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r>
              <a:rPr lang="pt-BR" dirty="0"/>
              <a:t>&lt;Título do slide&gt;</a:t>
            </a:r>
          </a:p>
          <a:p>
            <a:r>
              <a:rPr lang="pt-BR" dirty="0"/>
              <a:t>&lt;Título do slide&gt;</a:t>
            </a:r>
          </a:p>
          <a:p>
            <a:r>
              <a:rPr lang="pt-BR" dirty="0"/>
              <a:t>&lt;Título do slide&gt;</a:t>
            </a:r>
          </a:p>
        </p:txBody>
      </p:sp>
      <p:sp>
        <p:nvSpPr>
          <p:cNvPr id="5" name="Espaço Reservado para Texto 2"/>
          <p:cNvSpPr>
            <a:spLocks noGrp="1"/>
          </p:cNvSpPr>
          <p:nvPr>
            <p:ph type="body" sz="quarter" idx="13"/>
          </p:nvPr>
        </p:nvSpPr>
        <p:spPr>
          <a:xfrm>
            <a:off x="532799" y="2905352"/>
            <a:ext cx="12138172" cy="6846660"/>
          </a:xfrm>
          <a:prstGeom prst="rect">
            <a:avLst/>
          </a:prstGeom>
        </p:spPr>
        <p:txBody>
          <a:bodyPr anchor="t">
            <a:normAutofit/>
          </a:bodyPr>
          <a:lstStyle>
            <a:lvl1pPr marL="305388" indent="-305388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80000"/>
              <a:buFont typeface="Wingdings" panose="05000000000000000000" pitchFamily="2" charset="2"/>
              <a:buChar char="§"/>
              <a:defRPr sz="30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608990" indent="-303602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60000"/>
              <a:buFont typeface="Wingdings" panose="05000000000000000000" pitchFamily="2" charset="2"/>
              <a:buChar char="§"/>
              <a:defRPr sz="30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249345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 linha -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2"/>
          <p:cNvSpPr>
            <a:spLocks noGrp="1"/>
          </p:cNvSpPr>
          <p:nvPr>
            <p:ph type="pic" sz="quarter" idx="14"/>
          </p:nvPr>
        </p:nvSpPr>
        <p:spPr>
          <a:xfrm>
            <a:off x="532799" y="1470968"/>
            <a:ext cx="12138172" cy="8281432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532800" y="324000"/>
            <a:ext cx="9360000" cy="6480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+mj-lt"/>
              <a:buNone/>
              <a:defRPr sz="4050" b="1" cap="none" baseline="0">
                <a:solidFill>
                  <a:srgbClr val="69ADE7"/>
                </a:solidFill>
                <a:effectLst/>
                <a:latin typeface="+mj-lt"/>
                <a:cs typeface="Arial" panose="020B0604020202020204" pitchFamily="34" charset="0"/>
              </a:defRPr>
            </a:lvl1pPr>
            <a:lvl2pPr marL="205359" indent="0" algn="just">
              <a:lnSpc>
                <a:spcPts val="2363"/>
              </a:lnSpc>
              <a:spcBef>
                <a:spcPts val="0"/>
              </a:spcBef>
              <a:buClr>
                <a:srgbClr val="7CAEC5"/>
              </a:buClr>
              <a:buFont typeface="Arial" pitchFamily="34" charset="0"/>
              <a:buNone/>
              <a:defRPr sz="18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r>
              <a:rPr lang="pt-BR" dirty="0"/>
              <a:t>&lt;Título do slide&gt;</a:t>
            </a:r>
          </a:p>
        </p:txBody>
      </p:sp>
    </p:spTree>
    <p:extLst>
      <p:ext uri="{BB962C8B-B14F-4D97-AF65-F5344CB8AC3E}">
        <p14:creationId xmlns:p14="http://schemas.microsoft.com/office/powerpoint/2010/main" val="381486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 linhas -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532800" y="324000"/>
            <a:ext cx="9360000" cy="119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10286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+mj-lt"/>
              <a:buNone/>
              <a:tabLst/>
              <a:defRPr sz="4050" b="1" cap="none" baseline="0">
                <a:solidFill>
                  <a:srgbClr val="69ADE7"/>
                </a:solidFill>
                <a:effectLst/>
                <a:latin typeface="+mj-lt"/>
                <a:cs typeface="Arial" panose="020B0604020202020204" pitchFamily="34" charset="0"/>
              </a:defRPr>
            </a:lvl1pPr>
            <a:lvl2pPr marL="205359" indent="0" algn="just">
              <a:lnSpc>
                <a:spcPts val="2363"/>
              </a:lnSpc>
              <a:spcBef>
                <a:spcPts val="0"/>
              </a:spcBef>
              <a:buClr>
                <a:srgbClr val="7CAEC5"/>
              </a:buClr>
              <a:buFont typeface="Arial" pitchFamily="34" charset="0"/>
              <a:buNone/>
              <a:defRPr sz="18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r>
              <a:rPr lang="pt-BR" dirty="0"/>
              <a:t>&lt;Título do slide&gt;</a:t>
            </a:r>
          </a:p>
          <a:p>
            <a:r>
              <a:rPr lang="pt-BR" dirty="0"/>
              <a:t>&lt;Título do slide&gt;</a:t>
            </a:r>
          </a:p>
        </p:txBody>
      </p:sp>
      <p:sp>
        <p:nvSpPr>
          <p:cNvPr id="5" name="Espaço Reservado para Imagem 2"/>
          <p:cNvSpPr>
            <a:spLocks noGrp="1"/>
          </p:cNvSpPr>
          <p:nvPr>
            <p:ph type="pic" sz="quarter" idx="14"/>
          </p:nvPr>
        </p:nvSpPr>
        <p:spPr>
          <a:xfrm>
            <a:off x="532800" y="2020648"/>
            <a:ext cx="12138171" cy="773136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637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 linhas -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532800" y="324000"/>
            <a:ext cx="9360000" cy="207505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10286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+mj-lt"/>
              <a:buNone/>
              <a:tabLst/>
              <a:defRPr sz="4050" b="1" cap="none" baseline="0">
                <a:solidFill>
                  <a:srgbClr val="69ADE7"/>
                </a:solidFill>
                <a:effectLst/>
                <a:latin typeface="+mj-lt"/>
                <a:cs typeface="Arial" panose="020B0604020202020204" pitchFamily="34" charset="0"/>
              </a:defRPr>
            </a:lvl1pPr>
            <a:lvl2pPr marL="205359" indent="0" algn="just">
              <a:lnSpc>
                <a:spcPts val="2363"/>
              </a:lnSpc>
              <a:spcBef>
                <a:spcPts val="0"/>
              </a:spcBef>
              <a:buClr>
                <a:srgbClr val="7CAEC5"/>
              </a:buClr>
              <a:buFont typeface="Arial" pitchFamily="34" charset="0"/>
              <a:buNone/>
              <a:defRPr sz="18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r>
              <a:rPr lang="pt-BR" dirty="0"/>
              <a:t>&lt;Título do slide&gt;</a:t>
            </a:r>
          </a:p>
          <a:p>
            <a:r>
              <a:rPr lang="pt-BR" dirty="0"/>
              <a:t>&lt;Título do slide&gt;</a:t>
            </a:r>
          </a:p>
          <a:p>
            <a:r>
              <a:rPr lang="pt-BR" dirty="0"/>
              <a:t>&lt;Título do slide&gt;</a:t>
            </a:r>
          </a:p>
        </p:txBody>
      </p:sp>
      <p:sp>
        <p:nvSpPr>
          <p:cNvPr id="5" name="Espaço Reservado para Imagem 2"/>
          <p:cNvSpPr>
            <a:spLocks noGrp="1"/>
          </p:cNvSpPr>
          <p:nvPr>
            <p:ph type="pic" sz="quarter" idx="14"/>
          </p:nvPr>
        </p:nvSpPr>
        <p:spPr>
          <a:xfrm>
            <a:off x="532800" y="2897948"/>
            <a:ext cx="12138171" cy="68540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5044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 linha - conteúdo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532800" y="324000"/>
            <a:ext cx="9360000" cy="6480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+mj-lt"/>
              <a:buNone/>
              <a:defRPr sz="4050" b="1" cap="none" baseline="0">
                <a:solidFill>
                  <a:srgbClr val="69ADE7"/>
                </a:solidFill>
                <a:effectLst/>
                <a:latin typeface="+mj-lt"/>
                <a:cs typeface="Arial" panose="020B0604020202020204" pitchFamily="34" charset="0"/>
              </a:defRPr>
            </a:lvl1pPr>
            <a:lvl2pPr marL="205359" indent="0" algn="just">
              <a:lnSpc>
                <a:spcPts val="2363"/>
              </a:lnSpc>
              <a:spcBef>
                <a:spcPts val="0"/>
              </a:spcBef>
              <a:buClr>
                <a:srgbClr val="7CAEC5"/>
              </a:buClr>
              <a:buFont typeface="Arial" pitchFamily="34" charset="0"/>
              <a:buNone/>
              <a:defRPr sz="18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r>
              <a:rPr lang="pt-BR" dirty="0"/>
              <a:t>&lt;Título do slide&gt;</a:t>
            </a:r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sz="quarter" idx="14"/>
          </p:nvPr>
        </p:nvSpPr>
        <p:spPr>
          <a:xfrm>
            <a:off x="532800" y="1470968"/>
            <a:ext cx="5637251" cy="8281043"/>
          </a:xfrm>
          <a:prstGeom prst="rect">
            <a:avLst/>
          </a:prstGeom>
        </p:spPr>
        <p:txBody>
          <a:bodyPr anchor="t">
            <a:normAutofit/>
          </a:bodyPr>
          <a:lstStyle>
            <a:lvl1pPr marL="305388" indent="-305388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80000"/>
              <a:buFont typeface="Wingdings" panose="05000000000000000000" pitchFamily="2" charset="2"/>
              <a:buChar char="§"/>
              <a:defRPr sz="30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608990" indent="-303602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60000"/>
              <a:buFont typeface="Wingdings" panose="05000000000000000000" pitchFamily="2" charset="2"/>
              <a:buChar char="§"/>
              <a:defRPr sz="30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7" name="Espaço Reservado para Texto 2"/>
          <p:cNvSpPr>
            <a:spLocks noGrp="1"/>
          </p:cNvSpPr>
          <p:nvPr>
            <p:ph type="body" sz="quarter" idx="15"/>
          </p:nvPr>
        </p:nvSpPr>
        <p:spPr>
          <a:xfrm>
            <a:off x="7025495" y="1470968"/>
            <a:ext cx="5637251" cy="8281043"/>
          </a:xfrm>
          <a:prstGeom prst="rect">
            <a:avLst/>
          </a:prstGeom>
        </p:spPr>
        <p:txBody>
          <a:bodyPr anchor="t">
            <a:normAutofit/>
          </a:bodyPr>
          <a:lstStyle>
            <a:lvl1pPr marL="305388" indent="-305388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80000"/>
              <a:buFont typeface="Wingdings" panose="05000000000000000000" pitchFamily="2" charset="2"/>
              <a:buChar char="§"/>
              <a:defRPr sz="30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608990" indent="-303602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60000"/>
              <a:buFont typeface="Wingdings" panose="05000000000000000000" pitchFamily="2" charset="2"/>
              <a:buChar char="§"/>
              <a:defRPr sz="30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3572859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 linhas - conteúdo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532800" y="324000"/>
            <a:ext cx="9360000" cy="119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10286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+mj-lt"/>
              <a:buNone/>
              <a:tabLst/>
              <a:defRPr sz="4050" b="1" cap="none" baseline="0">
                <a:solidFill>
                  <a:srgbClr val="69ADE7"/>
                </a:solidFill>
                <a:effectLst/>
                <a:latin typeface="+mj-lt"/>
                <a:cs typeface="Arial" panose="020B0604020202020204" pitchFamily="34" charset="0"/>
              </a:defRPr>
            </a:lvl1pPr>
            <a:lvl2pPr marL="205359" indent="0" algn="just">
              <a:lnSpc>
                <a:spcPts val="2363"/>
              </a:lnSpc>
              <a:spcBef>
                <a:spcPts val="0"/>
              </a:spcBef>
              <a:buClr>
                <a:srgbClr val="7CAEC5"/>
              </a:buClr>
              <a:buFont typeface="Arial" pitchFamily="34" charset="0"/>
              <a:buNone/>
              <a:defRPr sz="18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r>
              <a:rPr lang="pt-BR" dirty="0"/>
              <a:t>&lt;Título do slide&gt;</a:t>
            </a:r>
          </a:p>
          <a:p>
            <a:r>
              <a:rPr lang="pt-BR" dirty="0"/>
              <a:t>&lt;Título do slide&gt;</a:t>
            </a:r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sz="quarter" idx="14"/>
          </p:nvPr>
        </p:nvSpPr>
        <p:spPr>
          <a:xfrm>
            <a:off x="532800" y="2019298"/>
            <a:ext cx="5637600" cy="7732714"/>
          </a:xfrm>
          <a:prstGeom prst="rect">
            <a:avLst/>
          </a:prstGeom>
        </p:spPr>
        <p:txBody>
          <a:bodyPr anchor="t">
            <a:normAutofit/>
          </a:bodyPr>
          <a:lstStyle>
            <a:lvl1pPr marL="305388" indent="-305388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80000"/>
              <a:buFont typeface="Wingdings" panose="05000000000000000000" pitchFamily="2" charset="2"/>
              <a:buChar char="§"/>
              <a:defRPr sz="30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608990" indent="-303602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60000"/>
              <a:buFont typeface="Wingdings" panose="05000000000000000000" pitchFamily="2" charset="2"/>
              <a:buChar char="§"/>
              <a:defRPr sz="30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5"/>
          </p:nvPr>
        </p:nvSpPr>
        <p:spPr>
          <a:xfrm>
            <a:off x="6981614" y="2019298"/>
            <a:ext cx="5689358" cy="7732714"/>
          </a:xfrm>
          <a:prstGeom prst="rect">
            <a:avLst/>
          </a:prstGeom>
        </p:spPr>
        <p:txBody>
          <a:bodyPr anchor="t">
            <a:normAutofit/>
          </a:bodyPr>
          <a:lstStyle>
            <a:lvl1pPr marL="305388" indent="-305388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80000"/>
              <a:buFont typeface="Wingdings" panose="05000000000000000000" pitchFamily="2" charset="2"/>
              <a:buChar char="§"/>
              <a:defRPr sz="30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608990" indent="-303602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60000"/>
              <a:buFont typeface="Wingdings" panose="05000000000000000000" pitchFamily="2" charset="2"/>
              <a:buChar char="§"/>
              <a:defRPr sz="30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1275487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 linhas - conteúdo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532800" y="324000"/>
            <a:ext cx="9360000" cy="207505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10286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+mj-lt"/>
              <a:buNone/>
              <a:tabLst/>
              <a:defRPr sz="4050" b="1" cap="none" baseline="0">
                <a:solidFill>
                  <a:srgbClr val="69ADE7"/>
                </a:solidFill>
                <a:effectLst/>
                <a:latin typeface="+mj-lt"/>
                <a:cs typeface="Arial" panose="020B0604020202020204" pitchFamily="34" charset="0"/>
              </a:defRPr>
            </a:lvl1pPr>
            <a:lvl2pPr marL="205359" indent="0" algn="just">
              <a:lnSpc>
                <a:spcPts val="2363"/>
              </a:lnSpc>
              <a:spcBef>
                <a:spcPts val="0"/>
              </a:spcBef>
              <a:buClr>
                <a:srgbClr val="7CAEC5"/>
              </a:buClr>
              <a:buFont typeface="Arial" pitchFamily="34" charset="0"/>
              <a:buNone/>
              <a:defRPr sz="18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r>
              <a:rPr lang="pt-BR" dirty="0"/>
              <a:t>&lt;Título do slide&gt;</a:t>
            </a:r>
          </a:p>
          <a:p>
            <a:r>
              <a:rPr lang="pt-BR" dirty="0"/>
              <a:t>&lt;Título do slide&gt;</a:t>
            </a:r>
          </a:p>
          <a:p>
            <a:r>
              <a:rPr lang="pt-BR" dirty="0"/>
              <a:t>&lt;Título do slide&gt;</a:t>
            </a:r>
          </a:p>
        </p:txBody>
      </p:sp>
      <p:sp>
        <p:nvSpPr>
          <p:cNvPr id="7" name="Espaço Reservado para Texto 2"/>
          <p:cNvSpPr>
            <a:spLocks noGrp="1"/>
          </p:cNvSpPr>
          <p:nvPr>
            <p:ph type="body" sz="quarter" idx="12"/>
          </p:nvPr>
        </p:nvSpPr>
        <p:spPr>
          <a:xfrm>
            <a:off x="532800" y="2897950"/>
            <a:ext cx="5689358" cy="6854062"/>
          </a:xfrm>
          <a:prstGeom prst="rect">
            <a:avLst/>
          </a:prstGeom>
        </p:spPr>
        <p:txBody>
          <a:bodyPr anchor="t">
            <a:normAutofit/>
          </a:bodyPr>
          <a:lstStyle>
            <a:lvl1pPr marL="305388" indent="-305388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80000"/>
              <a:buFont typeface="Wingdings" panose="05000000000000000000" pitchFamily="2" charset="2"/>
              <a:buChar char="§"/>
              <a:defRPr sz="30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608990" indent="-303602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60000"/>
              <a:buFont typeface="Wingdings" panose="05000000000000000000" pitchFamily="2" charset="2"/>
              <a:buChar char="§"/>
              <a:defRPr sz="30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9" name="Espaço Reservado para Texto 2"/>
          <p:cNvSpPr>
            <a:spLocks noGrp="1"/>
          </p:cNvSpPr>
          <p:nvPr>
            <p:ph type="body" sz="quarter" idx="15"/>
          </p:nvPr>
        </p:nvSpPr>
        <p:spPr>
          <a:xfrm>
            <a:off x="6981613" y="2897950"/>
            <a:ext cx="5689358" cy="6854062"/>
          </a:xfrm>
          <a:prstGeom prst="rect">
            <a:avLst/>
          </a:prstGeom>
        </p:spPr>
        <p:txBody>
          <a:bodyPr anchor="t">
            <a:normAutofit/>
          </a:bodyPr>
          <a:lstStyle>
            <a:lvl1pPr marL="305388" indent="-305388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80000"/>
              <a:buFont typeface="Wingdings" panose="05000000000000000000" pitchFamily="2" charset="2"/>
              <a:buChar char="§"/>
              <a:defRPr sz="30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608990" indent="-303602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60000"/>
              <a:buFont typeface="Wingdings" panose="05000000000000000000" pitchFamily="2" charset="2"/>
              <a:buChar char="§"/>
              <a:defRPr sz="30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267069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 linha - conteúd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Imagem 2"/>
          <p:cNvSpPr>
            <a:spLocks noGrp="1"/>
          </p:cNvSpPr>
          <p:nvPr>
            <p:ph type="pic" sz="quarter" idx="13"/>
          </p:nvPr>
        </p:nvSpPr>
        <p:spPr>
          <a:xfrm>
            <a:off x="7357760" y="1470969"/>
            <a:ext cx="5327726" cy="8281606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9" name="Espaço Reservado para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532800" y="1470969"/>
            <a:ext cx="6069296" cy="828160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05388" indent="-305388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80000"/>
              <a:buFont typeface="Wingdings" panose="05000000000000000000" pitchFamily="2" charset="2"/>
              <a:buChar char="§"/>
              <a:defRPr sz="30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608990" indent="-303602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60000"/>
              <a:buFont typeface="Wingdings" panose="05000000000000000000" pitchFamily="2" charset="2"/>
              <a:buChar char="§"/>
              <a:defRPr sz="30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Clique para editar o texto mestre</a:t>
            </a:r>
          </a:p>
        </p:txBody>
      </p:sp>
      <p:sp>
        <p:nvSpPr>
          <p:cNvPr id="11" name="Espaço Reservado para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532800" y="324000"/>
            <a:ext cx="9360000" cy="6480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+mj-lt"/>
              <a:buNone/>
              <a:defRPr sz="4050" b="1" cap="none" baseline="0">
                <a:solidFill>
                  <a:srgbClr val="69ADE7"/>
                </a:solidFill>
                <a:effectLst/>
                <a:latin typeface="+mj-lt"/>
                <a:cs typeface="Arial" panose="020B0604020202020204" pitchFamily="34" charset="0"/>
              </a:defRPr>
            </a:lvl1pPr>
            <a:lvl2pPr marL="205359" indent="0" algn="just">
              <a:lnSpc>
                <a:spcPts val="2363"/>
              </a:lnSpc>
              <a:spcBef>
                <a:spcPts val="0"/>
              </a:spcBef>
              <a:buClr>
                <a:srgbClr val="7CAEC5"/>
              </a:buClr>
              <a:buFont typeface="Arial" pitchFamily="34" charset="0"/>
              <a:buNone/>
              <a:defRPr sz="18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r>
              <a:rPr lang="pt-BR" dirty="0"/>
              <a:t>&lt;Título do slide&gt;</a:t>
            </a:r>
          </a:p>
        </p:txBody>
      </p:sp>
    </p:spTree>
    <p:extLst>
      <p:ext uri="{BB962C8B-B14F-4D97-AF65-F5344CB8AC3E}">
        <p14:creationId xmlns:p14="http://schemas.microsoft.com/office/powerpoint/2010/main" val="2771048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 linha - imagem +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Imagem 2"/>
          <p:cNvSpPr>
            <a:spLocks noGrp="1"/>
          </p:cNvSpPr>
          <p:nvPr>
            <p:ph type="pic" sz="quarter" idx="13"/>
          </p:nvPr>
        </p:nvSpPr>
        <p:spPr>
          <a:xfrm>
            <a:off x="532800" y="1470969"/>
            <a:ext cx="5313211" cy="828104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9" name="Espaço Reservado para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6621352" y="1470969"/>
            <a:ext cx="6069296" cy="828104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05388" indent="-305388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80000"/>
              <a:buFont typeface="Wingdings" panose="05000000000000000000" pitchFamily="2" charset="2"/>
              <a:buChar char="§"/>
              <a:defRPr sz="30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608990" indent="-303602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60000"/>
              <a:buFont typeface="Wingdings" panose="05000000000000000000" pitchFamily="2" charset="2"/>
              <a:buChar char="§"/>
              <a:defRPr sz="30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Clique para editar o texto mestre</a:t>
            </a:r>
          </a:p>
        </p:txBody>
      </p:sp>
      <p:sp>
        <p:nvSpPr>
          <p:cNvPr id="14" name="Espaço Reservado para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532800" y="324000"/>
            <a:ext cx="9360000" cy="6480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+mj-lt"/>
              <a:buNone/>
              <a:defRPr sz="4050" b="1" cap="none" baseline="0">
                <a:solidFill>
                  <a:srgbClr val="69ADE7"/>
                </a:solidFill>
                <a:effectLst/>
                <a:latin typeface="+mj-lt"/>
                <a:cs typeface="Arial" panose="020B0604020202020204" pitchFamily="34" charset="0"/>
              </a:defRPr>
            </a:lvl1pPr>
            <a:lvl2pPr marL="205359" indent="0" algn="just">
              <a:lnSpc>
                <a:spcPts val="2363"/>
              </a:lnSpc>
              <a:spcBef>
                <a:spcPts val="0"/>
              </a:spcBef>
              <a:buClr>
                <a:srgbClr val="7CAEC5"/>
              </a:buClr>
              <a:buFont typeface="Arial" pitchFamily="34" charset="0"/>
              <a:buNone/>
              <a:defRPr sz="18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r>
              <a:rPr lang="pt-BR" dirty="0"/>
              <a:t>&lt;Título do slide&gt;</a:t>
            </a:r>
          </a:p>
        </p:txBody>
      </p:sp>
    </p:spTree>
    <p:extLst>
      <p:ext uri="{BB962C8B-B14F-4D97-AF65-F5344CB8AC3E}">
        <p14:creationId xmlns:p14="http://schemas.microsoft.com/office/powerpoint/2010/main" val="1566822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 linhas - conteúd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Imagem 2"/>
          <p:cNvSpPr>
            <a:spLocks noGrp="1"/>
          </p:cNvSpPr>
          <p:nvPr>
            <p:ph type="pic" sz="quarter" idx="13"/>
          </p:nvPr>
        </p:nvSpPr>
        <p:spPr>
          <a:xfrm>
            <a:off x="7361795" y="2019298"/>
            <a:ext cx="5313211" cy="773271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9" name="Espaço Reservado para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532800" y="2019298"/>
            <a:ext cx="6069296" cy="773271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05388" indent="-305388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80000"/>
              <a:buFont typeface="Wingdings" panose="05000000000000000000" pitchFamily="2" charset="2"/>
              <a:buChar char="§"/>
              <a:defRPr sz="30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608990" indent="-303602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60000"/>
              <a:buFont typeface="Wingdings" panose="05000000000000000000" pitchFamily="2" charset="2"/>
              <a:buChar char="§"/>
              <a:defRPr sz="30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Clique para editar o texto mestre</a:t>
            </a:r>
          </a:p>
        </p:txBody>
      </p:sp>
      <p:sp>
        <p:nvSpPr>
          <p:cNvPr id="11" name="Espaço Reservado para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532799" y="324000"/>
            <a:ext cx="9360001" cy="119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10286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+mj-lt"/>
              <a:buNone/>
              <a:tabLst/>
              <a:defRPr sz="4050" b="1" cap="none" baseline="0">
                <a:solidFill>
                  <a:srgbClr val="69ADE7"/>
                </a:solidFill>
                <a:effectLst/>
                <a:latin typeface="+mj-lt"/>
                <a:cs typeface="Arial" panose="020B0604020202020204" pitchFamily="34" charset="0"/>
              </a:defRPr>
            </a:lvl1pPr>
            <a:lvl2pPr marL="205359" indent="0" algn="just">
              <a:lnSpc>
                <a:spcPts val="2363"/>
              </a:lnSpc>
              <a:spcBef>
                <a:spcPts val="0"/>
              </a:spcBef>
              <a:buClr>
                <a:srgbClr val="7CAEC5"/>
              </a:buClr>
              <a:buFont typeface="Arial" pitchFamily="34" charset="0"/>
              <a:buNone/>
              <a:defRPr sz="18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r>
              <a:rPr lang="pt-BR" dirty="0"/>
              <a:t>&lt;Título do slide&gt;</a:t>
            </a:r>
          </a:p>
          <a:p>
            <a:r>
              <a:rPr lang="pt-BR" dirty="0"/>
              <a:t>&lt;Título do slide&gt;</a:t>
            </a:r>
          </a:p>
        </p:txBody>
      </p:sp>
    </p:spTree>
    <p:extLst>
      <p:ext uri="{BB962C8B-B14F-4D97-AF65-F5344CB8AC3E}">
        <p14:creationId xmlns:p14="http://schemas.microsoft.com/office/powerpoint/2010/main" val="1172653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 linhas - imagem +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Imagem 2"/>
          <p:cNvSpPr>
            <a:spLocks noGrp="1"/>
          </p:cNvSpPr>
          <p:nvPr>
            <p:ph type="pic" sz="quarter" idx="13"/>
          </p:nvPr>
        </p:nvSpPr>
        <p:spPr>
          <a:xfrm>
            <a:off x="518286" y="2019298"/>
            <a:ext cx="5313211" cy="773271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9" name="Espaço Reservado para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6601885" y="2019298"/>
            <a:ext cx="6069296" cy="773271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05388" indent="-305388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80000"/>
              <a:buFont typeface="Wingdings" panose="05000000000000000000" pitchFamily="2" charset="2"/>
              <a:buChar char="§"/>
              <a:defRPr sz="30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608990" indent="-303602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60000"/>
              <a:buFont typeface="Wingdings" panose="05000000000000000000" pitchFamily="2" charset="2"/>
              <a:buChar char="§"/>
              <a:defRPr sz="30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Clique para editar o texto mestre</a:t>
            </a:r>
          </a:p>
        </p:txBody>
      </p:sp>
      <p:sp>
        <p:nvSpPr>
          <p:cNvPr id="14" name="Espaço Reservado para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532799" y="324000"/>
            <a:ext cx="9360001" cy="119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10286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+mj-lt"/>
              <a:buNone/>
              <a:tabLst/>
              <a:defRPr sz="4050" b="1" cap="none" baseline="0">
                <a:solidFill>
                  <a:srgbClr val="69ADE7"/>
                </a:solidFill>
                <a:effectLst/>
                <a:latin typeface="+mj-lt"/>
                <a:cs typeface="Arial" panose="020B0604020202020204" pitchFamily="34" charset="0"/>
              </a:defRPr>
            </a:lvl1pPr>
            <a:lvl2pPr marL="205359" indent="0" algn="just">
              <a:lnSpc>
                <a:spcPts val="2363"/>
              </a:lnSpc>
              <a:spcBef>
                <a:spcPts val="0"/>
              </a:spcBef>
              <a:buClr>
                <a:srgbClr val="7CAEC5"/>
              </a:buClr>
              <a:buFont typeface="Arial" pitchFamily="34" charset="0"/>
              <a:buNone/>
              <a:defRPr sz="18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r>
              <a:rPr lang="pt-BR" dirty="0"/>
              <a:t>&lt;Título do slide&gt;</a:t>
            </a:r>
          </a:p>
          <a:p>
            <a:r>
              <a:rPr lang="pt-BR" dirty="0"/>
              <a:t>&lt;Título do slide&gt;</a:t>
            </a:r>
          </a:p>
        </p:txBody>
      </p:sp>
    </p:spTree>
    <p:extLst>
      <p:ext uri="{BB962C8B-B14F-4D97-AF65-F5344CB8AC3E}">
        <p14:creationId xmlns:p14="http://schemas.microsoft.com/office/powerpoint/2010/main" val="3677063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 linhas - conteúd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2"/>
          <p:cNvSpPr>
            <a:spLocks noGrp="1"/>
          </p:cNvSpPr>
          <p:nvPr>
            <p:ph type="pic" sz="quarter" idx="15"/>
          </p:nvPr>
        </p:nvSpPr>
        <p:spPr>
          <a:xfrm>
            <a:off x="7357265" y="2897950"/>
            <a:ext cx="5342735" cy="6854061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7" hasCustomPrompt="1"/>
          </p:nvPr>
        </p:nvSpPr>
        <p:spPr>
          <a:xfrm>
            <a:off x="518781" y="2897950"/>
            <a:ext cx="6069296" cy="685406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05388" indent="-305388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80000"/>
              <a:buFont typeface="Wingdings" panose="05000000000000000000" pitchFamily="2" charset="2"/>
              <a:buChar char="§"/>
              <a:defRPr sz="30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608990" indent="-303602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60000"/>
              <a:buFont typeface="Wingdings" panose="05000000000000000000" pitchFamily="2" charset="2"/>
              <a:buChar char="§"/>
              <a:defRPr sz="30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Clique para editar o texto mestre</a:t>
            </a:r>
          </a:p>
        </p:txBody>
      </p:sp>
      <p:sp>
        <p:nvSpPr>
          <p:cNvPr id="14" name="Espaço Reservado para Texto 2"/>
          <p:cNvSpPr>
            <a:spLocks noGrp="1"/>
          </p:cNvSpPr>
          <p:nvPr>
            <p:ph type="body" sz="quarter" idx="18" hasCustomPrompt="1"/>
          </p:nvPr>
        </p:nvSpPr>
        <p:spPr>
          <a:xfrm>
            <a:off x="532800" y="324000"/>
            <a:ext cx="9360000" cy="207505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10286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+mj-lt"/>
              <a:buNone/>
              <a:tabLst/>
              <a:defRPr sz="4050" b="1" cap="none" baseline="0">
                <a:solidFill>
                  <a:srgbClr val="69ADE7"/>
                </a:solidFill>
                <a:effectLst/>
                <a:latin typeface="+mj-lt"/>
                <a:cs typeface="Arial" panose="020B0604020202020204" pitchFamily="34" charset="0"/>
              </a:defRPr>
            </a:lvl1pPr>
            <a:lvl2pPr marL="205359" indent="0" algn="just">
              <a:lnSpc>
                <a:spcPts val="2363"/>
              </a:lnSpc>
              <a:spcBef>
                <a:spcPts val="0"/>
              </a:spcBef>
              <a:buClr>
                <a:srgbClr val="7CAEC5"/>
              </a:buClr>
              <a:buFont typeface="Arial" pitchFamily="34" charset="0"/>
              <a:buNone/>
              <a:defRPr sz="18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r>
              <a:rPr lang="pt-BR" dirty="0"/>
              <a:t>&lt;Título do slide&gt;</a:t>
            </a:r>
          </a:p>
          <a:p>
            <a:r>
              <a:rPr lang="pt-BR" dirty="0"/>
              <a:t>&lt;Título do slide&gt;</a:t>
            </a:r>
          </a:p>
          <a:p>
            <a:r>
              <a:rPr lang="pt-BR" dirty="0"/>
              <a:t>&lt;Título do slide&gt;</a:t>
            </a:r>
          </a:p>
        </p:txBody>
      </p:sp>
    </p:spTree>
    <p:extLst>
      <p:ext uri="{BB962C8B-B14F-4D97-AF65-F5344CB8AC3E}">
        <p14:creationId xmlns:p14="http://schemas.microsoft.com/office/powerpoint/2010/main" val="9897420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 linhas - imagem +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Imagem 2"/>
          <p:cNvSpPr>
            <a:spLocks noGrp="1"/>
          </p:cNvSpPr>
          <p:nvPr>
            <p:ph type="pic" sz="quarter" idx="13"/>
          </p:nvPr>
        </p:nvSpPr>
        <p:spPr>
          <a:xfrm>
            <a:off x="518286" y="2897949"/>
            <a:ext cx="5313211" cy="6854061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8" name="Espaço Reservado para Texto 2"/>
          <p:cNvSpPr>
            <a:spLocks noGrp="1"/>
          </p:cNvSpPr>
          <p:nvPr>
            <p:ph type="body" sz="quarter" idx="16" hasCustomPrompt="1"/>
          </p:nvPr>
        </p:nvSpPr>
        <p:spPr>
          <a:xfrm>
            <a:off x="6605147" y="2911997"/>
            <a:ext cx="6069296" cy="684001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05388" indent="-305388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80000"/>
              <a:buFont typeface="Wingdings" panose="05000000000000000000" pitchFamily="2" charset="2"/>
              <a:buChar char="§"/>
              <a:defRPr sz="30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608990" indent="-303602" algn="l">
              <a:lnSpc>
                <a:spcPts val="3600"/>
              </a:lnSpc>
              <a:spcBef>
                <a:spcPts val="0"/>
              </a:spcBef>
              <a:spcAft>
                <a:spcPts val="675"/>
              </a:spcAft>
              <a:buClr>
                <a:srgbClr val="69ADE7"/>
              </a:buClr>
              <a:buSzPct val="60000"/>
              <a:buFont typeface="Wingdings" panose="05000000000000000000" pitchFamily="2" charset="2"/>
              <a:buChar char="§"/>
              <a:defRPr sz="30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Clique para editar o texto mestre</a:t>
            </a:r>
          </a:p>
        </p:txBody>
      </p:sp>
      <p:sp>
        <p:nvSpPr>
          <p:cNvPr id="14" name="Espaço Reservado para Texto 2"/>
          <p:cNvSpPr>
            <a:spLocks noGrp="1"/>
          </p:cNvSpPr>
          <p:nvPr>
            <p:ph type="body" sz="quarter" idx="18" hasCustomPrompt="1"/>
          </p:nvPr>
        </p:nvSpPr>
        <p:spPr>
          <a:xfrm>
            <a:off x="532800" y="324000"/>
            <a:ext cx="9360000" cy="207505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10286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+mj-lt"/>
              <a:buNone/>
              <a:tabLst/>
              <a:defRPr sz="4050" b="1" cap="none" baseline="0">
                <a:solidFill>
                  <a:srgbClr val="69ADE7"/>
                </a:solidFill>
                <a:effectLst/>
                <a:latin typeface="+mj-lt"/>
                <a:cs typeface="Arial" panose="020B0604020202020204" pitchFamily="34" charset="0"/>
              </a:defRPr>
            </a:lvl1pPr>
            <a:lvl2pPr marL="205359" indent="0" algn="just">
              <a:lnSpc>
                <a:spcPts val="2363"/>
              </a:lnSpc>
              <a:spcBef>
                <a:spcPts val="0"/>
              </a:spcBef>
              <a:buClr>
                <a:srgbClr val="7CAEC5"/>
              </a:buClr>
              <a:buFont typeface="Arial" pitchFamily="34" charset="0"/>
              <a:buNone/>
              <a:defRPr sz="1800"/>
            </a:lvl2pPr>
            <a:lvl3pPr>
              <a:lnSpc>
                <a:spcPts val="2587"/>
              </a:lnSpc>
              <a:spcBef>
                <a:spcPts val="0"/>
              </a:spcBef>
              <a:defRPr sz="2024"/>
            </a:lvl3pPr>
            <a:lvl4pPr>
              <a:lnSpc>
                <a:spcPts val="2587"/>
              </a:lnSpc>
              <a:spcBef>
                <a:spcPts val="0"/>
              </a:spcBef>
              <a:defRPr sz="2024"/>
            </a:lvl4pPr>
            <a:lvl5pPr>
              <a:lnSpc>
                <a:spcPts val="2587"/>
              </a:lnSpc>
              <a:spcBef>
                <a:spcPts val="0"/>
              </a:spcBef>
              <a:defRPr sz="2024"/>
            </a:lvl5pPr>
          </a:lstStyle>
          <a:p>
            <a:r>
              <a:rPr lang="pt-BR" dirty="0"/>
              <a:t>&lt;Título do slide&gt;</a:t>
            </a:r>
          </a:p>
          <a:p>
            <a:r>
              <a:rPr lang="pt-BR" dirty="0"/>
              <a:t>&lt;Título do slide&gt;</a:t>
            </a:r>
          </a:p>
          <a:p>
            <a:r>
              <a:rPr lang="pt-BR" dirty="0"/>
              <a:t>&lt;Título do slide&gt;</a:t>
            </a:r>
          </a:p>
        </p:txBody>
      </p:sp>
    </p:spTree>
    <p:extLst>
      <p:ext uri="{BB962C8B-B14F-4D97-AF65-F5344CB8AC3E}">
        <p14:creationId xmlns:p14="http://schemas.microsoft.com/office/powerpoint/2010/main" val="22734013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85664" y="240098"/>
            <a:ext cx="7560468" cy="627087"/>
          </a:xfrm>
          <a:prstGeom prst="rect">
            <a:avLst/>
          </a:prstGeom>
        </p:spPr>
        <p:txBody>
          <a:bodyPr lIns="137160" tIns="68580" rIns="137160" bIns="68580"/>
          <a:lstStyle>
            <a:lvl1pPr algn="l">
              <a:defRPr sz="3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7" name="Espaço Reservado para Conteúdo 6"/>
          <p:cNvSpPr>
            <a:spLocks noGrp="1"/>
          </p:cNvSpPr>
          <p:nvPr>
            <p:ph sz="quarter" idx="10"/>
          </p:nvPr>
        </p:nvSpPr>
        <p:spPr>
          <a:xfrm>
            <a:off x="485403" y="1363080"/>
            <a:ext cx="12745305" cy="8316924"/>
          </a:xfrm>
          <a:prstGeom prst="rect">
            <a:avLst/>
          </a:prstGeom>
        </p:spPr>
        <p:txBody>
          <a:bodyPr lIns="137160" tIns="68580" rIns="137160" bIns="68580"/>
          <a:lstStyle>
            <a:lvl1pPr>
              <a:lnSpc>
                <a:spcPts val="2850"/>
              </a:lnSpc>
              <a:defRPr sz="21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lnSpc>
                <a:spcPts val="2850"/>
              </a:lnSpc>
              <a:defRPr sz="21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ts val="2850"/>
              </a:lnSpc>
              <a:defRPr sz="21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lnSpc>
                <a:spcPts val="2850"/>
              </a:lnSpc>
              <a:defRPr sz="21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lnSpc>
                <a:spcPts val="2850"/>
              </a:lnSpc>
              <a:defRPr sz="21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55135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59889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1_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8700" y="914400"/>
            <a:ext cx="11658600" cy="1714500"/>
          </a:xfrm>
          <a:prstGeom prst="rect">
            <a:avLst/>
          </a:prstGeom>
        </p:spPr>
        <p:txBody>
          <a:bodyPr lIns="137160" tIns="68580" rIns="137160" bIns="6858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1028700" y="2971800"/>
            <a:ext cx="11658600" cy="6172200"/>
          </a:xfrm>
          <a:prstGeom prst="rect">
            <a:avLst/>
          </a:prstGeom>
        </p:spPr>
        <p:txBody>
          <a:bodyPr lIns="137160" tIns="68580" rIns="137160" bIns="68580"/>
          <a:lstStyle/>
          <a:p>
            <a:pPr lvl="0"/>
            <a:endParaRPr lang="pt-BR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9534525"/>
            <a:ext cx="3200400" cy="361950"/>
          </a:xfrm>
          <a:prstGeom prst="rect">
            <a:avLst/>
          </a:prstGeom>
          <a:ln/>
        </p:spPr>
        <p:txBody>
          <a:bodyPr lIns="137160" tIns="68580" rIns="137160" bIns="6858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686300" y="9534525"/>
            <a:ext cx="4343400" cy="361950"/>
          </a:xfrm>
          <a:prstGeom prst="rect">
            <a:avLst/>
          </a:prstGeom>
          <a:ln/>
        </p:spPr>
        <p:txBody>
          <a:bodyPr lIns="137160" tIns="68580" rIns="137160" bIns="6858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829800" y="9534525"/>
            <a:ext cx="3200400" cy="361950"/>
          </a:xfrm>
          <a:prstGeom prst="rect">
            <a:avLst/>
          </a:prstGeom>
          <a:ln/>
        </p:spPr>
        <p:txBody>
          <a:bodyPr lIns="137160" tIns="68580" rIns="137160" bIns="68580"/>
          <a:lstStyle>
            <a:lvl1pPr>
              <a:defRPr/>
            </a:lvl1pPr>
          </a:lstStyle>
          <a:p>
            <a:pPr>
              <a:defRPr/>
            </a:pPr>
            <a:fld id="{2B012098-1FED-4A8D-A73D-D35A925021E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0290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1147763"/>
            <a:ext cx="12344400" cy="978695"/>
          </a:xfrm>
          <a:prstGeom prst="rect">
            <a:avLst/>
          </a:prstGeom>
        </p:spPr>
        <p:txBody>
          <a:bodyPr lIns="137160" tIns="68580" rIns="137160" bIns="6858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85800" y="9534525"/>
            <a:ext cx="3200400" cy="361950"/>
          </a:xfrm>
          <a:prstGeom prst="rect">
            <a:avLst/>
          </a:prstGeom>
        </p:spPr>
        <p:txBody>
          <a:bodyPr lIns="137160" tIns="68580" rIns="137160" bIns="68580"/>
          <a:lstStyle>
            <a:lvl1pPr>
              <a:defRPr/>
            </a:lvl1pPr>
          </a:lstStyle>
          <a:p>
            <a:pPr>
              <a:defRPr/>
            </a:pPr>
            <a:fld id="{0C91E81E-67F2-48F7-89E5-0F9CAD5340F5}" type="datetimeFigureOut">
              <a:rPr lang="pt-BR"/>
              <a:pPr>
                <a:defRPr/>
              </a:pPr>
              <a:t>27/01/2025</a:t>
            </a:fld>
            <a:endParaRPr lang="pt-BR"/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686300" y="9534525"/>
            <a:ext cx="4343400" cy="361950"/>
          </a:xfrm>
          <a:prstGeom prst="rect">
            <a:avLst/>
          </a:prstGeom>
        </p:spPr>
        <p:txBody>
          <a:bodyPr lIns="137160" tIns="68580" rIns="137160" bIns="6858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9829800" y="9534525"/>
            <a:ext cx="3200400" cy="361950"/>
          </a:xfrm>
          <a:prstGeom prst="rect">
            <a:avLst/>
          </a:prstGeom>
        </p:spPr>
        <p:txBody>
          <a:bodyPr lIns="137160" tIns="68580" rIns="137160" bIns="68580"/>
          <a:lstStyle>
            <a:lvl1pPr>
              <a:defRPr/>
            </a:lvl1pPr>
          </a:lstStyle>
          <a:p>
            <a:pPr>
              <a:defRPr/>
            </a:pPr>
            <a:fld id="{540BC9CC-6374-42DB-907F-38D8449B405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36251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28700" y="3195638"/>
            <a:ext cx="11658600" cy="2205038"/>
          </a:xfrm>
          <a:prstGeom prst="rect">
            <a:avLst/>
          </a:prstGeom>
        </p:spPr>
        <p:txBody>
          <a:bodyPr lIns="137160" tIns="68580" rIns="137160" bIns="6858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57400" y="5829300"/>
            <a:ext cx="9601200" cy="2628900"/>
          </a:xfrm>
          <a:prstGeom prst="rect">
            <a:avLst/>
          </a:prstGeom>
        </p:spPr>
        <p:txBody>
          <a:bodyPr lIns="137160" tIns="68580" rIns="137160" bIns="68580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85800" y="9534525"/>
            <a:ext cx="3200400" cy="361950"/>
          </a:xfrm>
          <a:prstGeom prst="rect">
            <a:avLst/>
          </a:prstGeom>
        </p:spPr>
        <p:txBody>
          <a:bodyPr lIns="137160" tIns="68580" rIns="137160" bIns="68580"/>
          <a:lstStyle>
            <a:lvl1pPr>
              <a:defRPr/>
            </a:lvl1pPr>
          </a:lstStyle>
          <a:p>
            <a:pPr>
              <a:defRPr/>
            </a:pPr>
            <a:fld id="{C7B2DA1B-EF7B-4829-8BD6-2BF491265910}" type="datetimeFigureOut">
              <a:rPr lang="pt-BR"/>
              <a:pPr>
                <a:defRPr/>
              </a:pPr>
              <a:t>27/01/2025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686300" y="9534525"/>
            <a:ext cx="4343400" cy="361950"/>
          </a:xfrm>
          <a:prstGeom prst="rect">
            <a:avLst/>
          </a:prstGeom>
        </p:spPr>
        <p:txBody>
          <a:bodyPr lIns="137160" tIns="68580" rIns="137160" bIns="6858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9829800" y="9534525"/>
            <a:ext cx="3200400" cy="361950"/>
          </a:xfrm>
          <a:prstGeom prst="rect">
            <a:avLst/>
          </a:prstGeom>
        </p:spPr>
        <p:txBody>
          <a:bodyPr lIns="137160" tIns="68580" rIns="137160" bIns="68580"/>
          <a:lstStyle>
            <a:lvl1pPr>
              <a:defRPr/>
            </a:lvl1pPr>
          </a:lstStyle>
          <a:p>
            <a:pPr>
              <a:defRPr/>
            </a:pPr>
            <a:fld id="{45A764D2-350A-4A91-A7F7-012F3442ED1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182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w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" y="0"/>
            <a:ext cx="13687425" cy="1028700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0488" y="490427"/>
            <a:ext cx="1440160" cy="2597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5" r:id="rId1"/>
    <p:sldLayoutId id="2147484351" r:id="rId2"/>
    <p:sldLayoutId id="2147484356" r:id="rId3"/>
    <p:sldLayoutId id="2147484315" r:id="rId4"/>
    <p:sldLayoutId id="2147484343" r:id="rId5"/>
    <p:sldLayoutId id="2147484344" r:id="rId6"/>
    <p:sldLayoutId id="2147484339" r:id="rId7"/>
    <p:sldLayoutId id="2147484349" r:id="rId8"/>
    <p:sldLayoutId id="2147484350" r:id="rId9"/>
    <p:sldLayoutId id="2147484340" r:id="rId10"/>
    <p:sldLayoutId id="2147484345" r:id="rId11"/>
    <p:sldLayoutId id="2147484346" r:id="rId12"/>
    <p:sldLayoutId id="2147484357" r:id="rId13"/>
    <p:sldLayoutId id="2147484358" r:id="rId14"/>
    <p:sldLayoutId id="2147484359" r:id="rId15"/>
    <p:sldLayoutId id="2147484360" r:id="rId16"/>
    <p:sldLayoutId id="2147484361" r:id="rId17"/>
    <p:sldLayoutId id="2147484362" r:id="rId18"/>
    <p:sldLayoutId id="2147484363" r:id="rId19"/>
    <p:sldLayoutId id="2147484364" r:id="rId20"/>
    <p:sldLayoutId id="2147484365" r:id="rId21"/>
    <p:sldLayoutId id="2147484366" r:id="rId22"/>
    <p:sldLayoutId id="2147484367" r:id="rId2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95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951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951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951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951">
          <a:solidFill>
            <a:schemeClr val="tx1"/>
          </a:solidFill>
          <a:latin typeface="Calibri" pitchFamily="34" charset="0"/>
        </a:defRPr>
      </a:lvl5pPr>
      <a:lvl6pPr marL="514287" algn="ctr" rtl="0" eaLnBrk="1" fontAlgn="base" hangingPunct="1">
        <a:spcBef>
          <a:spcPct val="0"/>
        </a:spcBef>
        <a:spcAft>
          <a:spcPct val="0"/>
        </a:spcAft>
        <a:defRPr sz="4951">
          <a:solidFill>
            <a:schemeClr val="tx1"/>
          </a:solidFill>
          <a:latin typeface="Calibri" pitchFamily="34" charset="0"/>
        </a:defRPr>
      </a:lvl6pPr>
      <a:lvl7pPr marL="1028573" algn="ctr" rtl="0" eaLnBrk="1" fontAlgn="base" hangingPunct="1">
        <a:spcBef>
          <a:spcPct val="0"/>
        </a:spcBef>
        <a:spcAft>
          <a:spcPct val="0"/>
        </a:spcAft>
        <a:defRPr sz="4951">
          <a:solidFill>
            <a:schemeClr val="tx1"/>
          </a:solidFill>
          <a:latin typeface="Calibri" pitchFamily="34" charset="0"/>
        </a:defRPr>
      </a:lvl7pPr>
      <a:lvl8pPr marL="1542859" algn="ctr" rtl="0" eaLnBrk="1" fontAlgn="base" hangingPunct="1">
        <a:spcBef>
          <a:spcPct val="0"/>
        </a:spcBef>
        <a:spcAft>
          <a:spcPct val="0"/>
        </a:spcAft>
        <a:defRPr sz="4951">
          <a:solidFill>
            <a:schemeClr val="tx1"/>
          </a:solidFill>
          <a:latin typeface="Calibri" pitchFamily="34" charset="0"/>
        </a:defRPr>
      </a:lvl8pPr>
      <a:lvl9pPr marL="2057144" algn="ctr" rtl="0" eaLnBrk="1" fontAlgn="base" hangingPunct="1">
        <a:spcBef>
          <a:spcPct val="0"/>
        </a:spcBef>
        <a:spcAft>
          <a:spcPct val="0"/>
        </a:spcAft>
        <a:defRPr sz="4951">
          <a:solidFill>
            <a:schemeClr val="tx1"/>
          </a:solidFill>
          <a:latin typeface="Calibri" pitchFamily="34" charset="0"/>
        </a:defRPr>
      </a:lvl9pPr>
    </p:titleStyle>
    <p:bodyStyle>
      <a:lvl1pPr marL="385715" indent="-38571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5715" indent="-321429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285716" indent="-257144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000" indent="-257144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49" kern="1200">
          <a:solidFill>
            <a:schemeClr val="tx1"/>
          </a:solidFill>
          <a:latin typeface="+mn-lt"/>
          <a:ea typeface="+mn-ea"/>
          <a:cs typeface="+mn-cs"/>
        </a:defRPr>
      </a:lvl4pPr>
      <a:lvl5pPr marL="2314289" indent="-257144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249" kern="1200">
          <a:solidFill>
            <a:schemeClr val="tx1"/>
          </a:solidFill>
          <a:latin typeface="+mn-lt"/>
          <a:ea typeface="+mn-ea"/>
          <a:cs typeface="+mn-cs"/>
        </a:defRPr>
      </a:lvl5pPr>
      <a:lvl6pPr marL="2828574" indent="-257144" algn="l" defTabSz="1028573" rtl="0" eaLnBrk="1" latinLnBrk="0" hangingPunct="1">
        <a:spcBef>
          <a:spcPct val="20000"/>
        </a:spcBef>
        <a:buFont typeface="Arial" pitchFamily="34" charset="0"/>
        <a:buChar char="•"/>
        <a:defRPr sz="2249" kern="1200">
          <a:solidFill>
            <a:schemeClr val="tx1"/>
          </a:solidFill>
          <a:latin typeface="+mn-lt"/>
          <a:ea typeface="+mn-ea"/>
          <a:cs typeface="+mn-cs"/>
        </a:defRPr>
      </a:lvl6pPr>
      <a:lvl7pPr marL="3342860" indent="-257144" algn="l" defTabSz="1028573" rtl="0" eaLnBrk="1" latinLnBrk="0" hangingPunct="1">
        <a:spcBef>
          <a:spcPct val="20000"/>
        </a:spcBef>
        <a:buFont typeface="Arial" pitchFamily="34" charset="0"/>
        <a:buChar char="•"/>
        <a:defRPr sz="2249" kern="1200">
          <a:solidFill>
            <a:schemeClr val="tx1"/>
          </a:solidFill>
          <a:latin typeface="+mn-lt"/>
          <a:ea typeface="+mn-ea"/>
          <a:cs typeface="+mn-cs"/>
        </a:defRPr>
      </a:lvl7pPr>
      <a:lvl8pPr marL="3857147" indent="-257144" algn="l" defTabSz="1028573" rtl="0" eaLnBrk="1" latinLnBrk="0" hangingPunct="1">
        <a:spcBef>
          <a:spcPct val="20000"/>
        </a:spcBef>
        <a:buFont typeface="Arial" pitchFamily="34" charset="0"/>
        <a:buChar char="•"/>
        <a:defRPr sz="2249" kern="1200">
          <a:solidFill>
            <a:schemeClr val="tx1"/>
          </a:solidFill>
          <a:latin typeface="+mn-lt"/>
          <a:ea typeface="+mn-ea"/>
          <a:cs typeface="+mn-cs"/>
        </a:defRPr>
      </a:lvl8pPr>
      <a:lvl9pPr marL="4371432" indent="-257144" algn="l" defTabSz="1028573" rtl="0" eaLnBrk="1" latinLnBrk="0" hangingPunct="1">
        <a:spcBef>
          <a:spcPct val="20000"/>
        </a:spcBef>
        <a:buFont typeface="Arial" pitchFamily="34" charset="0"/>
        <a:buChar char="•"/>
        <a:defRPr sz="22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28573" rtl="0" eaLnBrk="1" latinLnBrk="0" hangingPunct="1">
        <a:defRPr sz="2024" kern="1200">
          <a:solidFill>
            <a:schemeClr val="tx1"/>
          </a:solidFill>
          <a:latin typeface="+mn-lt"/>
          <a:ea typeface="+mn-ea"/>
          <a:cs typeface="+mn-cs"/>
        </a:defRPr>
      </a:lvl1pPr>
      <a:lvl2pPr marL="514287" algn="l" defTabSz="1028573" rtl="0" eaLnBrk="1" latinLnBrk="0" hangingPunct="1">
        <a:defRPr sz="2024" kern="1200">
          <a:solidFill>
            <a:schemeClr val="tx1"/>
          </a:solidFill>
          <a:latin typeface="+mn-lt"/>
          <a:ea typeface="+mn-ea"/>
          <a:cs typeface="+mn-cs"/>
        </a:defRPr>
      </a:lvl2pPr>
      <a:lvl3pPr marL="1028573" algn="l" defTabSz="1028573" rtl="0" eaLnBrk="1" latinLnBrk="0" hangingPunct="1">
        <a:defRPr sz="2024" kern="1200">
          <a:solidFill>
            <a:schemeClr val="tx1"/>
          </a:solidFill>
          <a:latin typeface="+mn-lt"/>
          <a:ea typeface="+mn-ea"/>
          <a:cs typeface="+mn-cs"/>
        </a:defRPr>
      </a:lvl3pPr>
      <a:lvl4pPr marL="1542859" algn="l" defTabSz="1028573" rtl="0" eaLnBrk="1" latinLnBrk="0" hangingPunct="1">
        <a:defRPr sz="2024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4" algn="l" defTabSz="1028573" rtl="0" eaLnBrk="1" latinLnBrk="0" hangingPunct="1">
        <a:defRPr sz="2024" kern="1200">
          <a:solidFill>
            <a:schemeClr val="tx1"/>
          </a:solidFill>
          <a:latin typeface="+mn-lt"/>
          <a:ea typeface="+mn-ea"/>
          <a:cs typeface="+mn-cs"/>
        </a:defRPr>
      </a:lvl5pPr>
      <a:lvl6pPr marL="2571431" algn="l" defTabSz="1028573" rtl="0" eaLnBrk="1" latinLnBrk="0" hangingPunct="1">
        <a:defRPr sz="2024" kern="1200">
          <a:solidFill>
            <a:schemeClr val="tx1"/>
          </a:solidFill>
          <a:latin typeface="+mn-lt"/>
          <a:ea typeface="+mn-ea"/>
          <a:cs typeface="+mn-cs"/>
        </a:defRPr>
      </a:lvl6pPr>
      <a:lvl7pPr marL="3085719" algn="l" defTabSz="1028573" rtl="0" eaLnBrk="1" latinLnBrk="0" hangingPunct="1">
        <a:defRPr sz="2024" kern="1200">
          <a:solidFill>
            <a:schemeClr val="tx1"/>
          </a:solidFill>
          <a:latin typeface="+mn-lt"/>
          <a:ea typeface="+mn-ea"/>
          <a:cs typeface="+mn-cs"/>
        </a:defRPr>
      </a:lvl7pPr>
      <a:lvl8pPr marL="3600002" algn="l" defTabSz="1028573" rtl="0" eaLnBrk="1" latinLnBrk="0" hangingPunct="1">
        <a:defRPr sz="2024" kern="1200">
          <a:solidFill>
            <a:schemeClr val="tx1"/>
          </a:solidFill>
          <a:latin typeface="+mn-lt"/>
          <a:ea typeface="+mn-ea"/>
          <a:cs typeface="+mn-cs"/>
        </a:defRPr>
      </a:lvl8pPr>
      <a:lvl9pPr marL="4114289" algn="l" defTabSz="1028573" rtl="0" eaLnBrk="1" latinLnBrk="0" hangingPunct="1">
        <a:defRPr sz="20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007" userDrawn="1">
          <p15:clr>
            <a:srgbClr val="F26B43"/>
          </p15:clr>
        </p15:guide>
        <p15:guide id="2" pos="43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mailto:wladeira@crcrj.org.br" TargetMode="Externa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5"/>
          <p:cNvSpPr txBox="1">
            <a:spLocks/>
          </p:cNvSpPr>
          <p:nvPr/>
        </p:nvSpPr>
        <p:spPr>
          <a:xfrm>
            <a:off x="642894" y="2214542"/>
            <a:ext cx="11743395" cy="5357850"/>
          </a:xfrm>
          <a:prstGeom prst="rect">
            <a:avLst/>
          </a:prstGeom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7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Gestão de Custos em Saúde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pt-BR" sz="7200" b="1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Sejam Bem Vindos!!!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7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pt-BR" sz="7200" b="1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Espaço Reservado para Texto 6"/>
          <p:cNvSpPr>
            <a:spLocks noGrp="1"/>
          </p:cNvSpPr>
          <p:nvPr>
            <p:ph type="body" sz="quarter" idx="4294967295"/>
          </p:nvPr>
        </p:nvSpPr>
        <p:spPr>
          <a:xfrm>
            <a:off x="1214398" y="8072458"/>
            <a:ext cx="10789051" cy="1404156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r>
              <a:rPr lang="pt-BR" b="1" dirty="0">
                <a:latin typeface="Verdana" pitchFamily="34" charset="0"/>
              </a:rPr>
              <a:t>Professor Dr. Waldir Ladeira</a:t>
            </a:r>
          </a:p>
        </p:txBody>
      </p:sp>
    </p:spTree>
    <p:extLst>
      <p:ext uri="{BB962C8B-B14F-4D97-AF65-F5344CB8AC3E}">
        <p14:creationId xmlns:p14="http://schemas.microsoft.com/office/powerpoint/2010/main" val="363095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42" y="785782"/>
            <a:ext cx="10001320" cy="983211"/>
          </a:xfrm>
        </p:spPr>
        <p:txBody>
          <a:bodyPr/>
          <a:lstStyle/>
          <a:p>
            <a:r>
              <a:rPr lang="pt-BR" sz="4400" u="sng" dirty="0">
                <a:solidFill>
                  <a:srgbClr val="105B95"/>
                </a:solidFill>
              </a:rPr>
              <a:t>Gestão de Custos em Saúde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714331" y="2143104"/>
          <a:ext cx="11572956" cy="6929486"/>
        </p:xfrm>
        <a:graphic>
          <a:graphicData uri="http://schemas.openxmlformats.org/drawingml/2006/table">
            <a:tbl>
              <a:tblPr/>
              <a:tblGrid>
                <a:gridCol w="239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8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4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26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2400" b="1" dirty="0">
                          <a:solidFill>
                            <a:srgbClr val="0070C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1º 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2400" b="1" dirty="0">
                          <a:solidFill>
                            <a:srgbClr val="0070C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Encontro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Contextualização no ambiente de organizações e serviços de saúde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Objetivo dos Sistemas de Custeamento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>
                          <a:latin typeface="Verdana"/>
                          <a:ea typeface="Times New Roman"/>
                          <a:cs typeface="Times New Roman"/>
                        </a:rPr>
                        <a:t>Objetivo, Finalidade e Usuários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>
                          <a:latin typeface="Verdana"/>
                          <a:ea typeface="Times New Roman"/>
                          <a:cs typeface="Times New Roman"/>
                        </a:rPr>
                        <a:t>Conceitos básicos de Custos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>
                          <a:latin typeface="Verdana"/>
                          <a:ea typeface="Times New Roman"/>
                          <a:cs typeface="Times New Roman"/>
                        </a:rPr>
                        <a:t>Competência X Financeiro (DRE X DFC)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>
                          <a:latin typeface="Verdana"/>
                          <a:ea typeface="Times New Roman"/>
                          <a:cs typeface="Times New Roman"/>
                        </a:rPr>
                        <a:t>Tipos de Gastos: Investimento, Custo, Despesa, Perda e Provisão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687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2400" b="1" dirty="0">
                          <a:solidFill>
                            <a:srgbClr val="0070C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2º 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2400" b="1" dirty="0">
                          <a:solidFill>
                            <a:srgbClr val="0070C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Encontro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Sistema de Custeio por Absorção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Tipos de Custos Existentes nas Empresas de Saúde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Classificação dos Custos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Quanto ao Volume: Variável e Fixo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Quanto à Alocação ou identificação a um Centro de Custo: Direto e Indireto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Ganho de Escala ou Produtividade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Estruturas das DRE Financeira e Gerencial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534651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42" y="785782"/>
            <a:ext cx="10001320" cy="983211"/>
          </a:xfrm>
        </p:spPr>
        <p:txBody>
          <a:bodyPr/>
          <a:lstStyle/>
          <a:p>
            <a:r>
              <a:rPr lang="pt-BR" sz="4400" u="sng" dirty="0">
                <a:solidFill>
                  <a:srgbClr val="105B95"/>
                </a:solidFill>
              </a:rPr>
              <a:t>Gestão de Custos em Saúde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555064"/>
              </p:ext>
            </p:extLst>
          </p:nvPr>
        </p:nvGraphicFramePr>
        <p:xfrm>
          <a:off x="1000084" y="1928789"/>
          <a:ext cx="11572955" cy="6092084"/>
        </p:xfrm>
        <a:graphic>
          <a:graphicData uri="http://schemas.openxmlformats.org/drawingml/2006/table">
            <a:tbl>
              <a:tblPr/>
              <a:tblGrid>
                <a:gridCol w="239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8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4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733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2400" b="1" dirty="0">
                          <a:solidFill>
                            <a:srgbClr val="0070C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3º 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2400" b="1" dirty="0">
                          <a:solidFill>
                            <a:srgbClr val="0070C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Encontro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Critérios de rateio dos custos indiretos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Sistema de custeio por atividade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Métodos de custeio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Rateios com base no volume de produção, horas trabalhadas e demais critérios utilizados para apropriação dos custos de serviços e de materiais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Absorção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Custeio Baseado em Atividades (ABC)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 Contribuição (variável)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pt-BR" sz="1800" b="1" dirty="0">
                        <a:latin typeface="Verdan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61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2400" b="1" dirty="0">
                          <a:solidFill>
                            <a:srgbClr val="0070C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4º 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2400" b="1" dirty="0">
                          <a:solidFill>
                            <a:srgbClr val="0070C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Encontro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Planejamento e Controle de Custos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Margem de contribuição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Ponto de Equilíbrio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Formação do Mark-Up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Verdana"/>
                          <a:ea typeface="Times New Roman"/>
                          <a:cs typeface="Times New Roman"/>
                        </a:rPr>
                        <a:t>Formação de Preço de Venda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77388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08" y="928658"/>
            <a:ext cx="11658600" cy="992628"/>
          </a:xfrm>
        </p:spPr>
        <p:txBody>
          <a:bodyPr/>
          <a:lstStyle/>
          <a:p>
            <a:pPr algn="ctr"/>
            <a:r>
              <a:rPr lang="pt-BR" sz="6000" dirty="0">
                <a:solidFill>
                  <a:schemeClr val="tx1"/>
                </a:solidFill>
              </a:rPr>
              <a:t>Gestão de Recursos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3847356"/>
            <a:ext cx="12961440" cy="4896544"/>
          </a:xfrm>
          <a:prstGeom prst="rect">
            <a:avLst/>
          </a:prstGeom>
        </p:spPr>
        <p:txBody>
          <a:bodyPr lIns="137160" tIns="68580" rIns="137160" bIns="68580"/>
          <a:lstStyle/>
          <a:p>
            <a:pPr indent="1104900" algn="ctr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Mensura e evidencia as informações:</a:t>
            </a:r>
          </a:p>
          <a:p>
            <a:pPr marL="957215" indent="-571500" algn="ctr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BR" sz="4200" dirty="0">
                <a:latin typeface="Verdana" pitchFamily="34" charset="0"/>
                <a:ea typeface="Verdana" pitchFamily="34" charset="0"/>
                <a:cs typeface="Verdana" pitchFamily="34" charset="0"/>
              </a:rPr>
              <a:t>Financeiras (Dinheiro, Fluxo de Caixa)</a:t>
            </a:r>
          </a:p>
          <a:p>
            <a:pPr marL="957215" indent="-571500" algn="ctr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BR" sz="4200" dirty="0">
                <a:latin typeface="Verdana" pitchFamily="34" charset="0"/>
                <a:ea typeface="Verdana" pitchFamily="34" charset="0"/>
                <a:cs typeface="Verdana" pitchFamily="34" charset="0"/>
              </a:rPr>
              <a:t>Não financeiras (Valor, não é dinheiro)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335958" y="282960"/>
            <a:ext cx="8358246" cy="983211"/>
          </a:xfrm>
          <a:prstGeom prst="rect">
            <a:avLst/>
          </a:prstGeom>
        </p:spPr>
        <p:txBody>
          <a:bodyPr lIns="137160" tIns="68580" rIns="137160" bIns="68580"/>
          <a:lstStyle/>
          <a:p>
            <a:pPr defTabSz="1371600" eaLnBrk="0" hangingPunct="0">
              <a:defRPr/>
            </a:pPr>
            <a:r>
              <a:rPr lang="pt-BR" sz="3600" b="1" kern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Gestão de Custos para Saúde</a:t>
            </a:r>
          </a:p>
        </p:txBody>
      </p:sp>
      <p:sp>
        <p:nvSpPr>
          <p:cNvPr id="120833" name="Litebulb"/>
          <p:cNvSpPr>
            <a:spLocks noEditPoints="1" noChangeArrowheads="1"/>
          </p:cNvSpPr>
          <p:nvPr/>
        </p:nvSpPr>
        <p:spPr bwMode="auto">
          <a:xfrm>
            <a:off x="857208" y="1000096"/>
            <a:ext cx="823907" cy="130968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7782 h 21600"/>
              <a:gd name="T4" fmla="*/ 0 w 21600"/>
              <a:gd name="T5" fmla="*/ 7782 h 21600"/>
              <a:gd name="T6" fmla="*/ 10800 w 21600"/>
              <a:gd name="T7" fmla="*/ 21600 h 21600"/>
              <a:gd name="T8" fmla="*/ 3556 w 21600"/>
              <a:gd name="T9" fmla="*/ 2188 h 21600"/>
              <a:gd name="T10" fmla="*/ 18277 w 21600"/>
              <a:gd name="T11" fmla="*/ 92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 extrusionOk="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CC"/>
          </a:solidFill>
          <a:ln w="571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9544856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08" y="928658"/>
            <a:ext cx="11658600" cy="992628"/>
          </a:xfrm>
        </p:spPr>
        <p:txBody>
          <a:bodyPr/>
          <a:lstStyle/>
          <a:p>
            <a:pPr algn="ctr"/>
            <a:r>
              <a:rPr lang="pt-BR" sz="6000" dirty="0">
                <a:solidFill>
                  <a:schemeClr val="tx1"/>
                </a:solidFill>
              </a:rPr>
              <a:t>Gestão de Recursos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3055268"/>
            <a:ext cx="12961440" cy="4948602"/>
          </a:xfrm>
          <a:prstGeom prst="rect">
            <a:avLst/>
          </a:prstGeom>
        </p:spPr>
        <p:txBody>
          <a:bodyPr lIns="137160" tIns="68580" rIns="137160" bIns="68580"/>
          <a:lstStyle/>
          <a:p>
            <a:pPr indent="1104900" algn="ctr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Está Relacionada a:</a:t>
            </a:r>
          </a:p>
          <a:p>
            <a:pPr marL="957215" indent="-571500" algn="ctr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pt-BR" sz="4200" dirty="0">
                <a:latin typeface="Verdana" pitchFamily="34" charset="0"/>
                <a:ea typeface="Verdana" pitchFamily="34" charset="0"/>
                <a:cs typeface="Verdana" pitchFamily="34" charset="0"/>
              </a:rPr>
              <a:t>Aquisição de Estoque e Bens (Ativo)</a:t>
            </a:r>
          </a:p>
          <a:p>
            <a:pPr marL="957215" indent="-571500" algn="ctr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pt-BR" sz="4200" dirty="0">
                <a:latin typeface="Verdana" pitchFamily="34" charset="0"/>
                <a:ea typeface="Verdana" pitchFamily="34" charset="0"/>
                <a:cs typeface="Verdana" pitchFamily="34" charset="0"/>
              </a:rPr>
              <a:t>Consumo de recursos (Custo ou Despesa)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335958" y="282960"/>
            <a:ext cx="8358246" cy="983211"/>
          </a:xfrm>
          <a:prstGeom prst="rect">
            <a:avLst/>
          </a:prstGeom>
        </p:spPr>
        <p:txBody>
          <a:bodyPr lIns="137160" tIns="68580" rIns="137160" bIns="68580"/>
          <a:lstStyle/>
          <a:p>
            <a:pPr defTabSz="1371600" eaLnBrk="0" hangingPunct="0">
              <a:defRPr/>
            </a:pPr>
            <a:r>
              <a:rPr lang="pt-BR" sz="3600" b="1" kern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Gestão de Custos para Saúde</a:t>
            </a:r>
          </a:p>
        </p:txBody>
      </p:sp>
      <p:sp>
        <p:nvSpPr>
          <p:cNvPr id="120833" name="Litebulb"/>
          <p:cNvSpPr>
            <a:spLocks noEditPoints="1" noChangeArrowheads="1"/>
          </p:cNvSpPr>
          <p:nvPr/>
        </p:nvSpPr>
        <p:spPr bwMode="auto">
          <a:xfrm>
            <a:off x="857208" y="1000096"/>
            <a:ext cx="823907" cy="130968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7782 h 21600"/>
              <a:gd name="T4" fmla="*/ 0 w 21600"/>
              <a:gd name="T5" fmla="*/ 7782 h 21600"/>
              <a:gd name="T6" fmla="*/ 10800 w 21600"/>
              <a:gd name="T7" fmla="*/ 21600 h 21600"/>
              <a:gd name="T8" fmla="*/ 3556 w 21600"/>
              <a:gd name="T9" fmla="*/ 2188 h 21600"/>
              <a:gd name="T10" fmla="*/ 18277 w 21600"/>
              <a:gd name="T11" fmla="*/ 92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 extrusionOk="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CC"/>
          </a:solidFill>
          <a:ln w="571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590064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08" y="928658"/>
            <a:ext cx="11658600" cy="992628"/>
          </a:xfrm>
        </p:spPr>
        <p:txBody>
          <a:bodyPr/>
          <a:lstStyle/>
          <a:p>
            <a:pPr algn="ctr"/>
            <a:r>
              <a:rPr lang="pt-BR" sz="6000" dirty="0">
                <a:solidFill>
                  <a:schemeClr val="tx1"/>
                </a:solidFill>
              </a:rPr>
              <a:t>Gestão de Recursos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1256" y="2643170"/>
            <a:ext cx="12961440" cy="6892818"/>
          </a:xfrm>
          <a:prstGeom prst="rect">
            <a:avLst/>
          </a:prstGeom>
        </p:spPr>
        <p:txBody>
          <a:bodyPr lIns="137160" tIns="68580" rIns="137160" bIns="68580"/>
          <a:lstStyle/>
          <a:p>
            <a:pPr indent="1104900" algn="ctr"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pt-BR" sz="4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Fornece informação para:</a:t>
            </a:r>
          </a:p>
          <a:p>
            <a:pPr marL="957215" indent="-571500" algn="ctr"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4200" dirty="0">
                <a:latin typeface="Verdana" pitchFamily="34" charset="0"/>
                <a:ea typeface="Verdana" pitchFamily="34" charset="0"/>
                <a:cs typeface="Verdana" pitchFamily="34" charset="0"/>
              </a:rPr>
              <a:t>Contabilidade Financeira (obrigatória)</a:t>
            </a:r>
          </a:p>
          <a:p>
            <a:pPr marL="957215" indent="-571500" algn="ctr"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4200" dirty="0">
                <a:latin typeface="Verdana" pitchFamily="34" charset="0"/>
                <a:ea typeface="Verdana" pitchFamily="34" charset="0"/>
                <a:cs typeface="Verdana" pitchFamily="34" charset="0"/>
              </a:rPr>
              <a:t>Contabilidade Gerencial (assessoria)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335958" y="282960"/>
            <a:ext cx="8358246" cy="983211"/>
          </a:xfrm>
          <a:prstGeom prst="rect">
            <a:avLst/>
          </a:prstGeom>
        </p:spPr>
        <p:txBody>
          <a:bodyPr lIns="137160" tIns="68580" rIns="137160" bIns="68580"/>
          <a:lstStyle/>
          <a:p>
            <a:pPr defTabSz="1371600" eaLnBrk="0" hangingPunct="0">
              <a:defRPr/>
            </a:pPr>
            <a:r>
              <a:rPr lang="pt-BR" sz="3600" b="1" kern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Gestão de Custos para Saúde</a:t>
            </a:r>
          </a:p>
        </p:txBody>
      </p:sp>
      <p:sp>
        <p:nvSpPr>
          <p:cNvPr id="120833" name="Litebulb"/>
          <p:cNvSpPr>
            <a:spLocks noEditPoints="1" noChangeArrowheads="1"/>
          </p:cNvSpPr>
          <p:nvPr/>
        </p:nvSpPr>
        <p:spPr bwMode="auto">
          <a:xfrm>
            <a:off x="857208" y="1000096"/>
            <a:ext cx="823907" cy="130968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7782 h 21600"/>
              <a:gd name="T4" fmla="*/ 0 w 21600"/>
              <a:gd name="T5" fmla="*/ 7782 h 21600"/>
              <a:gd name="T6" fmla="*/ 10800 w 21600"/>
              <a:gd name="T7" fmla="*/ 21600 h 21600"/>
              <a:gd name="T8" fmla="*/ 3556 w 21600"/>
              <a:gd name="T9" fmla="*/ 2188 h 21600"/>
              <a:gd name="T10" fmla="*/ 18277 w 21600"/>
              <a:gd name="T11" fmla="*/ 92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 extrusionOk="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CC"/>
          </a:solidFill>
          <a:ln w="571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16589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de cantos arredondados 8"/>
          <p:cNvSpPr/>
          <p:nvPr/>
        </p:nvSpPr>
        <p:spPr>
          <a:xfrm>
            <a:off x="5500678" y="4714872"/>
            <a:ext cx="2714644" cy="571504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571456" y="2143104"/>
            <a:ext cx="12358774" cy="1928826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522" y="571468"/>
            <a:ext cx="11658600" cy="992628"/>
          </a:xfrm>
        </p:spPr>
        <p:txBody>
          <a:bodyPr/>
          <a:lstStyle/>
          <a:p>
            <a:pPr algn="ctr"/>
            <a:r>
              <a:rPr lang="pt-BR" sz="6000" dirty="0">
                <a:solidFill>
                  <a:schemeClr val="tx1"/>
                </a:solidFill>
              </a:rPr>
              <a:t>Gestão de Custos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57142" y="2357418"/>
            <a:ext cx="12715964" cy="7786742"/>
          </a:xfrm>
          <a:prstGeom prst="rect">
            <a:avLst/>
          </a:prstGeom>
        </p:spPr>
        <p:txBody>
          <a:bodyPr lIns="137160" tIns="68580" rIns="137160" bIns="68580"/>
          <a:lstStyle/>
          <a:p>
            <a:pPr indent="1104900">
              <a:buFont typeface="Wingdings" pitchFamily="2" charset="2"/>
              <a:buChar char="ü"/>
            </a:pPr>
            <a:r>
              <a:rPr lang="pt-BR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Informações </a:t>
            </a:r>
            <a:r>
              <a:rPr lang="pt-BR" sz="4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financeiras</a:t>
            </a:r>
            <a:r>
              <a:rPr lang="pt-BR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........ </a:t>
            </a:r>
            <a:r>
              <a:rPr lang="pt-BR" sz="4000" b="1" dirty="0" err="1">
                <a:solidFill>
                  <a:srgbClr val="00B0F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D.F.C.</a:t>
            </a:r>
            <a:endParaRPr lang="pt-BR" sz="4000" b="1" dirty="0">
              <a:solidFill>
                <a:srgbClr val="00B0F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indent="1104900">
              <a:buFont typeface="Wingdings" pitchFamily="2" charset="2"/>
              <a:buChar char="ü"/>
            </a:pPr>
            <a:r>
              <a:rPr lang="pt-BR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Informações </a:t>
            </a:r>
            <a:r>
              <a:rPr lang="pt-BR" sz="4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não financeiras.. </a:t>
            </a:r>
            <a:r>
              <a:rPr lang="pt-BR" sz="4000" b="1" dirty="0" err="1">
                <a:solidFill>
                  <a:srgbClr val="00B0F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D.F.C.</a:t>
            </a:r>
            <a:endParaRPr lang="pt-BR" sz="4000" b="1" dirty="0">
              <a:solidFill>
                <a:srgbClr val="00B0F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indent="1104900">
              <a:buNone/>
            </a:pPr>
            <a:endParaRPr lang="pt-BR" sz="4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 algn="ctr">
              <a:buNone/>
            </a:pPr>
            <a:r>
              <a:rPr lang="pt-BR" sz="4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  </a:t>
            </a:r>
            <a:r>
              <a:rPr lang="pt-BR" sz="40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D.R.E.</a:t>
            </a:r>
            <a:endParaRPr lang="pt-BR" sz="40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indent="1104900">
              <a:buNone/>
            </a:pPr>
            <a:endParaRPr lang="pt-BR" sz="4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indent="1104900">
              <a:buFont typeface="Wingdings" pitchFamily="2" charset="2"/>
              <a:buChar char="ü"/>
            </a:pPr>
            <a:r>
              <a:rPr lang="pt-BR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Aquisição de Bens gera </a:t>
            </a:r>
            <a:r>
              <a:rPr lang="pt-BR" sz="4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ATIVO</a:t>
            </a:r>
            <a:r>
              <a:rPr lang="pt-BR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 marL="1284288" lvl="2" indent="328613">
              <a:buFont typeface="Wingdings" pitchFamily="2" charset="2"/>
              <a:buChar char="Ø"/>
            </a:pPr>
            <a:r>
              <a:rPr lang="pt-BR" sz="3100" b="1" dirty="0">
                <a:solidFill>
                  <a:srgbClr val="105B9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Estoque ou Imobilizado</a:t>
            </a:r>
          </a:p>
          <a:p>
            <a:pPr indent="1104900">
              <a:buNone/>
            </a:pPr>
            <a:endParaRPr lang="pt-BR" sz="40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indent="1104900">
              <a:buFont typeface="Wingdings" pitchFamily="2" charset="2"/>
              <a:buChar char="ü"/>
            </a:pPr>
            <a:r>
              <a:rPr lang="pt-BR" sz="4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Consumo</a:t>
            </a:r>
            <a:r>
              <a:rPr lang="pt-BR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de recursos gera </a:t>
            </a:r>
            <a:r>
              <a:rPr lang="pt-BR" sz="4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GASTO</a:t>
            </a:r>
          </a:p>
          <a:p>
            <a:pPr marL="1284288" lvl="2" indent="417513">
              <a:buFont typeface="Wingdings" pitchFamily="2" charset="2"/>
              <a:buChar char="Ø"/>
            </a:pPr>
            <a:r>
              <a:rPr lang="pt-BR" sz="3100" b="1" dirty="0">
                <a:solidFill>
                  <a:srgbClr val="105B9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Produção ou Utilização (Depreciação)</a:t>
            </a:r>
            <a:endParaRPr lang="pt-BR" sz="31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335958" y="282960"/>
            <a:ext cx="8358246" cy="983211"/>
          </a:xfrm>
          <a:prstGeom prst="rect">
            <a:avLst/>
          </a:prstGeom>
        </p:spPr>
        <p:txBody>
          <a:bodyPr lIns="137160" tIns="68580" rIns="137160" bIns="68580"/>
          <a:lstStyle/>
          <a:p>
            <a:pPr defTabSz="1371600" eaLnBrk="0" hangingPunct="0">
              <a:defRPr/>
            </a:pPr>
            <a:r>
              <a:rPr lang="pt-BR" sz="3600" b="1" kern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Gestão de Custos para Saúde</a:t>
            </a:r>
          </a:p>
        </p:txBody>
      </p:sp>
      <p:sp>
        <p:nvSpPr>
          <p:cNvPr id="5" name="Multiplicar 4"/>
          <p:cNvSpPr/>
          <p:nvPr/>
        </p:nvSpPr>
        <p:spPr>
          <a:xfrm>
            <a:off x="10287024" y="3000360"/>
            <a:ext cx="1285884" cy="985838"/>
          </a:xfrm>
          <a:prstGeom prst="mathMultiply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 para baixo 7"/>
          <p:cNvSpPr/>
          <p:nvPr/>
        </p:nvSpPr>
        <p:spPr>
          <a:xfrm>
            <a:off x="6858000" y="4071930"/>
            <a:ext cx="214314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 para baixo 9"/>
          <p:cNvSpPr/>
          <p:nvPr/>
        </p:nvSpPr>
        <p:spPr>
          <a:xfrm>
            <a:off x="2857472" y="7286640"/>
            <a:ext cx="500066" cy="1571636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 para baixo 10"/>
          <p:cNvSpPr/>
          <p:nvPr/>
        </p:nvSpPr>
        <p:spPr>
          <a:xfrm>
            <a:off x="5714992" y="7286640"/>
            <a:ext cx="500066" cy="1571636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153316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ChangeArrowheads="1"/>
          </p:cNvSpPr>
          <p:nvPr/>
        </p:nvSpPr>
        <p:spPr bwMode="auto">
          <a:xfrm>
            <a:off x="1510644" y="0"/>
            <a:ext cx="12205356" cy="3130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8113" tIns="69057" rIns="138113" bIns="69057" anchor="b"/>
          <a:lstStyle/>
          <a:p>
            <a:pPr algn="ctr">
              <a:lnSpc>
                <a:spcPct val="100000"/>
              </a:lnSpc>
              <a:buFontTx/>
              <a:buNone/>
              <a:defRPr/>
            </a:pPr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O que são </a:t>
            </a:r>
          </a:p>
          <a:p>
            <a:pPr algn="ctr">
              <a:lnSpc>
                <a:spcPct val="100000"/>
              </a:lnSpc>
              <a:buFontTx/>
              <a:buNone/>
              <a:defRPr/>
            </a:pPr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Resultados por  </a:t>
            </a:r>
          </a:p>
          <a:p>
            <a:pPr algn="ctr">
              <a:lnSpc>
                <a:spcPct val="100000"/>
              </a:lnSpc>
              <a:buFontTx/>
              <a:buNone/>
              <a:defRPr/>
            </a:pPr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Competência e Caixa?</a:t>
            </a:r>
            <a:endParaRPr lang="pt-BR" sz="54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28355" name="Rectangle 3"/>
          <p:cNvSpPr>
            <a:spLocks noChangeArrowheads="1"/>
          </p:cNvSpPr>
          <p:nvPr/>
        </p:nvSpPr>
        <p:spPr bwMode="auto">
          <a:xfrm>
            <a:off x="161256" y="3415308"/>
            <a:ext cx="12745416" cy="6264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8113" tIns="69057" rIns="138113" bIns="69057"/>
          <a:lstStyle/>
          <a:p>
            <a:pPr marL="421482"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4800" b="1" u="sng" dirty="0">
                <a:latin typeface="Verdana" pitchFamily="34" charset="0"/>
                <a:ea typeface="Verdana" pitchFamily="34" charset="0"/>
                <a:cs typeface="Verdana" pitchFamily="34" charset="0"/>
              </a:rPr>
              <a:t>Competência</a:t>
            </a:r>
            <a:r>
              <a:rPr lang="en-US" sz="4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  <a:r>
              <a:rPr lang="en-US" sz="4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 marL="421482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O </a:t>
            </a:r>
            <a:r>
              <a:rPr lang="pt-BR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Resultado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pt-BR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apurado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pela </a:t>
            </a:r>
            <a:r>
              <a:rPr lang="pt-BR" sz="4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Demonstração</a:t>
            </a:r>
            <a:r>
              <a:rPr lang="en-US" sz="4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do </a:t>
            </a:r>
            <a:r>
              <a:rPr lang="en-US" sz="40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Resultado</a:t>
            </a:r>
            <a:r>
              <a:rPr lang="en-US" sz="4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do </a:t>
            </a:r>
            <a:r>
              <a:rPr lang="en-US" sz="40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Exercício</a:t>
            </a:r>
            <a:r>
              <a:rPr lang="en-US" sz="4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(DRE) 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e </a:t>
            </a:r>
            <a:r>
              <a:rPr lang="en-US" sz="4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considera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40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todas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as </a:t>
            </a:r>
            <a:r>
              <a:rPr lang="en-US" sz="4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transações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de VENDA e de CONSUMO num </a:t>
            </a:r>
            <a:r>
              <a:rPr lang="en-US" sz="4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mesmo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4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período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4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independente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4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ter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4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ocorrido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à vista e </a:t>
            </a:r>
            <a:r>
              <a:rPr lang="en-US" sz="4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ou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4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prazo</a:t>
            </a:r>
            <a:endParaRPr lang="en-US" sz="4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" name="Espaço Reservado para Imagem 6">
            <a:extLst>
              <a:ext uri="{FF2B5EF4-FFF2-40B4-BE49-F238E27FC236}">
                <a16:creationId xmlns:a16="http://schemas.microsoft.com/office/drawing/2014/main" id="{4D2309FC-2A42-44C3-9470-262C8EF223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2982" y="1000096"/>
            <a:ext cx="1782530" cy="254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904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ChangeArrowheads="1"/>
          </p:cNvSpPr>
          <p:nvPr/>
        </p:nvSpPr>
        <p:spPr bwMode="auto">
          <a:xfrm>
            <a:off x="1510644" y="0"/>
            <a:ext cx="12205356" cy="3130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8113" tIns="69057" rIns="138113" bIns="69057" anchor="b"/>
          <a:lstStyle/>
          <a:p>
            <a:pPr algn="ctr">
              <a:lnSpc>
                <a:spcPct val="100000"/>
              </a:lnSpc>
              <a:buFontTx/>
              <a:buNone/>
              <a:defRPr/>
            </a:pPr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O que são </a:t>
            </a:r>
          </a:p>
          <a:p>
            <a:pPr algn="ctr">
              <a:lnSpc>
                <a:spcPct val="100000"/>
              </a:lnSpc>
              <a:buFontTx/>
              <a:buNone/>
              <a:defRPr/>
            </a:pPr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Resultados por  </a:t>
            </a:r>
          </a:p>
          <a:p>
            <a:pPr algn="ctr">
              <a:lnSpc>
                <a:spcPct val="100000"/>
              </a:lnSpc>
              <a:buFontTx/>
              <a:buNone/>
              <a:defRPr/>
            </a:pPr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Competência e Caixa?</a:t>
            </a:r>
            <a:endParaRPr lang="pt-BR" sz="54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28355" name="Rectangle 3"/>
          <p:cNvSpPr>
            <a:spLocks noChangeArrowheads="1"/>
          </p:cNvSpPr>
          <p:nvPr/>
        </p:nvSpPr>
        <p:spPr bwMode="auto">
          <a:xfrm>
            <a:off x="161256" y="3199284"/>
            <a:ext cx="12745416" cy="6768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8113" tIns="69057" rIns="138113" bIns="69057"/>
          <a:lstStyle/>
          <a:p>
            <a:pPr marL="421482"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4800" b="1" u="sng" dirty="0">
                <a:latin typeface="Verdana" pitchFamily="34" charset="0"/>
                <a:ea typeface="Verdana" pitchFamily="34" charset="0"/>
                <a:cs typeface="Verdana" pitchFamily="34" charset="0"/>
              </a:rPr>
              <a:t>Caixa</a:t>
            </a:r>
            <a:r>
              <a:rPr lang="en-US" sz="4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  <a:r>
              <a:rPr lang="en-US" sz="4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 marL="421482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O </a:t>
            </a:r>
            <a:r>
              <a:rPr lang="pt-BR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Resultado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pt-BR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apurado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pela </a:t>
            </a:r>
            <a:r>
              <a:rPr lang="pt-BR" sz="4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Demonstração</a:t>
            </a:r>
            <a:r>
              <a:rPr lang="en-US" sz="4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do </a:t>
            </a:r>
            <a:r>
              <a:rPr lang="en-US" sz="40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Fluxo</a:t>
            </a:r>
            <a:r>
              <a:rPr lang="en-US" sz="4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de Caixa (DFC) 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e </a:t>
            </a:r>
            <a:r>
              <a:rPr lang="en-US" sz="4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considera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40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somente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as </a:t>
            </a:r>
            <a:r>
              <a:rPr lang="en-US" sz="4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transações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de VENDA e de CONSUMO </a:t>
            </a:r>
            <a:r>
              <a:rPr lang="en-US" sz="4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à vista, </a:t>
            </a:r>
            <a:r>
              <a:rPr lang="en-US" sz="4000" u="sng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não</a:t>
            </a:r>
            <a:r>
              <a:rPr lang="en-US" sz="4000" u="sng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4000" u="sng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considera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as </a:t>
            </a:r>
            <a:r>
              <a:rPr lang="en-US" sz="4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transações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que </a:t>
            </a:r>
            <a:r>
              <a:rPr lang="en-US" sz="4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forem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4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prazo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4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somente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4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quando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for </a:t>
            </a:r>
            <a:r>
              <a:rPr lang="en-US" sz="4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recebido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4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ou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4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pago</a:t>
            </a:r>
            <a: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</p:txBody>
      </p:sp>
      <p:pic>
        <p:nvPicPr>
          <p:cNvPr id="3" name="Espaço Reservado para Imagem 6">
            <a:extLst>
              <a:ext uri="{FF2B5EF4-FFF2-40B4-BE49-F238E27FC236}">
                <a16:creationId xmlns:a16="http://schemas.microsoft.com/office/drawing/2014/main" id="{EAA5CEFC-3653-C035-43E5-E82F174FA7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93304" y="462980"/>
            <a:ext cx="2780126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7184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5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ChangeArrowheads="1"/>
          </p:cNvSpPr>
          <p:nvPr/>
        </p:nvSpPr>
        <p:spPr bwMode="auto">
          <a:xfrm>
            <a:off x="642894" y="1000096"/>
            <a:ext cx="12205356" cy="2019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8113" tIns="69057" rIns="138113" bIns="69057" anchor="b"/>
          <a:lstStyle/>
          <a:p>
            <a:pPr algn="ctr">
              <a:lnSpc>
                <a:spcPct val="100000"/>
              </a:lnSpc>
              <a:buFontTx/>
              <a:buNone/>
              <a:defRPr/>
            </a:pPr>
            <a:r>
              <a:rPr lang="en-US" sz="6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Ter</a:t>
            </a:r>
            <a:r>
              <a:rPr lang="en-US" sz="6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6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Lucro</a:t>
            </a:r>
            <a:r>
              <a:rPr lang="en-US" sz="6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</a:p>
          <a:p>
            <a:pPr algn="ctr">
              <a:lnSpc>
                <a:spcPct val="100000"/>
              </a:lnSpc>
              <a:buFontTx/>
              <a:buNone/>
              <a:defRPr/>
            </a:pPr>
            <a:r>
              <a:rPr lang="en-US" sz="6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é </a:t>
            </a:r>
            <a:r>
              <a:rPr lang="en-US" sz="6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ter</a:t>
            </a:r>
            <a:r>
              <a:rPr lang="en-US" sz="6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6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Dinheiro</a:t>
            </a:r>
            <a:r>
              <a:rPr lang="en-US" sz="6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??!!</a:t>
            </a:r>
            <a:endParaRPr lang="pt-BR" sz="60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28355" name="Rectangle 3"/>
          <p:cNvSpPr>
            <a:spLocks noChangeArrowheads="1"/>
          </p:cNvSpPr>
          <p:nvPr/>
        </p:nvSpPr>
        <p:spPr bwMode="auto">
          <a:xfrm>
            <a:off x="592932" y="3993357"/>
            <a:ext cx="12799218" cy="5470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8113" tIns="69057" rIns="138113" bIns="69057"/>
          <a:lstStyle/>
          <a:p>
            <a:pPr marL="421482" algn="ctr">
              <a:defRPr/>
            </a:pPr>
            <a:r>
              <a:rPr lang="en-US" sz="42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D. R. E.            </a:t>
            </a:r>
            <a:r>
              <a:rPr lang="en-US" sz="4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≠</a:t>
            </a:r>
            <a:r>
              <a:rPr lang="en-US" sz="42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             D. F. C. </a:t>
            </a:r>
          </a:p>
          <a:p>
            <a:pPr marL="421482" algn="ctr">
              <a:defRPr/>
            </a:pPr>
            <a:endParaRPr lang="en-US" sz="4200" b="1" u="sng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21482" algn="ctr">
              <a:defRPr/>
            </a:pPr>
            <a:r>
              <a:rPr lang="en-US" sz="42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COMPETÊNCIA</a:t>
            </a:r>
            <a:r>
              <a:rPr lang="en-US" sz="4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    </a:t>
            </a:r>
            <a:r>
              <a:rPr lang="en-US" sz="4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≠</a:t>
            </a:r>
            <a:r>
              <a:rPr lang="en-US" sz="4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       </a:t>
            </a:r>
            <a:r>
              <a:rPr lang="en-US" sz="42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FINANCEIRO</a:t>
            </a:r>
            <a:r>
              <a:rPr lang="en-US" sz="42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 marL="421482" algn="ctr">
              <a:defRPr/>
            </a:pPr>
            <a:endParaRPr lang="en-US" sz="42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21482" algn="ctr">
              <a:defRPr/>
            </a:pPr>
            <a:r>
              <a:rPr lang="en-US" sz="4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GANHAR             ≠             RECEBER</a:t>
            </a:r>
          </a:p>
          <a:p>
            <a:pPr marL="421482" algn="ctr">
              <a:defRPr/>
            </a:pPr>
            <a:endParaRPr lang="en-US" sz="42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21482" algn="ctr">
              <a:defRPr/>
            </a:pPr>
            <a:r>
              <a:rPr lang="en-US" sz="4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GASTAR             ≠               PAGAR</a:t>
            </a:r>
          </a:p>
          <a:p>
            <a:pPr marL="421482" algn="just">
              <a:defRPr/>
            </a:pPr>
            <a:endParaRPr lang="en-US" sz="4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A7F8F2B3-7BF7-6906-EFF8-5BD7D38918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550" y="715995"/>
          <a:ext cx="1617922" cy="2303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3848100" imgH="5478463" progId="">
                  <p:embed/>
                </p:oleObj>
              </mc:Choice>
              <mc:Fallback>
                <p:oleObj name="Clip" r:id="rId2" imgW="3848100" imgH="5478463" progId="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A7F8F2B3-7BF7-6906-EFF8-5BD7D38918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550" y="715995"/>
                        <a:ext cx="1617922" cy="23031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22933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28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5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ChangeArrowheads="1"/>
          </p:cNvSpPr>
          <p:nvPr/>
        </p:nvSpPr>
        <p:spPr bwMode="auto">
          <a:xfrm>
            <a:off x="510918" y="390972"/>
            <a:ext cx="12205356" cy="2019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8113" tIns="69057" rIns="138113" bIns="69057" anchor="b"/>
          <a:lstStyle/>
          <a:p>
            <a:pPr algn="ctr">
              <a:lnSpc>
                <a:spcPct val="100000"/>
              </a:lnSpc>
              <a:buFontTx/>
              <a:buNone/>
              <a:defRPr/>
            </a:pPr>
            <a:r>
              <a:rPr lang="en-US" sz="6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Ter</a:t>
            </a:r>
            <a:r>
              <a:rPr lang="en-US" sz="6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6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Lucro</a:t>
            </a:r>
            <a:r>
              <a:rPr lang="en-US" sz="6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</a:p>
          <a:p>
            <a:pPr algn="ctr">
              <a:lnSpc>
                <a:spcPct val="100000"/>
              </a:lnSpc>
              <a:buFontTx/>
              <a:buNone/>
              <a:defRPr/>
            </a:pPr>
            <a:r>
              <a:rPr lang="en-US" sz="6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é </a:t>
            </a:r>
            <a:r>
              <a:rPr lang="en-US" sz="6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ter</a:t>
            </a:r>
            <a:r>
              <a:rPr lang="en-US" sz="6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6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Dinheiro</a:t>
            </a:r>
            <a:r>
              <a:rPr lang="en-US" sz="6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??!!</a:t>
            </a:r>
            <a:endParaRPr lang="pt-BR" sz="60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28355" name="Rectangle 3"/>
          <p:cNvSpPr>
            <a:spLocks noChangeArrowheads="1"/>
          </p:cNvSpPr>
          <p:nvPr/>
        </p:nvSpPr>
        <p:spPr bwMode="auto">
          <a:xfrm>
            <a:off x="214266" y="2410011"/>
            <a:ext cx="12764876" cy="35255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38113" tIns="69057" rIns="138113" bIns="69057"/>
          <a:lstStyle/>
          <a:p>
            <a:pPr marL="421482" algn="ctr">
              <a:defRPr/>
            </a:pPr>
            <a:endParaRPr lang="en-US" sz="36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21482" algn="ctr">
              <a:defRPr/>
            </a:pPr>
            <a:r>
              <a:rPr lang="en-US" sz="3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Demonstração</a:t>
            </a: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do </a:t>
            </a:r>
            <a:r>
              <a:rPr lang="en-US" sz="3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Resultado</a:t>
            </a: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do </a:t>
            </a:r>
            <a:r>
              <a:rPr lang="en-US" sz="3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Exercício</a:t>
            </a:r>
            <a:endParaRPr lang="en-US" sz="36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21482">
              <a:defRPr/>
            </a:pPr>
            <a:endParaRPr lang="en-US" sz="36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21482">
              <a:defRPr/>
            </a:pPr>
            <a:r>
              <a:rPr lang="en-US" sz="3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Receitas</a:t>
            </a: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.…………………..…… $1.000</a:t>
            </a:r>
          </a:p>
          <a:p>
            <a:pPr marL="421482">
              <a:defRPr/>
            </a:pP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(-) Custos e </a:t>
            </a:r>
            <a:r>
              <a:rPr lang="en-US" sz="3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Despesas</a:t>
            </a: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……… ($800)</a:t>
            </a:r>
          </a:p>
          <a:p>
            <a:pPr marL="421482">
              <a:defRPr/>
            </a:pP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= </a:t>
            </a:r>
            <a:r>
              <a:rPr lang="en-US" sz="3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Lucro</a:t>
            </a: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……………………….....  $200</a:t>
            </a:r>
          </a:p>
          <a:p>
            <a:pPr marL="421482">
              <a:defRPr/>
            </a:pPr>
            <a:endParaRPr lang="en-US" sz="36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21482">
              <a:defRPr/>
            </a:pPr>
            <a:endParaRPr lang="en-US" sz="36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21482" algn="just">
              <a:defRPr/>
            </a:pPr>
            <a:endParaRPr lang="en-US" sz="4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E3D67AD-2474-1325-FF7F-9616919E9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82" y="6079604"/>
            <a:ext cx="12798660" cy="35255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38113" tIns="69057" rIns="138113" bIns="69057"/>
          <a:lstStyle/>
          <a:p>
            <a:pPr marL="421482">
              <a:defRPr/>
            </a:pPr>
            <a:endParaRPr lang="en-US" sz="36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21482" algn="ctr">
              <a:defRPr/>
            </a:pPr>
            <a:r>
              <a:rPr lang="en-US" sz="3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Demonstração</a:t>
            </a: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do </a:t>
            </a:r>
            <a:r>
              <a:rPr lang="en-US" sz="3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Fluxo</a:t>
            </a: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de Caixa</a:t>
            </a:r>
          </a:p>
          <a:p>
            <a:pPr marL="421482">
              <a:defRPr/>
            </a:pPr>
            <a:endParaRPr lang="en-US" sz="36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21482">
              <a:defRPr/>
            </a:pPr>
            <a:r>
              <a:rPr lang="en-US" sz="3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Recebimentos</a:t>
            </a: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à vista de 17%..……… $170 </a:t>
            </a:r>
          </a:p>
          <a:p>
            <a:pPr marL="421482">
              <a:defRPr/>
            </a:pP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(-) </a:t>
            </a:r>
            <a:r>
              <a:rPr lang="en-US" sz="3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Pagamentos</a:t>
            </a: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à vista de 20%...…. ($160) </a:t>
            </a:r>
          </a:p>
          <a:p>
            <a:pPr marL="421482">
              <a:defRPr/>
            </a:pP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= </a:t>
            </a:r>
            <a:r>
              <a:rPr lang="en-US" sz="3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Saldo</a:t>
            </a: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em</a:t>
            </a: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Caixa…….……………….....  $10</a:t>
            </a:r>
          </a:p>
          <a:p>
            <a:pPr marL="421482">
              <a:defRPr/>
            </a:pPr>
            <a:endParaRPr lang="en-US" sz="36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21482">
              <a:defRPr/>
            </a:pPr>
            <a:endParaRPr lang="en-US" sz="36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21482" algn="just">
              <a:defRPr/>
            </a:pPr>
            <a:endParaRPr lang="en-US" sz="4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6359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28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5" grpId="0" build="p" autoUpdateAnimBg="0"/>
      <p:bldP spid="3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Tabela 3"/>
          <p:cNvGraphicFramePr>
            <a:graphicFrameLocks noGrp="1"/>
          </p:cNvGraphicFramePr>
          <p:nvPr>
            <p:ph type="tbl" idx="1"/>
          </p:nvPr>
        </p:nvGraphicFramePr>
        <p:xfrm>
          <a:off x="357142" y="3571862"/>
          <a:ext cx="12573088" cy="3786216"/>
        </p:xfrm>
        <a:graphic>
          <a:graphicData uri="http://schemas.openxmlformats.org/drawingml/2006/table">
            <a:tbl>
              <a:tblPr/>
              <a:tblGrid>
                <a:gridCol w="2004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5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8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8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1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22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662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6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3277"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 dirty="0">
                          <a:latin typeface="Arial"/>
                          <a:ea typeface="Calibri"/>
                        </a:rPr>
                        <a:t>COMPETÊNCIA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latin typeface="Arial"/>
                          <a:ea typeface="Calibri"/>
                        </a:rPr>
                        <a:t>À vista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 dirty="0">
                          <a:latin typeface="Arial"/>
                          <a:ea typeface="Calibri"/>
                        </a:rPr>
                        <a:t>CAIXA = à vista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 dirty="0">
                          <a:latin typeface="Arial"/>
                          <a:ea typeface="Calibri"/>
                        </a:rPr>
                        <a:t>Fluxo Projetado = a prazo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2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latin typeface="Arial"/>
                          <a:ea typeface="Calibri"/>
                        </a:rPr>
                        <a:t>Ganhar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latin typeface="Arial"/>
                          <a:ea typeface="Calibri"/>
                        </a:rPr>
                        <a:t>Executar, NF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latin typeface="Arial"/>
                          <a:ea typeface="Calibri"/>
                        </a:rPr>
                        <a:t>$1.000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 dirty="0">
                          <a:latin typeface="Arial"/>
                          <a:ea typeface="Calibri"/>
                        </a:rPr>
                        <a:t>17%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latin typeface="Arial"/>
                          <a:ea typeface="Calibri"/>
                        </a:rPr>
                        <a:t>Receber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latin typeface="Arial"/>
                          <a:ea typeface="Calibri"/>
                        </a:rPr>
                        <a:t>$170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latin typeface="Arial"/>
                          <a:ea typeface="Calibri"/>
                        </a:rPr>
                        <a:t>a Receber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latin typeface="Arial"/>
                          <a:ea typeface="Calibri"/>
                        </a:rPr>
                        <a:t>$830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2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latin typeface="Arial"/>
                          <a:ea typeface="Calibri"/>
                        </a:rPr>
                        <a:t>(-) Gastar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latin typeface="Arial"/>
                          <a:ea typeface="Calibri"/>
                        </a:rPr>
                        <a:t>Consumir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latin typeface="Arial"/>
                          <a:ea typeface="Calibri"/>
                        </a:rPr>
                        <a:t>($800)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latin typeface="Arial"/>
                          <a:ea typeface="Calibri"/>
                        </a:rPr>
                        <a:t>20%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latin typeface="Arial"/>
                          <a:ea typeface="Calibri"/>
                        </a:rPr>
                        <a:t>(-) Pagar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latin typeface="Arial"/>
                          <a:ea typeface="Calibri"/>
                        </a:rPr>
                        <a:t>($160)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latin typeface="Arial"/>
                          <a:ea typeface="Calibri"/>
                        </a:rPr>
                        <a:t>(-) a Pagar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latin typeface="Arial"/>
                          <a:ea typeface="Calibri"/>
                        </a:rPr>
                        <a:t>($640)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65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800" b="1">
                        <a:latin typeface="Arial"/>
                        <a:ea typeface="Calibri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latin typeface="Arial"/>
                          <a:ea typeface="Calibri"/>
                        </a:rPr>
                        <a:t>= Lucro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800" b="1">
                        <a:latin typeface="Arial"/>
                        <a:ea typeface="Calibri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latin typeface="Arial"/>
                          <a:ea typeface="Calibri"/>
                        </a:rPr>
                        <a:t>Resultado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800" b="1">
                        <a:latin typeface="Arial"/>
                        <a:ea typeface="Calibri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latin typeface="Arial"/>
                          <a:ea typeface="Calibri"/>
                        </a:rPr>
                        <a:t>$200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800" b="1" dirty="0">
                        <a:solidFill>
                          <a:srgbClr val="FFFFFF"/>
                        </a:solidFill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800" b="1">
                        <a:solidFill>
                          <a:srgbClr val="FF0000"/>
                        </a:solidFill>
                        <a:latin typeface="Arial"/>
                        <a:ea typeface="Calibri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FF0000"/>
                          </a:solidFill>
                          <a:latin typeface="Arial"/>
                          <a:ea typeface="Calibri"/>
                        </a:rPr>
                        <a:t>= Saldo em Caixa</a:t>
                      </a:r>
                      <a:endParaRPr lang="pt-BR" sz="1800" b="1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800" b="1">
                        <a:solidFill>
                          <a:srgbClr val="FF0000"/>
                        </a:solidFill>
                        <a:latin typeface="Arial"/>
                        <a:ea typeface="Calibri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FF0000"/>
                          </a:solidFill>
                          <a:latin typeface="Arial"/>
                          <a:ea typeface="Calibri"/>
                        </a:rPr>
                        <a:t>$10</a:t>
                      </a:r>
                      <a:endParaRPr lang="pt-BR" sz="1800" b="1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800" b="1">
                        <a:solidFill>
                          <a:srgbClr val="0B9CE5"/>
                        </a:solidFill>
                        <a:latin typeface="Arial"/>
                        <a:ea typeface="Calibri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0B9CE5"/>
                          </a:solidFill>
                          <a:latin typeface="Arial"/>
                          <a:ea typeface="Calibri"/>
                        </a:rPr>
                        <a:t>= a Receber Líquido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800" b="1" dirty="0">
                        <a:solidFill>
                          <a:srgbClr val="0B9CE5"/>
                        </a:solidFill>
                        <a:latin typeface="Arial"/>
                        <a:ea typeface="Calibri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 dirty="0">
                          <a:solidFill>
                            <a:srgbClr val="0B9CE5"/>
                          </a:solidFill>
                          <a:latin typeface="Arial"/>
                          <a:ea typeface="Calibri"/>
                        </a:rPr>
                        <a:t>$190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2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chemeClr val="tx1"/>
                          </a:solidFill>
                          <a:latin typeface="Arial"/>
                          <a:ea typeface="Calibri"/>
                        </a:rPr>
                        <a:t>Lucro Contábil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chemeClr val="tx1"/>
                          </a:solidFill>
                          <a:latin typeface="Arial"/>
                          <a:ea typeface="Calibri"/>
                        </a:rPr>
                        <a:t>Por Competência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 dirty="0">
                          <a:solidFill>
                            <a:schemeClr val="tx1"/>
                          </a:solidFill>
                          <a:latin typeface="Arial"/>
                          <a:ea typeface="Calibri"/>
                        </a:rPr>
                        <a:t>$200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 dirty="0">
                          <a:latin typeface="Arial"/>
                          <a:ea typeface="Calibri"/>
                        </a:rPr>
                        <a:t>= 100%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800" b="1">
                        <a:solidFill>
                          <a:srgbClr val="FF0000"/>
                        </a:solidFill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800" b="1">
                        <a:solidFill>
                          <a:srgbClr val="FF0000"/>
                        </a:solidFill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800" b="1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800" b="1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2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FF0000"/>
                          </a:solidFill>
                          <a:latin typeface="Arial"/>
                          <a:ea typeface="Calibri"/>
                        </a:rPr>
                        <a:t>Lucro Financeiro</a:t>
                      </a:r>
                      <a:endParaRPr lang="pt-BR" sz="1800" b="1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FF0000"/>
                          </a:solidFill>
                          <a:latin typeface="Arial"/>
                          <a:ea typeface="Calibri"/>
                        </a:rPr>
                        <a:t>Operações a vista</a:t>
                      </a:r>
                      <a:endParaRPr lang="pt-BR" sz="1800" b="1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 dirty="0">
                          <a:solidFill>
                            <a:srgbClr val="FF0000"/>
                          </a:solidFill>
                          <a:latin typeface="Arial"/>
                          <a:ea typeface="Calibri"/>
                        </a:rPr>
                        <a:t>$10</a:t>
                      </a:r>
                      <a:endParaRPr lang="pt-BR" sz="1800" b="1" dirty="0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 dirty="0">
                          <a:latin typeface="Arial"/>
                          <a:ea typeface="Calibri"/>
                        </a:rPr>
                        <a:t>=    5%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800" b="1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800" b="1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800" b="1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800" b="1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2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0B9CE5"/>
                          </a:solidFill>
                          <a:latin typeface="Arial"/>
                          <a:ea typeface="Calibri"/>
                        </a:rPr>
                        <a:t>Lucro a Realizar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0B9CE5"/>
                          </a:solidFill>
                          <a:latin typeface="Arial"/>
                          <a:ea typeface="Calibri"/>
                        </a:rPr>
                        <a:t>Operações a prazo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 dirty="0">
                          <a:solidFill>
                            <a:srgbClr val="0B9CE5"/>
                          </a:solidFill>
                          <a:latin typeface="Arial"/>
                          <a:ea typeface="Calibri"/>
                        </a:rPr>
                        <a:t>$190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 dirty="0">
                          <a:latin typeface="Arial"/>
                          <a:ea typeface="Calibri"/>
                        </a:rPr>
                        <a:t>= 95%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800" b="1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800" b="1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800" b="1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800" b="1" dirty="0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6673" name="Rectangle 1"/>
          <p:cNvSpPr>
            <a:spLocks noChangeArrowheads="1"/>
          </p:cNvSpPr>
          <p:nvPr/>
        </p:nvSpPr>
        <p:spPr bwMode="auto">
          <a:xfrm>
            <a:off x="1142960" y="308812"/>
            <a:ext cx="11001452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3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IMPORTANTE: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Pode uma Empresa apresentar Lucro e não ter dinheiro nem para pagar o Imposto de Renda apurado com base nesse Lucro?</a:t>
            </a:r>
            <a:endParaRPr kumimoji="0" 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714332" y="3500426"/>
          <a:ext cx="11715833" cy="4214844"/>
        </p:xfrm>
        <a:graphic>
          <a:graphicData uri="http://schemas.openxmlformats.org/drawingml/2006/table">
            <a:tbl>
              <a:tblPr/>
              <a:tblGrid>
                <a:gridCol w="3652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8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95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13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2474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Arial"/>
                          <a:ea typeface="Calibri"/>
                        </a:rPr>
                        <a:t>Demonstração do Resultado do Exercício – DRE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2000" b="1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Arial"/>
                          <a:ea typeface="Calibri"/>
                        </a:rPr>
                        <a:t>Demonstração do Fluxo de Caixa –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Arial"/>
                          <a:ea typeface="Calibri"/>
                        </a:rPr>
                        <a:t>DFC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4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latin typeface="Arial"/>
                          <a:ea typeface="Calibri"/>
                        </a:rPr>
                        <a:t>Receita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latin typeface="Arial"/>
                          <a:ea typeface="Calibri"/>
                        </a:rPr>
                        <a:t>$1.000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latin typeface="Arial"/>
                          <a:ea typeface="Calibri"/>
                        </a:rPr>
                        <a:t>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latin typeface="Arial"/>
                          <a:ea typeface="Calibri"/>
                        </a:rPr>
                        <a:t>Recebimento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latin typeface="Arial"/>
                          <a:ea typeface="Calibri"/>
                        </a:rPr>
                        <a:t>$170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4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latin typeface="Arial"/>
                          <a:ea typeface="Calibri"/>
                        </a:rPr>
                        <a:t>(-) Gasto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latin typeface="Arial"/>
                          <a:ea typeface="Calibri"/>
                        </a:rPr>
                        <a:t>($800)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latin typeface="Arial"/>
                          <a:ea typeface="Calibri"/>
                        </a:rPr>
                        <a:t>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latin typeface="Arial"/>
                          <a:ea typeface="Calibri"/>
                        </a:rPr>
                        <a:t>(-) Pagamento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latin typeface="Arial"/>
                          <a:ea typeface="Calibri"/>
                        </a:rPr>
                        <a:t>($160)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4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70C0"/>
                          </a:solidFill>
                          <a:latin typeface="Arial"/>
                          <a:ea typeface="Calibri"/>
                        </a:rPr>
                        <a:t>= Lucro Antes do IR (LAIR)</a:t>
                      </a:r>
                      <a:endParaRPr lang="pt-BR" sz="2000" b="1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solidFill>
                            <a:srgbClr val="0070C0"/>
                          </a:solidFill>
                          <a:latin typeface="Arial"/>
                          <a:ea typeface="Calibri"/>
                        </a:rPr>
                        <a:t>$200</a:t>
                      </a:r>
                      <a:endParaRPr lang="pt-BR" sz="2000" b="1" dirty="0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70C0"/>
                          </a:solidFill>
                          <a:latin typeface="Arial"/>
                          <a:ea typeface="Calibri"/>
                        </a:rPr>
                        <a:t>≠</a:t>
                      </a:r>
                      <a:endParaRPr lang="pt-BR" sz="2000" b="1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FF0000"/>
                          </a:solidFill>
                          <a:latin typeface="Arial"/>
                          <a:ea typeface="Calibri"/>
                        </a:rPr>
                        <a:t>= Saldo em Caixa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solidFill>
                            <a:srgbClr val="FF0000"/>
                          </a:solidFill>
                          <a:latin typeface="Arial"/>
                          <a:ea typeface="Calibri"/>
                        </a:rPr>
                        <a:t>$10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4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FF0000"/>
                          </a:solidFill>
                          <a:latin typeface="Arial"/>
                          <a:ea typeface="Calibri"/>
                        </a:rPr>
                        <a:t>(-) IR e CSLL de 30% x LAIR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solidFill>
                            <a:srgbClr val="FF0000"/>
                          </a:solidFill>
                          <a:latin typeface="Arial"/>
                          <a:ea typeface="Calibri"/>
                        </a:rPr>
                        <a:t>($60)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2000" b="1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Arial"/>
                          <a:ea typeface="Calibri"/>
                        </a:rPr>
                        <a:t>(-) IR e CSLL a Pagar</a:t>
                      </a:r>
                      <a:endParaRPr lang="pt-BR" sz="2000" b="1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Arial"/>
                          <a:ea typeface="Calibri"/>
                        </a:rPr>
                        <a:t>($60)</a:t>
                      </a:r>
                      <a:endParaRPr lang="pt-BR" sz="2000" b="1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24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latin typeface="Arial"/>
                          <a:ea typeface="Calibri"/>
                        </a:rPr>
                        <a:t>= Lucro Líquido do Exercício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latin typeface="Arial"/>
                          <a:ea typeface="Calibri"/>
                        </a:rPr>
                        <a:t>$140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2000" b="1">
                        <a:latin typeface="Arial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solidFill>
                            <a:srgbClr val="FF0000"/>
                          </a:solidFill>
                          <a:latin typeface="Arial"/>
                          <a:ea typeface="Calibri"/>
                        </a:rPr>
                        <a:t>= Necessidade de Capital de Giro (NCG)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solidFill>
                            <a:srgbClr val="FF0000"/>
                          </a:solidFill>
                          <a:latin typeface="Arial"/>
                          <a:ea typeface="Calibri"/>
                        </a:rPr>
                        <a:t>($50)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6673" name="Rectangle 1"/>
          <p:cNvSpPr>
            <a:spLocks noChangeArrowheads="1"/>
          </p:cNvSpPr>
          <p:nvPr/>
        </p:nvSpPr>
        <p:spPr bwMode="auto">
          <a:xfrm>
            <a:off x="1142960" y="555033"/>
            <a:ext cx="11001452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3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IMPORTANTE: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Pode uma Empresa apresentar Lucro e não ter dinheiro nem para pagar o Imposto de Renda apurado com base nesse Lucro?</a:t>
            </a:r>
            <a:endParaRPr kumimoji="0" 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5" name="Rectangle 3"/>
          <p:cNvSpPr>
            <a:spLocks noChangeArrowheads="1"/>
          </p:cNvSpPr>
          <p:nvPr/>
        </p:nvSpPr>
        <p:spPr bwMode="auto">
          <a:xfrm>
            <a:off x="571456" y="2643170"/>
            <a:ext cx="12537369" cy="7286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8113" tIns="69057" rIns="138113" bIns="69057"/>
          <a:lstStyle/>
          <a:p>
            <a:pPr marL="421482" algn="just">
              <a:defRPr/>
            </a:pPr>
            <a:r>
              <a:rPr lang="en-US" sz="3200" b="1" u="sng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Demonstração</a:t>
            </a:r>
            <a:r>
              <a:rPr lang="en-US" sz="32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3200" b="1" u="sng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Fluxo</a:t>
            </a:r>
            <a:r>
              <a:rPr lang="en-US" sz="32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3200" b="1" u="sng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Caixa</a:t>
            </a:r>
            <a:endParaRPr lang="pt-BR" sz="3200" b="1" u="sng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14425" lvl="1" indent="-428625" algn="just">
              <a:defRPr/>
            </a:pPr>
            <a:endParaRPr lang="en-US" sz="32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14425" lvl="1" indent="-1025525" algn="just">
              <a:defRPr/>
            </a:pPr>
            <a:r>
              <a:rPr lang="en-US" sz="32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Ingresso</a:t>
            </a:r>
            <a:r>
              <a:rPr lang="en-US" sz="3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32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pode</a:t>
            </a:r>
            <a:r>
              <a:rPr lang="en-US" sz="3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ser por</a:t>
            </a: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: </a:t>
            </a:r>
            <a:r>
              <a:rPr lang="en-US" sz="32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700+2.000+300 = 3.000</a:t>
            </a:r>
          </a:p>
          <a:p>
            <a:pPr marL="1257300" lvl="2" indent="-266700" algn="just">
              <a:buFont typeface="Wingdings" pitchFamily="2" charset="2"/>
              <a:buChar char="ü"/>
              <a:defRPr/>
            </a:pP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3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Recebimento</a:t>
            </a: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3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 RECEITA…………. </a:t>
            </a:r>
            <a:r>
              <a:rPr lang="en-US" sz="3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$700</a:t>
            </a:r>
          </a:p>
          <a:p>
            <a:pPr marL="1257300" lvl="2" indent="-266700" algn="just">
              <a:buFont typeface="Wingdings" pitchFamily="2" charset="2"/>
              <a:buChar char="ü"/>
              <a:defRPr/>
            </a:pP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3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Recebimento</a:t>
            </a: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 de um ATIVO (</a:t>
            </a:r>
            <a:r>
              <a:rPr lang="en-US" sz="3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Direito</a:t>
            </a: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)… </a:t>
            </a:r>
            <a:r>
              <a:rPr lang="en-US" sz="3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$2.000</a:t>
            </a:r>
          </a:p>
          <a:p>
            <a:pPr marL="1257300" lvl="2" indent="-266700" algn="just">
              <a:buFont typeface="Wingdings" pitchFamily="2" charset="2"/>
              <a:buChar char="ü"/>
              <a:defRPr/>
            </a:pP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3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Empréstimo</a:t>
            </a: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3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Contraído</a:t>
            </a: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 (</a:t>
            </a:r>
            <a:r>
              <a:rPr lang="en-US" sz="3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Passivo</a:t>
            </a: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)………. </a:t>
            </a:r>
            <a:r>
              <a:rPr lang="en-US" sz="3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$300</a:t>
            </a:r>
          </a:p>
          <a:p>
            <a:pPr marL="1114425" lvl="1" indent="-428625" algn="just">
              <a:defRPr/>
            </a:pPr>
            <a:endParaRPr lang="en-US" sz="32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14425" lvl="1" indent="-1025525" algn="just">
              <a:defRPr/>
            </a:pPr>
            <a:r>
              <a:rPr lang="en-US" sz="32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Desembolso</a:t>
            </a:r>
            <a:r>
              <a:rPr lang="en-US" sz="3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32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pode</a:t>
            </a:r>
            <a:r>
              <a:rPr lang="en-US" sz="3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ser para</a:t>
            </a: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: </a:t>
            </a:r>
            <a:r>
              <a:rPr lang="en-US" sz="32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450+1.500+150 = 2.100</a:t>
            </a:r>
          </a:p>
          <a:p>
            <a:pPr marL="1524000" lvl="2" indent="-533400" algn="just">
              <a:buFont typeface="Wingdings" pitchFamily="2" charset="2"/>
              <a:buChar char="ü"/>
              <a:defRPr/>
            </a:pP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3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Pagar</a:t>
            </a: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3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 DESPESA……………………… </a:t>
            </a:r>
            <a:r>
              <a:rPr lang="en-US" sz="3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$450</a:t>
            </a:r>
          </a:p>
          <a:p>
            <a:pPr marL="1524000" lvl="2" indent="-533400" algn="just">
              <a:buFont typeface="Wingdings" pitchFamily="2" charset="2"/>
              <a:buChar char="ü"/>
              <a:defRPr/>
            </a:pP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3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Comprar</a:t>
            </a: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 um ATIVO (</a:t>
            </a:r>
            <a:r>
              <a:rPr lang="en-US" sz="3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Bem</a:t>
            </a: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)……………. </a:t>
            </a:r>
            <a:r>
              <a:rPr lang="en-US" sz="3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$1.500</a:t>
            </a:r>
          </a:p>
          <a:p>
            <a:pPr marL="1524000" lvl="2" indent="-533400" algn="just">
              <a:buFont typeface="Wingdings" pitchFamily="2" charset="2"/>
              <a:buChar char="ü"/>
              <a:defRPr/>
            </a:pP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3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Pagar</a:t>
            </a: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 um PASSIVO (</a:t>
            </a:r>
            <a:r>
              <a:rPr lang="en-US" sz="3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Dívida</a:t>
            </a: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)…….…… </a:t>
            </a:r>
            <a:r>
              <a:rPr lang="en-US" sz="3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$150</a:t>
            </a:r>
          </a:p>
          <a:p>
            <a:pPr marL="1524000" lvl="2" indent="-533400" algn="just">
              <a:buFont typeface="Wingdings" pitchFamily="2" charset="2"/>
              <a:buChar char="ü"/>
              <a:defRPr/>
            </a:pPr>
            <a:endParaRPr lang="en-US" sz="32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990600" lvl="2" algn="ctr">
              <a:defRPr/>
            </a:pPr>
            <a:r>
              <a:rPr lang="en-US" sz="4000" b="1" u="sng" dirty="0" err="1">
                <a:solidFill>
                  <a:srgbClr val="105B9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Quais</a:t>
            </a:r>
            <a:r>
              <a:rPr lang="en-US" sz="4000" b="1" u="sng" dirty="0">
                <a:solidFill>
                  <a:srgbClr val="105B9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4000" b="1" u="sng" dirty="0" err="1">
                <a:solidFill>
                  <a:srgbClr val="105B9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os</a:t>
            </a:r>
            <a:r>
              <a:rPr lang="en-US" sz="4000" b="1" u="sng" dirty="0">
                <a:solidFill>
                  <a:srgbClr val="105B9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4000" b="1" u="sng" dirty="0" err="1">
                <a:solidFill>
                  <a:srgbClr val="105B9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saldos</a:t>
            </a:r>
            <a:r>
              <a:rPr lang="en-US" sz="4000" b="1" u="sng" dirty="0">
                <a:solidFill>
                  <a:srgbClr val="105B9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4000" b="1" u="sng" dirty="0" err="1">
                <a:solidFill>
                  <a:srgbClr val="105B9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Caixa</a:t>
            </a:r>
            <a:r>
              <a:rPr lang="en-US" sz="4000" b="1" u="sng" dirty="0">
                <a:solidFill>
                  <a:srgbClr val="105B9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e de </a:t>
            </a:r>
            <a:r>
              <a:rPr lang="en-US" sz="4000" b="1" u="sng" dirty="0" err="1">
                <a:solidFill>
                  <a:srgbClr val="105B9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Lucro</a:t>
            </a:r>
            <a:r>
              <a:rPr lang="en-US" sz="4000" b="1" u="sng" dirty="0">
                <a:solidFill>
                  <a:srgbClr val="105B9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</a:p>
          <a:p>
            <a:pPr marL="990600" lvl="2" algn="ctr">
              <a:defRPr/>
            </a:pPr>
            <a:r>
              <a:rPr lang="en-US" sz="4000" b="1" u="sng" dirty="0" err="1">
                <a:solidFill>
                  <a:srgbClr val="105B9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Caixa</a:t>
            </a:r>
            <a:r>
              <a:rPr lang="en-US" sz="4000" b="1" u="sng" dirty="0">
                <a:solidFill>
                  <a:srgbClr val="105B9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=         e   </a:t>
            </a:r>
            <a:r>
              <a:rPr lang="en-US" sz="4000" b="1" u="sng" dirty="0" err="1">
                <a:solidFill>
                  <a:srgbClr val="105B9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Lucro</a:t>
            </a:r>
            <a:r>
              <a:rPr lang="en-US" sz="4000" b="1" u="sng" dirty="0">
                <a:solidFill>
                  <a:srgbClr val="105B9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=    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00018" y="214278"/>
            <a:ext cx="12205356" cy="2019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8113" tIns="69057" rIns="138113" bIns="69057" anchor="b"/>
          <a:lstStyle/>
          <a:p>
            <a:pPr algn="ctr">
              <a:lnSpc>
                <a:spcPct val="100000"/>
              </a:lnSpc>
              <a:buFontTx/>
              <a:buNone/>
              <a:defRPr/>
            </a:pPr>
            <a:r>
              <a:rPr lang="en-US" sz="5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Ter</a:t>
            </a:r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5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Lucro</a:t>
            </a:r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</a:p>
          <a:p>
            <a:pPr algn="ctr">
              <a:lnSpc>
                <a:spcPct val="100000"/>
              </a:lnSpc>
              <a:buFontTx/>
              <a:buNone/>
              <a:defRPr/>
            </a:pPr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é </a:t>
            </a:r>
            <a:r>
              <a:rPr lang="en-US" sz="5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ter</a:t>
            </a:r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5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Dinheiro</a:t>
            </a:r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??!!</a:t>
            </a:r>
            <a:endParaRPr lang="pt-BR" sz="54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0664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228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28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3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228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8" dur="1" fill="hold"/>
                                        <p:tgtEl>
                                          <p:spTgt spid="228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228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2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" dur="1" fill="hold"/>
                                        <p:tgtEl>
                                          <p:spTgt spid="2283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2283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5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161256" y="2578889"/>
            <a:ext cx="8424936" cy="170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8113" tIns="69057" rIns="138113" bIns="69057" anchor="b"/>
          <a:lstStyle/>
          <a:p>
            <a:pPr algn="ctr">
              <a:lnSpc>
                <a:spcPct val="100000"/>
              </a:lnSpc>
              <a:buFontTx/>
              <a:buNone/>
            </a:pPr>
            <a:r>
              <a:rPr lang="pt-B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Print" pitchFamily="2" charset="0"/>
              </a:rPr>
              <a:t>FINALIDADE PRINCIPAL:</a:t>
            </a:r>
          </a:p>
          <a:p>
            <a:pPr algn="ctr">
              <a:lnSpc>
                <a:spcPct val="100000"/>
              </a:lnSpc>
              <a:buFontTx/>
              <a:buNone/>
            </a:pPr>
            <a:endParaRPr lang="pt-BR" sz="4800" b="1" dirty="0">
              <a:latin typeface="Segoe Print" pitchFamily="2" charset="0"/>
            </a:endParaRPr>
          </a:p>
          <a:p>
            <a:pPr algn="ctr">
              <a:lnSpc>
                <a:spcPct val="100000"/>
              </a:lnSpc>
              <a:buFontTx/>
              <a:buNone/>
            </a:pPr>
            <a:r>
              <a:rPr lang="pt-BR" sz="4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Print" pitchFamily="2" charset="0"/>
              </a:rPr>
              <a:t>PRESTAR INFORMAÇÕES</a:t>
            </a:r>
            <a:endParaRPr lang="pt-BR" sz="5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Print" pitchFamily="2" charset="0"/>
            </a:endParaRPr>
          </a:p>
        </p:txBody>
      </p:sp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2683670" y="4993482"/>
            <a:ext cx="2014091" cy="1616868"/>
          </a:xfrm>
          <a:prstGeom prst="roundRect">
            <a:avLst>
              <a:gd name="adj" fmla="val 24801"/>
            </a:avLst>
          </a:prstGeom>
          <a:solidFill>
            <a:schemeClr val="bg1"/>
          </a:solidFill>
          <a:ln w="12699">
            <a:solidFill>
              <a:srgbClr val="000000"/>
            </a:solidFill>
            <a:round/>
            <a:headEnd/>
            <a:tailEnd/>
          </a:ln>
        </p:spPr>
        <p:txBody>
          <a:bodyPr wrap="none" lIns="137160" tIns="68580" rIns="137160" bIns="68580" anchor="ctr"/>
          <a:lstStyle/>
          <a:p>
            <a:endParaRPr lang="pt-BR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2862263" y="5160170"/>
            <a:ext cx="1769715" cy="462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8113" tIns="69057" rIns="138113" bIns="69057">
            <a:spAutoFit/>
          </a:bodyPr>
          <a:lstStyle/>
          <a:p>
            <a:pPr defTabSz="1143000"/>
            <a:r>
              <a:rPr lang="pt-BR" sz="21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Organizar</a:t>
            </a: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3019425" y="5562601"/>
            <a:ext cx="1365759" cy="462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8113" tIns="69057" rIns="138113" bIns="69057">
            <a:spAutoFit/>
          </a:bodyPr>
          <a:lstStyle/>
          <a:p>
            <a:pPr defTabSz="1143000"/>
            <a:r>
              <a:rPr lang="pt-BR" sz="21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Coletar</a:t>
            </a: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2836070" y="5972176"/>
            <a:ext cx="1832232" cy="462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8113" tIns="69057" rIns="138113" bIns="69057">
            <a:spAutoFit/>
          </a:bodyPr>
          <a:lstStyle/>
          <a:p>
            <a:pPr defTabSz="1143000"/>
            <a:r>
              <a:rPr lang="pt-BR" sz="21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Classificar</a:t>
            </a:r>
          </a:p>
        </p:txBody>
      </p:sp>
      <p:sp>
        <p:nvSpPr>
          <p:cNvPr id="13319" name="AutoShape 7"/>
          <p:cNvSpPr>
            <a:spLocks noChangeArrowheads="1"/>
          </p:cNvSpPr>
          <p:nvPr/>
        </p:nvSpPr>
        <p:spPr bwMode="auto">
          <a:xfrm>
            <a:off x="5328383" y="5241132"/>
            <a:ext cx="1853654" cy="1435893"/>
          </a:xfrm>
          <a:prstGeom prst="roundRect">
            <a:avLst>
              <a:gd name="adj" fmla="val 24884"/>
            </a:avLst>
          </a:prstGeom>
          <a:solidFill>
            <a:schemeClr val="bg1"/>
          </a:solidFill>
          <a:ln w="12699">
            <a:solidFill>
              <a:srgbClr val="000000"/>
            </a:solidFill>
            <a:round/>
            <a:headEnd/>
            <a:tailEnd/>
          </a:ln>
        </p:spPr>
        <p:txBody>
          <a:bodyPr wrap="none" lIns="137160" tIns="68580" rIns="137160" bIns="68580" anchor="ctr"/>
          <a:lstStyle/>
          <a:p>
            <a:endParaRPr lang="pt-BR"/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5345832" y="5550695"/>
            <a:ext cx="1678344" cy="462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8113" tIns="69057" rIns="138113" bIns="69057">
            <a:spAutoFit/>
          </a:bodyPr>
          <a:lstStyle/>
          <a:p>
            <a:pPr defTabSz="1143000"/>
            <a:r>
              <a:rPr lang="pt-BR" sz="21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Registrar</a:t>
            </a:r>
          </a:p>
        </p:txBody>
      </p:sp>
      <p:sp>
        <p:nvSpPr>
          <p:cNvPr id="13321" name="Rectangle 10"/>
          <p:cNvSpPr>
            <a:spLocks noChangeArrowheads="1"/>
          </p:cNvSpPr>
          <p:nvPr/>
        </p:nvSpPr>
        <p:spPr bwMode="auto">
          <a:xfrm>
            <a:off x="5345833" y="5900738"/>
            <a:ext cx="1598996" cy="462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8113" tIns="69057" rIns="138113" bIns="69057">
            <a:spAutoFit/>
          </a:bodyPr>
          <a:lstStyle/>
          <a:p>
            <a:pPr defTabSz="1143000"/>
            <a:r>
              <a:rPr lang="pt-BR" sz="21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Conciliar</a:t>
            </a:r>
          </a:p>
        </p:txBody>
      </p:sp>
      <p:sp>
        <p:nvSpPr>
          <p:cNvPr id="13322" name="AutoShape 11"/>
          <p:cNvSpPr>
            <a:spLocks noChangeArrowheads="1"/>
          </p:cNvSpPr>
          <p:nvPr/>
        </p:nvSpPr>
        <p:spPr bwMode="auto">
          <a:xfrm>
            <a:off x="7817645" y="4695826"/>
            <a:ext cx="4548968" cy="2528888"/>
          </a:xfrm>
          <a:prstGeom prst="roundRect">
            <a:avLst>
              <a:gd name="adj" fmla="val 24870"/>
            </a:avLst>
          </a:prstGeom>
          <a:solidFill>
            <a:schemeClr val="bg1"/>
          </a:solidFill>
          <a:ln w="12699">
            <a:solidFill>
              <a:srgbClr val="000000"/>
            </a:solidFill>
            <a:round/>
            <a:headEnd/>
            <a:tailEnd/>
          </a:ln>
        </p:spPr>
        <p:txBody>
          <a:bodyPr wrap="none" lIns="137160" tIns="68580" rIns="137160" bIns="68580" anchor="ctr"/>
          <a:lstStyle/>
          <a:p>
            <a:endParaRPr lang="pt-BR"/>
          </a:p>
        </p:txBody>
      </p:sp>
      <p:sp>
        <p:nvSpPr>
          <p:cNvPr id="13323" name="Rectangle 12"/>
          <p:cNvSpPr>
            <a:spLocks noChangeArrowheads="1"/>
          </p:cNvSpPr>
          <p:nvPr/>
        </p:nvSpPr>
        <p:spPr bwMode="auto">
          <a:xfrm>
            <a:off x="7791451" y="5200650"/>
            <a:ext cx="4209487" cy="785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8113" tIns="69057" rIns="138113" bIns="69057">
            <a:spAutoFit/>
          </a:bodyPr>
          <a:lstStyle/>
          <a:p>
            <a:pPr defTabSz="1143000"/>
            <a:r>
              <a:rPr lang="pt-BR" sz="21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Demonstrações Contábeis</a:t>
            </a:r>
          </a:p>
          <a:p>
            <a:pPr defTabSz="1143000"/>
            <a:r>
              <a:rPr lang="en-US" sz="21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(Lei 11.638/07)</a:t>
            </a:r>
            <a:endParaRPr lang="pt-BR" sz="2100" b="1" dirty="0">
              <a:solidFill>
                <a:srgbClr val="00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324" name="Rectangle 13"/>
          <p:cNvSpPr>
            <a:spLocks noChangeArrowheads="1"/>
          </p:cNvSpPr>
          <p:nvPr/>
        </p:nvSpPr>
        <p:spPr bwMode="auto">
          <a:xfrm>
            <a:off x="7791451" y="6010275"/>
            <a:ext cx="4520469" cy="785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8113" tIns="69057" rIns="138113" bIns="69057">
            <a:spAutoFit/>
          </a:bodyPr>
          <a:lstStyle/>
          <a:p>
            <a:pPr defTabSz="1143000"/>
            <a:r>
              <a:rPr lang="pt-BR" sz="21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Relatórios Financeiros</a:t>
            </a:r>
          </a:p>
          <a:p>
            <a:pPr defTabSz="1143000"/>
            <a:r>
              <a:rPr lang="en-US" sz="21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(Atendimento aos usuários)</a:t>
            </a:r>
            <a:endParaRPr lang="pt-BR" sz="2100" b="1" dirty="0">
              <a:solidFill>
                <a:srgbClr val="00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325" name="AutoShape 14"/>
          <p:cNvSpPr>
            <a:spLocks noChangeArrowheads="1"/>
          </p:cNvSpPr>
          <p:nvPr/>
        </p:nvSpPr>
        <p:spPr bwMode="auto">
          <a:xfrm>
            <a:off x="9413082" y="7450934"/>
            <a:ext cx="3517148" cy="2229072"/>
          </a:xfrm>
          <a:prstGeom prst="roundRect">
            <a:avLst>
              <a:gd name="adj" fmla="val 24870"/>
            </a:avLst>
          </a:prstGeom>
          <a:solidFill>
            <a:schemeClr val="bg1"/>
          </a:solidFill>
          <a:ln w="12699">
            <a:solidFill>
              <a:srgbClr val="000000"/>
            </a:solidFill>
            <a:round/>
            <a:headEnd/>
            <a:tailEnd/>
          </a:ln>
        </p:spPr>
        <p:txBody>
          <a:bodyPr wrap="none" lIns="137160" tIns="68580" rIns="137160" bIns="68580" anchor="ctr"/>
          <a:lstStyle/>
          <a:p>
            <a:endParaRPr lang="pt-BR"/>
          </a:p>
        </p:txBody>
      </p:sp>
      <p:sp>
        <p:nvSpPr>
          <p:cNvPr id="13326" name="Rectangle 15"/>
          <p:cNvSpPr>
            <a:spLocks noChangeArrowheads="1"/>
          </p:cNvSpPr>
          <p:nvPr/>
        </p:nvSpPr>
        <p:spPr bwMode="auto">
          <a:xfrm>
            <a:off x="9797839" y="7627777"/>
            <a:ext cx="3109025" cy="462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8113" tIns="69057" rIns="138113" bIns="69057">
            <a:spAutoFit/>
          </a:bodyPr>
          <a:lstStyle/>
          <a:p>
            <a:pPr defTabSz="1143000"/>
            <a:r>
              <a:rPr lang="pt-BR" sz="21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Usuários Internos:</a:t>
            </a:r>
          </a:p>
        </p:txBody>
      </p:sp>
      <p:sp>
        <p:nvSpPr>
          <p:cNvPr id="13327" name="Rectangle 16"/>
          <p:cNvSpPr>
            <a:spLocks noChangeArrowheads="1"/>
          </p:cNvSpPr>
          <p:nvPr/>
        </p:nvSpPr>
        <p:spPr bwMode="auto">
          <a:xfrm>
            <a:off x="9675209" y="8167837"/>
            <a:ext cx="3123452" cy="462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8113" tIns="69057" rIns="138113" bIns="69057">
            <a:spAutoFit/>
          </a:bodyPr>
          <a:lstStyle/>
          <a:p>
            <a:pPr defTabSz="1143000"/>
            <a:r>
              <a:rPr lang="pt-BR" sz="21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Alta administração</a:t>
            </a:r>
          </a:p>
        </p:txBody>
      </p:sp>
      <p:sp>
        <p:nvSpPr>
          <p:cNvPr id="13328" name="Rectangle 17"/>
          <p:cNvSpPr>
            <a:spLocks noChangeArrowheads="1"/>
          </p:cNvSpPr>
          <p:nvPr/>
        </p:nvSpPr>
        <p:spPr bwMode="auto">
          <a:xfrm>
            <a:off x="10431558" y="8599885"/>
            <a:ext cx="1611018" cy="462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8113" tIns="69057" rIns="138113" bIns="69057">
            <a:spAutoFit/>
          </a:bodyPr>
          <a:lstStyle/>
          <a:p>
            <a:pPr defTabSz="1143000"/>
            <a:r>
              <a:rPr lang="pt-BR" sz="21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Gerência</a:t>
            </a:r>
          </a:p>
        </p:txBody>
      </p:sp>
      <p:sp>
        <p:nvSpPr>
          <p:cNvPr id="13329" name="Rectangle 18"/>
          <p:cNvSpPr>
            <a:spLocks noChangeArrowheads="1"/>
          </p:cNvSpPr>
          <p:nvPr/>
        </p:nvSpPr>
        <p:spPr bwMode="auto">
          <a:xfrm>
            <a:off x="10195725" y="9031933"/>
            <a:ext cx="1954863" cy="462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8113" tIns="69057" rIns="138113" bIns="69057">
            <a:spAutoFit/>
          </a:bodyPr>
          <a:lstStyle/>
          <a:p>
            <a:pPr defTabSz="1143000"/>
            <a:r>
              <a:rPr lang="pt-BR" sz="21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Supervisão</a:t>
            </a:r>
          </a:p>
        </p:txBody>
      </p:sp>
      <p:sp>
        <p:nvSpPr>
          <p:cNvPr id="13330" name="Freeform 19"/>
          <p:cNvSpPr>
            <a:spLocks/>
          </p:cNvSpPr>
          <p:nvPr/>
        </p:nvSpPr>
        <p:spPr bwMode="auto">
          <a:xfrm>
            <a:off x="3512345" y="7062788"/>
            <a:ext cx="5765006" cy="1769270"/>
          </a:xfrm>
          <a:custGeom>
            <a:avLst/>
            <a:gdLst>
              <a:gd name="T0" fmla="*/ 2420 w 2421"/>
              <a:gd name="T1" fmla="*/ 742 h 743"/>
              <a:gd name="T2" fmla="*/ 0 w 2421"/>
              <a:gd name="T3" fmla="*/ 742 h 743"/>
              <a:gd name="T4" fmla="*/ 0 w 2421"/>
              <a:gd name="T5" fmla="*/ 0 h 743"/>
              <a:gd name="T6" fmla="*/ 0 60000 65536"/>
              <a:gd name="T7" fmla="*/ 0 60000 65536"/>
              <a:gd name="T8" fmla="*/ 0 60000 65536"/>
              <a:gd name="T9" fmla="*/ 0 w 2421"/>
              <a:gd name="T10" fmla="*/ 0 h 743"/>
              <a:gd name="T11" fmla="*/ 2421 w 2421"/>
              <a:gd name="T12" fmla="*/ 743 h 74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21" h="743">
                <a:moveTo>
                  <a:pt x="2420" y="742"/>
                </a:moveTo>
                <a:lnTo>
                  <a:pt x="0" y="742"/>
                </a:lnTo>
                <a:lnTo>
                  <a:pt x="0" y="0"/>
                </a:lnTo>
              </a:path>
            </a:pathLst>
          </a:custGeom>
          <a:noFill/>
          <a:ln w="50799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137160" tIns="68580" rIns="137160" bIns="68580"/>
          <a:lstStyle/>
          <a:p>
            <a:endParaRPr lang="pt-BR"/>
          </a:p>
        </p:txBody>
      </p:sp>
      <p:sp>
        <p:nvSpPr>
          <p:cNvPr id="13331" name="Freeform 20"/>
          <p:cNvSpPr>
            <a:spLocks/>
          </p:cNvSpPr>
          <p:nvPr/>
        </p:nvSpPr>
        <p:spPr bwMode="auto">
          <a:xfrm>
            <a:off x="3436144" y="6869907"/>
            <a:ext cx="152400" cy="264318"/>
          </a:xfrm>
          <a:custGeom>
            <a:avLst/>
            <a:gdLst>
              <a:gd name="T0" fmla="*/ 0 w 64"/>
              <a:gd name="T1" fmla="*/ 110 h 111"/>
              <a:gd name="T2" fmla="*/ 63 w 64"/>
              <a:gd name="T3" fmla="*/ 110 h 111"/>
              <a:gd name="T4" fmla="*/ 32 w 64"/>
              <a:gd name="T5" fmla="*/ 0 h 111"/>
              <a:gd name="T6" fmla="*/ 0 w 64"/>
              <a:gd name="T7" fmla="*/ 110 h 111"/>
              <a:gd name="T8" fmla="*/ 0 60000 65536"/>
              <a:gd name="T9" fmla="*/ 0 60000 65536"/>
              <a:gd name="T10" fmla="*/ 0 60000 65536"/>
              <a:gd name="T11" fmla="*/ 0 60000 65536"/>
              <a:gd name="T12" fmla="*/ 0 w 64"/>
              <a:gd name="T13" fmla="*/ 0 h 111"/>
              <a:gd name="T14" fmla="*/ 64 w 64"/>
              <a:gd name="T15" fmla="*/ 111 h 11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" h="111">
                <a:moveTo>
                  <a:pt x="0" y="110"/>
                </a:moveTo>
                <a:lnTo>
                  <a:pt x="63" y="110"/>
                </a:lnTo>
                <a:lnTo>
                  <a:pt x="32" y="0"/>
                </a:lnTo>
                <a:lnTo>
                  <a:pt x="0" y="110"/>
                </a:lnTo>
              </a:path>
            </a:pathLst>
          </a:custGeom>
          <a:solidFill>
            <a:srgbClr val="000000"/>
          </a:solidFill>
          <a:ln w="12699" cap="rnd">
            <a:solidFill>
              <a:schemeClr val="bg1"/>
            </a:solidFill>
            <a:round/>
            <a:headEnd/>
            <a:tailEnd/>
          </a:ln>
        </p:spPr>
        <p:txBody>
          <a:bodyPr lIns="137160" tIns="68580" rIns="137160" bIns="68580"/>
          <a:lstStyle/>
          <a:p>
            <a:endParaRPr lang="pt-BR"/>
          </a:p>
        </p:txBody>
      </p:sp>
      <p:sp>
        <p:nvSpPr>
          <p:cNvPr id="13332" name="Line 21"/>
          <p:cNvSpPr>
            <a:spLocks noChangeShapeType="1"/>
          </p:cNvSpPr>
          <p:nvPr/>
        </p:nvSpPr>
        <p:spPr bwMode="auto">
          <a:xfrm>
            <a:off x="4745832" y="5969795"/>
            <a:ext cx="407193" cy="0"/>
          </a:xfrm>
          <a:prstGeom prst="line">
            <a:avLst/>
          </a:prstGeom>
          <a:noFill/>
          <a:ln w="50799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lIns="137160" tIns="68580" rIns="137160" bIns="68580" anchor="ctr"/>
          <a:lstStyle/>
          <a:p>
            <a:endParaRPr lang="pt-BR"/>
          </a:p>
        </p:txBody>
      </p:sp>
      <p:sp>
        <p:nvSpPr>
          <p:cNvPr id="13333" name="Freeform 22"/>
          <p:cNvSpPr>
            <a:spLocks/>
          </p:cNvSpPr>
          <p:nvPr/>
        </p:nvSpPr>
        <p:spPr bwMode="auto">
          <a:xfrm>
            <a:off x="5103020" y="5865020"/>
            <a:ext cx="195263" cy="204788"/>
          </a:xfrm>
          <a:custGeom>
            <a:avLst/>
            <a:gdLst>
              <a:gd name="T0" fmla="*/ 0 w 82"/>
              <a:gd name="T1" fmla="*/ 0 h 86"/>
              <a:gd name="T2" fmla="*/ 0 w 82"/>
              <a:gd name="T3" fmla="*/ 85 h 86"/>
              <a:gd name="T4" fmla="*/ 81 w 82"/>
              <a:gd name="T5" fmla="*/ 42 h 86"/>
              <a:gd name="T6" fmla="*/ 0 w 82"/>
              <a:gd name="T7" fmla="*/ 0 h 86"/>
              <a:gd name="T8" fmla="*/ 0 60000 65536"/>
              <a:gd name="T9" fmla="*/ 0 60000 65536"/>
              <a:gd name="T10" fmla="*/ 0 60000 65536"/>
              <a:gd name="T11" fmla="*/ 0 60000 65536"/>
              <a:gd name="T12" fmla="*/ 0 w 82"/>
              <a:gd name="T13" fmla="*/ 0 h 86"/>
              <a:gd name="T14" fmla="*/ 82 w 82"/>
              <a:gd name="T15" fmla="*/ 86 h 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" h="86">
                <a:moveTo>
                  <a:pt x="0" y="0"/>
                </a:moveTo>
                <a:lnTo>
                  <a:pt x="0" y="85"/>
                </a:lnTo>
                <a:lnTo>
                  <a:pt x="81" y="42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 w="12699" cap="rnd">
            <a:solidFill>
              <a:schemeClr val="bg1"/>
            </a:solidFill>
            <a:round/>
            <a:headEnd/>
            <a:tailEnd/>
          </a:ln>
        </p:spPr>
        <p:txBody>
          <a:bodyPr lIns="137160" tIns="68580" rIns="137160" bIns="68580"/>
          <a:lstStyle/>
          <a:p>
            <a:endParaRPr lang="pt-BR"/>
          </a:p>
        </p:txBody>
      </p:sp>
      <p:sp>
        <p:nvSpPr>
          <p:cNvPr id="13334" name="Line 23"/>
          <p:cNvSpPr>
            <a:spLocks noChangeShapeType="1"/>
          </p:cNvSpPr>
          <p:nvPr/>
        </p:nvSpPr>
        <p:spPr bwMode="auto">
          <a:xfrm>
            <a:off x="7217570" y="5969795"/>
            <a:ext cx="407193" cy="0"/>
          </a:xfrm>
          <a:prstGeom prst="line">
            <a:avLst/>
          </a:prstGeom>
          <a:noFill/>
          <a:ln w="50799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lIns="137160" tIns="68580" rIns="137160" bIns="68580" anchor="ctr"/>
          <a:lstStyle/>
          <a:p>
            <a:endParaRPr lang="pt-BR"/>
          </a:p>
        </p:txBody>
      </p:sp>
      <p:sp>
        <p:nvSpPr>
          <p:cNvPr id="13335" name="Freeform 24"/>
          <p:cNvSpPr>
            <a:spLocks/>
          </p:cNvSpPr>
          <p:nvPr/>
        </p:nvSpPr>
        <p:spPr bwMode="auto">
          <a:xfrm>
            <a:off x="7572376" y="5865020"/>
            <a:ext cx="195263" cy="204788"/>
          </a:xfrm>
          <a:custGeom>
            <a:avLst/>
            <a:gdLst>
              <a:gd name="T0" fmla="*/ 0 w 82"/>
              <a:gd name="T1" fmla="*/ 0 h 86"/>
              <a:gd name="T2" fmla="*/ 0 w 82"/>
              <a:gd name="T3" fmla="*/ 85 h 86"/>
              <a:gd name="T4" fmla="*/ 81 w 82"/>
              <a:gd name="T5" fmla="*/ 42 h 86"/>
              <a:gd name="T6" fmla="*/ 0 w 82"/>
              <a:gd name="T7" fmla="*/ 0 h 86"/>
              <a:gd name="T8" fmla="*/ 0 60000 65536"/>
              <a:gd name="T9" fmla="*/ 0 60000 65536"/>
              <a:gd name="T10" fmla="*/ 0 60000 65536"/>
              <a:gd name="T11" fmla="*/ 0 60000 65536"/>
              <a:gd name="T12" fmla="*/ 0 w 82"/>
              <a:gd name="T13" fmla="*/ 0 h 86"/>
              <a:gd name="T14" fmla="*/ 82 w 82"/>
              <a:gd name="T15" fmla="*/ 86 h 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" h="86">
                <a:moveTo>
                  <a:pt x="0" y="0"/>
                </a:moveTo>
                <a:lnTo>
                  <a:pt x="0" y="85"/>
                </a:lnTo>
                <a:lnTo>
                  <a:pt x="81" y="42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 w="12700" cap="rnd">
            <a:solidFill>
              <a:schemeClr val="bg1"/>
            </a:solidFill>
            <a:round/>
            <a:headEnd/>
            <a:tailEnd/>
          </a:ln>
        </p:spPr>
        <p:txBody>
          <a:bodyPr lIns="137160" tIns="68580" rIns="137160" bIns="68580"/>
          <a:lstStyle/>
          <a:p>
            <a:endParaRPr lang="pt-BR"/>
          </a:p>
        </p:txBody>
      </p:sp>
      <p:sp>
        <p:nvSpPr>
          <p:cNvPr id="13336" name="Freeform 25"/>
          <p:cNvSpPr>
            <a:spLocks/>
          </p:cNvSpPr>
          <p:nvPr/>
        </p:nvSpPr>
        <p:spPr bwMode="auto">
          <a:xfrm>
            <a:off x="8589170" y="3059907"/>
            <a:ext cx="681038" cy="1457325"/>
          </a:xfrm>
          <a:custGeom>
            <a:avLst/>
            <a:gdLst>
              <a:gd name="T0" fmla="*/ 0 w 286"/>
              <a:gd name="T1" fmla="*/ 611 h 612"/>
              <a:gd name="T2" fmla="*/ 0 w 286"/>
              <a:gd name="T3" fmla="*/ 0 h 612"/>
              <a:gd name="T4" fmla="*/ 285 w 286"/>
              <a:gd name="T5" fmla="*/ 0 h 612"/>
              <a:gd name="T6" fmla="*/ 0 60000 65536"/>
              <a:gd name="T7" fmla="*/ 0 60000 65536"/>
              <a:gd name="T8" fmla="*/ 0 60000 65536"/>
              <a:gd name="T9" fmla="*/ 0 w 286"/>
              <a:gd name="T10" fmla="*/ 0 h 612"/>
              <a:gd name="T11" fmla="*/ 286 w 286"/>
              <a:gd name="T12" fmla="*/ 612 h 6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6" h="612">
                <a:moveTo>
                  <a:pt x="0" y="611"/>
                </a:moveTo>
                <a:lnTo>
                  <a:pt x="0" y="0"/>
                </a:lnTo>
                <a:lnTo>
                  <a:pt x="285" y="0"/>
                </a:lnTo>
              </a:path>
            </a:pathLst>
          </a:custGeom>
          <a:noFill/>
          <a:ln w="50799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137160" tIns="68580" rIns="137160" bIns="68580"/>
          <a:lstStyle/>
          <a:p>
            <a:endParaRPr lang="pt-BR"/>
          </a:p>
        </p:txBody>
      </p:sp>
      <p:sp>
        <p:nvSpPr>
          <p:cNvPr id="13337" name="Freeform 26"/>
          <p:cNvSpPr>
            <a:spLocks/>
          </p:cNvSpPr>
          <p:nvPr/>
        </p:nvSpPr>
        <p:spPr bwMode="auto">
          <a:xfrm>
            <a:off x="9217820" y="2959895"/>
            <a:ext cx="195263" cy="204788"/>
          </a:xfrm>
          <a:custGeom>
            <a:avLst/>
            <a:gdLst>
              <a:gd name="T0" fmla="*/ 0 w 82"/>
              <a:gd name="T1" fmla="*/ 0 h 86"/>
              <a:gd name="T2" fmla="*/ 0 w 82"/>
              <a:gd name="T3" fmla="*/ 85 h 86"/>
              <a:gd name="T4" fmla="*/ 81 w 82"/>
              <a:gd name="T5" fmla="*/ 43 h 86"/>
              <a:gd name="T6" fmla="*/ 0 w 82"/>
              <a:gd name="T7" fmla="*/ 0 h 86"/>
              <a:gd name="T8" fmla="*/ 0 60000 65536"/>
              <a:gd name="T9" fmla="*/ 0 60000 65536"/>
              <a:gd name="T10" fmla="*/ 0 60000 65536"/>
              <a:gd name="T11" fmla="*/ 0 60000 65536"/>
              <a:gd name="T12" fmla="*/ 0 w 82"/>
              <a:gd name="T13" fmla="*/ 0 h 86"/>
              <a:gd name="T14" fmla="*/ 82 w 82"/>
              <a:gd name="T15" fmla="*/ 86 h 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" h="86">
                <a:moveTo>
                  <a:pt x="0" y="0"/>
                </a:moveTo>
                <a:lnTo>
                  <a:pt x="0" y="85"/>
                </a:lnTo>
                <a:lnTo>
                  <a:pt x="81" y="43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 w="12699" cap="rnd">
            <a:solidFill>
              <a:schemeClr val="bg1"/>
            </a:solidFill>
            <a:round/>
            <a:headEnd/>
            <a:tailEnd/>
          </a:ln>
        </p:spPr>
        <p:txBody>
          <a:bodyPr lIns="137160" tIns="68580" rIns="137160" bIns="68580"/>
          <a:lstStyle/>
          <a:p>
            <a:endParaRPr lang="pt-BR"/>
          </a:p>
        </p:txBody>
      </p:sp>
      <p:sp>
        <p:nvSpPr>
          <p:cNvPr id="13338" name="Freeform 27"/>
          <p:cNvSpPr>
            <a:spLocks/>
          </p:cNvSpPr>
          <p:nvPr/>
        </p:nvSpPr>
        <p:spPr bwMode="auto">
          <a:xfrm>
            <a:off x="8589170" y="7350920"/>
            <a:ext cx="545306" cy="1152525"/>
          </a:xfrm>
          <a:custGeom>
            <a:avLst/>
            <a:gdLst>
              <a:gd name="T0" fmla="*/ 0 w 229"/>
              <a:gd name="T1" fmla="*/ 0 h 484"/>
              <a:gd name="T2" fmla="*/ 0 w 229"/>
              <a:gd name="T3" fmla="*/ 483 h 484"/>
              <a:gd name="T4" fmla="*/ 228 w 229"/>
              <a:gd name="T5" fmla="*/ 483 h 484"/>
              <a:gd name="T6" fmla="*/ 0 60000 65536"/>
              <a:gd name="T7" fmla="*/ 0 60000 65536"/>
              <a:gd name="T8" fmla="*/ 0 60000 65536"/>
              <a:gd name="T9" fmla="*/ 0 w 229"/>
              <a:gd name="T10" fmla="*/ 0 h 484"/>
              <a:gd name="T11" fmla="*/ 229 w 229"/>
              <a:gd name="T12" fmla="*/ 484 h 4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" h="484">
                <a:moveTo>
                  <a:pt x="0" y="0"/>
                </a:moveTo>
                <a:lnTo>
                  <a:pt x="0" y="483"/>
                </a:lnTo>
                <a:lnTo>
                  <a:pt x="228" y="483"/>
                </a:lnTo>
              </a:path>
            </a:pathLst>
          </a:custGeom>
          <a:noFill/>
          <a:ln w="50799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137160" tIns="68580" rIns="137160" bIns="68580"/>
          <a:lstStyle/>
          <a:p>
            <a:endParaRPr lang="pt-BR"/>
          </a:p>
        </p:txBody>
      </p:sp>
      <p:sp>
        <p:nvSpPr>
          <p:cNvPr id="13339" name="Freeform 28"/>
          <p:cNvSpPr>
            <a:spLocks/>
          </p:cNvSpPr>
          <p:nvPr/>
        </p:nvSpPr>
        <p:spPr bwMode="auto">
          <a:xfrm>
            <a:off x="9082088" y="8370095"/>
            <a:ext cx="195263" cy="202406"/>
          </a:xfrm>
          <a:custGeom>
            <a:avLst/>
            <a:gdLst>
              <a:gd name="T0" fmla="*/ 0 w 82"/>
              <a:gd name="T1" fmla="*/ 0 h 85"/>
              <a:gd name="T2" fmla="*/ 0 w 82"/>
              <a:gd name="T3" fmla="*/ 84 h 85"/>
              <a:gd name="T4" fmla="*/ 81 w 82"/>
              <a:gd name="T5" fmla="*/ 43 h 85"/>
              <a:gd name="T6" fmla="*/ 0 w 82"/>
              <a:gd name="T7" fmla="*/ 0 h 85"/>
              <a:gd name="T8" fmla="*/ 0 60000 65536"/>
              <a:gd name="T9" fmla="*/ 0 60000 65536"/>
              <a:gd name="T10" fmla="*/ 0 60000 65536"/>
              <a:gd name="T11" fmla="*/ 0 60000 65536"/>
              <a:gd name="T12" fmla="*/ 0 w 82"/>
              <a:gd name="T13" fmla="*/ 0 h 85"/>
              <a:gd name="T14" fmla="*/ 82 w 82"/>
              <a:gd name="T15" fmla="*/ 85 h 8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" h="85">
                <a:moveTo>
                  <a:pt x="0" y="0"/>
                </a:moveTo>
                <a:lnTo>
                  <a:pt x="0" y="84"/>
                </a:lnTo>
                <a:lnTo>
                  <a:pt x="81" y="43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 w="12699" cap="rnd">
            <a:solidFill>
              <a:schemeClr val="bg1"/>
            </a:solidFill>
            <a:round/>
            <a:headEnd/>
            <a:tailEnd/>
          </a:ln>
        </p:spPr>
        <p:txBody>
          <a:bodyPr lIns="137160" tIns="68580" rIns="137160" bIns="68580"/>
          <a:lstStyle/>
          <a:p>
            <a:endParaRPr lang="pt-BR"/>
          </a:p>
        </p:txBody>
      </p:sp>
      <p:sp>
        <p:nvSpPr>
          <p:cNvPr id="13340" name="AutoShape 29"/>
          <p:cNvSpPr>
            <a:spLocks noChangeArrowheads="1"/>
          </p:cNvSpPr>
          <p:nvPr/>
        </p:nvSpPr>
        <p:spPr bwMode="auto">
          <a:xfrm>
            <a:off x="9415424" y="1714500"/>
            <a:ext cx="3657682" cy="2240868"/>
          </a:xfrm>
          <a:prstGeom prst="roundRect">
            <a:avLst>
              <a:gd name="adj" fmla="val 24870"/>
            </a:avLst>
          </a:prstGeom>
          <a:solidFill>
            <a:schemeClr val="bg1"/>
          </a:solidFill>
          <a:ln w="12699">
            <a:solidFill>
              <a:srgbClr val="000000"/>
            </a:solidFill>
            <a:round/>
            <a:headEnd/>
            <a:tailEnd/>
          </a:ln>
        </p:spPr>
        <p:txBody>
          <a:bodyPr wrap="none" lIns="137160" tIns="68580" rIns="137160" bIns="68580" anchor="ctr"/>
          <a:lstStyle/>
          <a:p>
            <a:endParaRPr lang="pt-BR"/>
          </a:p>
        </p:txBody>
      </p:sp>
      <p:sp>
        <p:nvSpPr>
          <p:cNvPr id="13341" name="Rectangle 30"/>
          <p:cNvSpPr>
            <a:spLocks noChangeArrowheads="1"/>
          </p:cNvSpPr>
          <p:nvPr/>
        </p:nvSpPr>
        <p:spPr bwMode="auto">
          <a:xfrm>
            <a:off x="9429768" y="2000228"/>
            <a:ext cx="3502632" cy="1755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38113" tIns="69057" rIns="138113" bIns="69057">
            <a:spAutoFit/>
          </a:bodyPr>
          <a:lstStyle/>
          <a:p>
            <a:pPr algn="ctr" defTabSz="1143000"/>
            <a:r>
              <a:rPr lang="pt-BR" sz="21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Usuários</a:t>
            </a:r>
            <a:r>
              <a:rPr lang="pt-BR" sz="21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pt-BR" sz="21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Externos:</a:t>
            </a:r>
          </a:p>
          <a:p>
            <a:pPr algn="ctr" defTabSz="1143000"/>
            <a:r>
              <a:rPr lang="pt-BR" sz="21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Fornecedores</a:t>
            </a:r>
          </a:p>
          <a:p>
            <a:pPr algn="ctr" defTabSz="1143000"/>
            <a:r>
              <a:rPr lang="pt-BR" sz="21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Clientes</a:t>
            </a:r>
          </a:p>
          <a:p>
            <a:pPr algn="ctr" defTabSz="1143000"/>
            <a:r>
              <a:rPr lang="pt-BR" sz="21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Banco</a:t>
            </a:r>
          </a:p>
          <a:p>
            <a:pPr algn="ctr" defTabSz="1143000"/>
            <a:r>
              <a:rPr lang="pt-BR" sz="21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Governo</a:t>
            </a:r>
          </a:p>
        </p:txBody>
      </p:sp>
      <p:sp>
        <p:nvSpPr>
          <p:cNvPr id="30" name="Rectangle 2"/>
          <p:cNvSpPr txBox="1">
            <a:spLocks noChangeArrowheads="1"/>
          </p:cNvSpPr>
          <p:nvPr/>
        </p:nvSpPr>
        <p:spPr>
          <a:xfrm>
            <a:off x="227946" y="282960"/>
            <a:ext cx="8358246" cy="983211"/>
          </a:xfrm>
          <a:prstGeom prst="rect">
            <a:avLst/>
          </a:prstGeom>
        </p:spPr>
        <p:txBody>
          <a:bodyPr lIns="137160" tIns="68580" rIns="137160" bIns="68580"/>
          <a:lstStyle/>
          <a:p>
            <a:pPr algn="ctr" defTabSz="1371600" eaLnBrk="0" hangingPunct="0">
              <a:defRPr/>
            </a:pPr>
            <a:r>
              <a:rPr lang="pt-BR" sz="3600" b="1" kern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Gestão de Custos para Saúde</a:t>
            </a:r>
          </a:p>
        </p:txBody>
      </p:sp>
    </p:spTree>
    <p:extLst>
      <p:ext uri="{BB962C8B-B14F-4D97-AF65-F5344CB8AC3E}">
        <p14:creationId xmlns:p14="http://schemas.microsoft.com/office/powerpoint/2010/main" val="291014199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664" y="1726911"/>
            <a:ext cx="12158814" cy="1059135"/>
          </a:xfrm>
        </p:spPr>
        <p:txBody>
          <a:bodyPr/>
          <a:lstStyle/>
          <a:p>
            <a:pPr algn="ctr">
              <a:defRPr/>
            </a:pPr>
            <a:r>
              <a:rPr lang="pt-BR" sz="4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INFORMAÇÃO CONTÁBIL (C O N T A S)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14500" y="2828952"/>
            <a:ext cx="10972800" cy="6172200"/>
          </a:xfrm>
          <a:prstGeom prst="rect">
            <a:avLst/>
          </a:prstGeom>
        </p:spPr>
        <p:txBody>
          <a:bodyPr lIns="137160" tIns="68580" rIns="137160" bIns="68580"/>
          <a:lstStyle/>
          <a:p>
            <a:pPr algn="ctr">
              <a:lnSpc>
                <a:spcPct val="200000"/>
              </a:lnSpc>
              <a:buFontTx/>
              <a:buNone/>
            </a:pPr>
            <a:r>
              <a:rPr lang="pt-BR" sz="4200" b="1" u="sng" dirty="0">
                <a:latin typeface="Verdana" pitchFamily="34" charset="0"/>
                <a:ea typeface="Verdana" pitchFamily="34" charset="0"/>
                <a:cs typeface="Verdana" pitchFamily="34" charset="0"/>
              </a:rPr>
              <a:t>CONTAS  PATRIMONIAIS</a:t>
            </a:r>
          </a:p>
          <a:p>
            <a:pPr algn="ctr">
              <a:buFontTx/>
              <a:buNone/>
            </a:pPr>
            <a:r>
              <a:rPr lang="pt-BR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ATIVO: Estoque e Imobilizado</a:t>
            </a:r>
          </a:p>
          <a:p>
            <a:pPr algn="ctr">
              <a:buFontTx/>
              <a:buNone/>
            </a:pPr>
            <a:r>
              <a:rPr lang="pt-BR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PASSIVO </a:t>
            </a:r>
          </a:p>
          <a:p>
            <a:pPr algn="ctr">
              <a:buFontTx/>
              <a:buNone/>
            </a:pPr>
            <a:r>
              <a:rPr lang="pt-BR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PATRIMÔNIO LÍQUIDO</a:t>
            </a:r>
          </a:p>
          <a:p>
            <a:pPr algn="ctr">
              <a:lnSpc>
                <a:spcPct val="200000"/>
              </a:lnSpc>
              <a:buFontTx/>
              <a:buNone/>
            </a:pPr>
            <a:endParaRPr lang="pt-BR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ctr">
              <a:lnSpc>
                <a:spcPct val="200000"/>
              </a:lnSpc>
              <a:buFontTx/>
              <a:buNone/>
            </a:pPr>
            <a:r>
              <a:rPr lang="pt-BR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BALANÇO PATRIMONIAL</a:t>
            </a:r>
          </a:p>
          <a:p>
            <a:pPr algn="ctr">
              <a:lnSpc>
                <a:spcPct val="200000"/>
              </a:lnSpc>
              <a:buFontTx/>
              <a:buNone/>
            </a:pPr>
            <a:r>
              <a:rPr lang="pt-BR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A   =   P   +   P L</a:t>
            </a:r>
          </a:p>
          <a:p>
            <a:pPr>
              <a:lnSpc>
                <a:spcPct val="90000"/>
              </a:lnSpc>
              <a:spcBef>
                <a:spcPct val="5000"/>
              </a:spcBef>
            </a:pPr>
            <a:endParaRPr lang="pt-BR" sz="4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5364" name="AutoShape 4"/>
          <p:cNvSpPr>
            <a:spLocks noChangeArrowheads="1"/>
          </p:cNvSpPr>
          <p:nvPr/>
        </p:nvSpPr>
        <p:spPr bwMode="auto">
          <a:xfrm>
            <a:off x="6743701" y="6250799"/>
            <a:ext cx="728663" cy="1464470"/>
          </a:xfrm>
          <a:prstGeom prst="downArrow">
            <a:avLst>
              <a:gd name="adj1" fmla="val 50000"/>
              <a:gd name="adj2" fmla="val 50245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7160" tIns="68580" rIns="137160" bIns="68580" anchor="ctr"/>
          <a:lstStyle/>
          <a:p>
            <a:endParaRPr lang="pt-BR"/>
          </a:p>
        </p:txBody>
      </p:sp>
      <p:sp>
        <p:nvSpPr>
          <p:cNvPr id="144389" name="Rectangle 5"/>
          <p:cNvSpPr>
            <a:spLocks noChangeArrowheads="1"/>
          </p:cNvSpPr>
          <p:nvPr/>
        </p:nvSpPr>
        <p:spPr bwMode="auto">
          <a:xfrm>
            <a:off x="4805772" y="8958294"/>
            <a:ext cx="4752528" cy="685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none" lIns="137160" tIns="68580" rIns="137160" bIns="68580" anchor="ctr"/>
          <a:lstStyle/>
          <a:p>
            <a:pPr algn="ctr">
              <a:defRPr/>
            </a:pPr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80681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292" y="1726911"/>
            <a:ext cx="12158814" cy="1059135"/>
          </a:xfrm>
        </p:spPr>
        <p:txBody>
          <a:bodyPr/>
          <a:lstStyle/>
          <a:p>
            <a:pPr algn="ctr">
              <a:defRPr/>
            </a:pPr>
            <a:r>
              <a:rPr lang="pt-BR" sz="4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INFORMAÇÃO CONTÁBIL (C O N T A S)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14500" y="2678889"/>
            <a:ext cx="10972800" cy="6172200"/>
          </a:xfrm>
          <a:prstGeom prst="rect">
            <a:avLst/>
          </a:prstGeom>
        </p:spPr>
        <p:txBody>
          <a:bodyPr lIns="137160" tIns="68580" rIns="137160" bIns="68580"/>
          <a:lstStyle/>
          <a:p>
            <a:pPr algn="ctr">
              <a:lnSpc>
                <a:spcPct val="200000"/>
              </a:lnSpc>
              <a:buFontTx/>
              <a:buNone/>
            </a:pPr>
            <a:r>
              <a:rPr lang="pt-BR" sz="4200" b="1" u="sng" dirty="0">
                <a:latin typeface="Verdana" pitchFamily="34" charset="0"/>
                <a:ea typeface="Verdana" pitchFamily="34" charset="0"/>
                <a:cs typeface="Verdana" pitchFamily="34" charset="0"/>
              </a:rPr>
              <a:t>CONTAS  DE RESULTADO</a:t>
            </a:r>
          </a:p>
          <a:p>
            <a:pPr algn="ctr">
              <a:buFontTx/>
              <a:buNone/>
            </a:pPr>
            <a:r>
              <a:rPr lang="pt-BR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RECEITAS</a:t>
            </a:r>
          </a:p>
          <a:p>
            <a:pPr algn="ctr">
              <a:buFontTx/>
              <a:buNone/>
            </a:pPr>
            <a:r>
              <a:rPr lang="pt-BR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CUSTOS, DESPESAS, PERDAS</a:t>
            </a:r>
          </a:p>
          <a:p>
            <a:pPr algn="ctr">
              <a:lnSpc>
                <a:spcPct val="200000"/>
              </a:lnSpc>
              <a:buFontTx/>
              <a:buNone/>
            </a:pPr>
            <a:endParaRPr lang="pt-BR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ctr">
              <a:lnSpc>
                <a:spcPct val="200000"/>
              </a:lnSpc>
              <a:buFontTx/>
              <a:buNone/>
            </a:pPr>
            <a:r>
              <a:rPr lang="pt-BR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DEMONSTRAÇÃO DO RESULTADO DO EXERCÍCIO</a:t>
            </a:r>
          </a:p>
          <a:p>
            <a:pPr algn="ctr">
              <a:lnSpc>
                <a:spcPct val="200000"/>
              </a:lnSpc>
              <a:buFontTx/>
              <a:buNone/>
            </a:pPr>
            <a:r>
              <a:rPr lang="pt-BR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LUCRO OU PREJUIZO</a:t>
            </a:r>
          </a:p>
          <a:p>
            <a:pPr>
              <a:lnSpc>
                <a:spcPct val="90000"/>
              </a:lnSpc>
              <a:spcBef>
                <a:spcPct val="5000"/>
              </a:spcBef>
            </a:pPr>
            <a:endParaRPr lang="pt-BR" sz="4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388" name="AutoShape 4"/>
          <p:cNvSpPr>
            <a:spLocks noChangeArrowheads="1"/>
          </p:cNvSpPr>
          <p:nvPr/>
        </p:nvSpPr>
        <p:spPr bwMode="auto">
          <a:xfrm>
            <a:off x="6743701" y="5393543"/>
            <a:ext cx="728663" cy="1464470"/>
          </a:xfrm>
          <a:prstGeom prst="downArrow">
            <a:avLst>
              <a:gd name="adj1" fmla="val 50000"/>
              <a:gd name="adj2" fmla="val 5024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7160" tIns="68580" rIns="137160" bIns="68580" anchor="ctr"/>
          <a:lstStyle/>
          <a:p>
            <a:endParaRPr lang="pt-BR"/>
          </a:p>
        </p:txBody>
      </p:sp>
      <p:sp>
        <p:nvSpPr>
          <p:cNvPr id="145413" name="Rectangle 5"/>
          <p:cNvSpPr>
            <a:spLocks noChangeArrowheads="1"/>
          </p:cNvSpPr>
          <p:nvPr/>
        </p:nvSpPr>
        <p:spPr bwMode="auto">
          <a:xfrm>
            <a:off x="4229100" y="9172608"/>
            <a:ext cx="5977272" cy="685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none" lIns="137160" tIns="68580" rIns="137160" bIns="68580" anchor="ctr"/>
          <a:lstStyle/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831650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/>
          <p:cNvSpPr>
            <a:spLocks noGrp="1"/>
          </p:cNvSpPr>
          <p:nvPr>
            <p:ph type="title"/>
          </p:nvPr>
        </p:nvSpPr>
        <p:spPr>
          <a:xfrm>
            <a:off x="785770" y="857220"/>
            <a:ext cx="10572824" cy="1059135"/>
          </a:xfrm>
        </p:spPr>
        <p:txBody>
          <a:bodyPr/>
          <a:lstStyle/>
          <a:p>
            <a:pPr algn="ctr"/>
            <a:r>
              <a:rPr lang="en-US" sz="6000" dirty="0" err="1">
                <a:solidFill>
                  <a:schemeClr val="tx1"/>
                </a:solidFill>
                <a:latin typeface="Arial" charset="0"/>
                <a:cs typeface="Arial" charset="0"/>
              </a:rPr>
              <a:t>Compreensão</a:t>
            </a:r>
            <a:r>
              <a:rPr lang="en-US" sz="6000" dirty="0">
                <a:solidFill>
                  <a:schemeClr val="tx1"/>
                </a:solidFill>
                <a:latin typeface="Arial" charset="0"/>
                <a:cs typeface="Arial" charset="0"/>
              </a:rPr>
              <a:t> dos </a:t>
            </a:r>
            <a:r>
              <a:rPr lang="en-US" sz="6000" dirty="0" err="1">
                <a:solidFill>
                  <a:schemeClr val="tx1"/>
                </a:solidFill>
                <a:latin typeface="Arial" charset="0"/>
                <a:cs typeface="Arial" charset="0"/>
              </a:rPr>
              <a:t>Termos</a:t>
            </a:r>
            <a:br>
              <a:rPr lang="en-US" sz="6000" dirty="0">
                <a:solidFill>
                  <a:schemeClr val="tx1"/>
                </a:solidFill>
                <a:latin typeface="Arial" charset="0"/>
                <a:cs typeface="Arial" charset="0"/>
              </a:rPr>
            </a:br>
            <a:endParaRPr lang="pt-BR" sz="60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075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942975" y="1821633"/>
            <a:ext cx="11830050" cy="7286676"/>
          </a:xfrm>
          <a:prstGeom prst="rect">
            <a:avLst/>
          </a:prstGeom>
        </p:spPr>
        <p:txBody>
          <a:bodyPr lIns="137160" tIns="68580" rIns="137160" bIns="68580"/>
          <a:lstStyle/>
          <a:p>
            <a:pPr algn="ctr">
              <a:lnSpc>
                <a:spcPct val="150000"/>
              </a:lnSpc>
              <a:buFont typeface="Arial" charset="0"/>
              <a:buNone/>
            </a:pPr>
            <a:r>
              <a:rPr lang="en-US" sz="6000" b="1" dirty="0" err="1">
                <a:latin typeface="Arial" charset="0"/>
                <a:cs typeface="Arial" charset="0"/>
              </a:rPr>
              <a:t>Tipos</a:t>
            </a:r>
            <a:r>
              <a:rPr lang="en-US" sz="6000" b="1" dirty="0">
                <a:latin typeface="Arial" charset="0"/>
                <a:cs typeface="Arial" charset="0"/>
              </a:rPr>
              <a:t> de </a:t>
            </a:r>
            <a:r>
              <a:rPr lang="en-US" sz="6000" b="1" dirty="0" err="1">
                <a:latin typeface="Arial" charset="0"/>
                <a:cs typeface="Arial" charset="0"/>
              </a:rPr>
              <a:t>Gastos</a:t>
            </a:r>
            <a:r>
              <a:rPr lang="en-US" sz="6000" b="1" dirty="0">
                <a:latin typeface="Arial" charset="0"/>
                <a:cs typeface="Arial" charset="0"/>
              </a:rPr>
              <a:t>:</a:t>
            </a:r>
          </a:p>
          <a:p>
            <a:pPr algn="ctr">
              <a:lnSpc>
                <a:spcPct val="150000"/>
              </a:lnSpc>
              <a:buFont typeface="Arial" charset="0"/>
              <a:buNone/>
            </a:pPr>
            <a:r>
              <a:rPr lang="en-US" sz="6000" b="1" dirty="0" err="1"/>
              <a:t>Investimentos</a:t>
            </a:r>
            <a:r>
              <a:rPr lang="en-US" sz="6000" b="1" dirty="0"/>
              <a:t> </a:t>
            </a:r>
          </a:p>
          <a:p>
            <a:pPr algn="ctr">
              <a:lnSpc>
                <a:spcPct val="150000"/>
              </a:lnSpc>
              <a:buFont typeface="Arial" charset="0"/>
              <a:buNone/>
            </a:pPr>
            <a:r>
              <a:rPr lang="en-US" sz="5400" dirty="0" err="1"/>
              <a:t>Aquisição</a:t>
            </a:r>
            <a:r>
              <a:rPr lang="en-US" sz="5400" dirty="0"/>
              <a:t> de Bens que </a:t>
            </a:r>
            <a:r>
              <a:rPr lang="en-US" sz="5400" dirty="0" err="1"/>
              <a:t>geram</a:t>
            </a:r>
            <a:r>
              <a:rPr lang="en-US" sz="5400" dirty="0"/>
              <a:t> </a:t>
            </a:r>
            <a:r>
              <a:rPr lang="en-US" sz="5400" dirty="0" err="1"/>
              <a:t>gastos</a:t>
            </a:r>
            <a:r>
              <a:rPr lang="en-US" sz="5400" dirty="0"/>
              <a:t> </a:t>
            </a:r>
            <a:r>
              <a:rPr lang="en-US" sz="5400" dirty="0" err="1"/>
              <a:t>pelo</a:t>
            </a:r>
            <a:r>
              <a:rPr lang="en-US" sz="5400" dirty="0"/>
              <a:t> </a:t>
            </a:r>
            <a:r>
              <a:rPr lang="en-US" sz="5400" dirty="0" err="1"/>
              <a:t>seu</a:t>
            </a:r>
            <a:r>
              <a:rPr lang="en-US" sz="5400" dirty="0"/>
              <a:t> </a:t>
            </a:r>
            <a:r>
              <a:rPr lang="en-US" sz="5400" dirty="0" err="1"/>
              <a:t>desgaste</a:t>
            </a:r>
            <a:r>
              <a:rPr lang="en-US" sz="5400" dirty="0"/>
              <a:t> </a:t>
            </a:r>
            <a:r>
              <a:rPr lang="en-US" sz="5400" dirty="0" err="1"/>
              <a:t>chamado</a:t>
            </a:r>
            <a:r>
              <a:rPr lang="en-US" sz="5400" dirty="0"/>
              <a:t> de …</a:t>
            </a:r>
          </a:p>
          <a:p>
            <a:pPr algn="ctr">
              <a:lnSpc>
                <a:spcPct val="150000"/>
              </a:lnSpc>
              <a:buFont typeface="Arial" charset="0"/>
              <a:buNone/>
            </a:pPr>
            <a:r>
              <a:rPr lang="en-US" sz="5400" b="1" dirty="0"/>
              <a:t>DEPRECIAÇÃO</a:t>
            </a:r>
          </a:p>
          <a:p>
            <a:pPr algn="just">
              <a:buFont typeface="Arial" charset="0"/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55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428626" y="2545557"/>
            <a:ext cx="12751595" cy="6955661"/>
          </a:xfrm>
          <a:prstGeom prst="rect">
            <a:avLst/>
          </a:prstGeom>
        </p:spPr>
        <p:txBody>
          <a:bodyPr lIns="137160" tIns="68580" rIns="137160" bIns="68580"/>
          <a:lstStyle/>
          <a:p>
            <a:pPr algn="ctr">
              <a:lnSpc>
                <a:spcPct val="100000"/>
              </a:lnSpc>
              <a:spcBef>
                <a:spcPct val="0"/>
              </a:spcBef>
              <a:buFont typeface="Arial" charset="0"/>
              <a:buNone/>
            </a:pPr>
            <a:r>
              <a:rPr lang="en-US" sz="6000" b="1" dirty="0">
                <a:latin typeface="Arial" pitchFamily="34" charset="0"/>
                <a:cs typeface="Arial" pitchFamily="34" charset="0"/>
              </a:rPr>
              <a:t>CUSTOS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 typeface="Arial" charset="0"/>
              <a:buNone/>
            </a:pPr>
            <a:r>
              <a:rPr lang="en-US" sz="5400" dirty="0" err="1"/>
              <a:t>Relacionados</a:t>
            </a:r>
            <a:r>
              <a:rPr lang="en-US" sz="5400" dirty="0"/>
              <a:t> </a:t>
            </a:r>
            <a:r>
              <a:rPr lang="en-US" sz="5400" dirty="0" err="1"/>
              <a:t>aos</a:t>
            </a:r>
            <a:r>
              <a:rPr lang="en-US" sz="5400" dirty="0"/>
              <a:t> </a:t>
            </a:r>
            <a:r>
              <a:rPr lang="en-US" sz="5400" dirty="0" err="1"/>
              <a:t>insumos</a:t>
            </a:r>
            <a:r>
              <a:rPr lang="en-US" sz="5400" dirty="0"/>
              <a:t> da </a:t>
            </a:r>
            <a:r>
              <a:rPr lang="en-US" sz="5400" dirty="0" err="1"/>
              <a:t>atividade</a:t>
            </a:r>
            <a:r>
              <a:rPr lang="en-US" sz="5400" dirty="0"/>
              <a:t> </a:t>
            </a:r>
            <a:r>
              <a:rPr lang="en-US" sz="5400" dirty="0" err="1"/>
              <a:t>produtiva</a:t>
            </a:r>
            <a:r>
              <a:rPr lang="en-US" sz="5400" dirty="0"/>
              <a:t> que </a:t>
            </a:r>
            <a:r>
              <a:rPr lang="en-US" sz="5400" dirty="0" err="1"/>
              <a:t>são</a:t>
            </a:r>
            <a:r>
              <a:rPr lang="en-US" sz="5400" dirty="0"/>
              <a:t>:</a:t>
            </a:r>
          </a:p>
          <a:p>
            <a:pPr lvl="1" algn="ctr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4800" b="1" dirty="0" err="1"/>
              <a:t>Matéria</a:t>
            </a:r>
            <a:r>
              <a:rPr lang="en-US" sz="4800" b="1" dirty="0"/>
              <a:t> Prima </a:t>
            </a:r>
            <a:r>
              <a:rPr lang="en-US" sz="4800" b="1" dirty="0" err="1"/>
              <a:t>ou</a:t>
            </a:r>
            <a:r>
              <a:rPr lang="en-US" sz="4800" b="1" dirty="0"/>
              <a:t> </a:t>
            </a:r>
            <a:r>
              <a:rPr lang="en-US" sz="4800" b="1" dirty="0" err="1"/>
              <a:t>Materiais</a:t>
            </a:r>
            <a:r>
              <a:rPr lang="en-US" sz="4800" b="1" dirty="0"/>
              <a:t> </a:t>
            </a:r>
            <a:r>
              <a:rPr lang="en-US" sz="4800" b="1" dirty="0" err="1"/>
              <a:t>Aplicados</a:t>
            </a:r>
            <a:endParaRPr lang="en-US" sz="4800" b="1" dirty="0"/>
          </a:p>
          <a:p>
            <a:pPr lvl="1" algn="ctr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4800" b="1" dirty="0" err="1"/>
              <a:t>Mão</a:t>
            </a:r>
            <a:r>
              <a:rPr lang="en-US" sz="4800" b="1" dirty="0"/>
              <a:t> do </a:t>
            </a:r>
            <a:r>
              <a:rPr lang="en-US" sz="4800" b="1" dirty="0" err="1"/>
              <a:t>Obra</a:t>
            </a:r>
            <a:r>
              <a:rPr lang="en-US" sz="4800" b="1" dirty="0"/>
              <a:t> </a:t>
            </a:r>
            <a:r>
              <a:rPr lang="en-US" sz="4800" b="1" dirty="0" err="1"/>
              <a:t>Direta</a:t>
            </a:r>
            <a:r>
              <a:rPr lang="en-US" sz="4800" b="1" dirty="0"/>
              <a:t> </a:t>
            </a:r>
            <a:r>
              <a:rPr lang="en-US" sz="4800" b="1" dirty="0" err="1"/>
              <a:t>na</a:t>
            </a:r>
            <a:r>
              <a:rPr lang="en-US" sz="4800" b="1" dirty="0"/>
              <a:t> </a:t>
            </a:r>
            <a:r>
              <a:rPr lang="en-US" sz="4800" b="1" dirty="0" err="1"/>
              <a:t>Execução</a:t>
            </a:r>
            <a:endParaRPr lang="en-US" sz="4800" b="1" dirty="0"/>
          </a:p>
          <a:p>
            <a:pPr lvl="1" algn="ctr">
              <a:lnSpc>
                <a:spcPct val="100000"/>
              </a:lnSpc>
              <a:spcBef>
                <a:spcPct val="0"/>
              </a:spcBef>
              <a:buFont typeface="Wingdings" pitchFamily="2" charset="2"/>
              <a:buChar char="Ø"/>
            </a:pPr>
            <a:r>
              <a:rPr lang="en-US" sz="4800" b="1" dirty="0" err="1"/>
              <a:t>Gastos</a:t>
            </a:r>
            <a:r>
              <a:rPr lang="en-US" sz="4800" b="1" dirty="0"/>
              <a:t> </a:t>
            </a:r>
            <a:r>
              <a:rPr lang="en-US" sz="4800" b="1" dirty="0" err="1"/>
              <a:t>Gerais</a:t>
            </a:r>
            <a:r>
              <a:rPr lang="en-US" sz="4800" b="1" dirty="0"/>
              <a:t> com o …</a:t>
            </a:r>
          </a:p>
          <a:p>
            <a:pPr lvl="1" algn="ctr">
              <a:lnSpc>
                <a:spcPct val="150000"/>
              </a:lnSpc>
              <a:spcBef>
                <a:spcPct val="0"/>
              </a:spcBef>
              <a:buFont typeface="Arial" charset="0"/>
              <a:buNone/>
            </a:pPr>
            <a:r>
              <a:rPr lang="en-US" sz="5400" b="1" u="sng" dirty="0" err="1"/>
              <a:t>Ambiente</a:t>
            </a:r>
            <a:r>
              <a:rPr lang="en-US" sz="5400" b="1" u="sng" dirty="0"/>
              <a:t> de Produção</a:t>
            </a:r>
            <a:endParaRPr lang="pt-BR" sz="5400" b="1" u="sng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785770" y="857220"/>
            <a:ext cx="10572824" cy="1059135"/>
          </a:xfrm>
          <a:prstGeom prst="rect">
            <a:avLst/>
          </a:prstGeom>
        </p:spPr>
        <p:txBody>
          <a:bodyPr lIns="137160" tIns="68580" rIns="137160" bIns="6858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Verdana" panose="020B0604030504040204" pitchFamily="34" charset="0"/>
                <a:cs typeface="Arial" charset="0"/>
              </a:rPr>
              <a:t>Compreensão dos Termos</a:t>
            </a:r>
            <a:br>
              <a:rPr kumimoji="0" lang="en-US" sz="6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Verdana" panose="020B0604030504040204" pitchFamily="34" charset="0"/>
                <a:cs typeface="Arial" charset="0"/>
              </a:rPr>
            </a:br>
            <a:endParaRPr kumimoji="0" lang="pt-BR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Verdana" panose="020B0604030504040204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2547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428581" y="3117088"/>
            <a:ext cx="12751595" cy="6527006"/>
          </a:xfrm>
          <a:prstGeom prst="rect">
            <a:avLst/>
          </a:prstGeom>
        </p:spPr>
        <p:txBody>
          <a:bodyPr lIns="137160" tIns="68580" rIns="137160" bIns="68580"/>
          <a:lstStyle/>
          <a:p>
            <a:pPr algn="ctr">
              <a:buFont typeface="Arial" charset="0"/>
              <a:buNone/>
            </a:pPr>
            <a:r>
              <a:rPr lang="en-US" sz="6000" b="1" dirty="0">
                <a:latin typeface="Arial" pitchFamily="34" charset="0"/>
                <a:cs typeface="Arial" pitchFamily="34" charset="0"/>
              </a:rPr>
              <a:t>DESPESAS</a:t>
            </a:r>
            <a:r>
              <a:rPr lang="en-US" sz="5400" dirty="0"/>
              <a:t> </a:t>
            </a:r>
          </a:p>
          <a:p>
            <a:pPr algn="ctr">
              <a:buFont typeface="Arial" charset="0"/>
              <a:buNone/>
            </a:pPr>
            <a:r>
              <a:rPr lang="en-US" sz="5400" dirty="0" err="1"/>
              <a:t>Relacionados</a:t>
            </a:r>
            <a:r>
              <a:rPr lang="en-US" sz="5400" dirty="0"/>
              <a:t> a </a:t>
            </a:r>
            <a:r>
              <a:rPr lang="en-US" sz="5400" dirty="0" err="1"/>
              <a:t>atividade</a:t>
            </a:r>
            <a:r>
              <a:rPr lang="en-US" sz="5400" dirty="0"/>
              <a:t> de </a:t>
            </a:r>
            <a:r>
              <a:rPr lang="en-US" sz="5400" b="1" dirty="0" err="1"/>
              <a:t>Suporte</a:t>
            </a:r>
            <a:r>
              <a:rPr lang="en-US" sz="5400" b="1" dirty="0"/>
              <a:t> </a:t>
            </a:r>
            <a:r>
              <a:rPr lang="en-US" sz="5400" b="1" dirty="0" err="1"/>
              <a:t>Empresarial</a:t>
            </a:r>
            <a:r>
              <a:rPr lang="en-US" sz="5400" dirty="0"/>
              <a:t>, </a:t>
            </a:r>
            <a:r>
              <a:rPr lang="en-US" sz="5400" dirty="0" err="1"/>
              <a:t>atividade</a:t>
            </a:r>
            <a:r>
              <a:rPr lang="en-US" sz="5400" dirty="0"/>
              <a:t> </a:t>
            </a:r>
            <a:r>
              <a:rPr lang="en-US" sz="5400" dirty="0" err="1"/>
              <a:t>meio</a:t>
            </a:r>
            <a:r>
              <a:rPr lang="en-US" sz="5400" dirty="0"/>
              <a:t>:</a:t>
            </a:r>
          </a:p>
          <a:p>
            <a:pPr algn="ctr">
              <a:buFont typeface="Arial" charset="0"/>
              <a:buNone/>
            </a:pPr>
            <a:endParaRPr lang="en-US" sz="5400" dirty="0"/>
          </a:p>
          <a:p>
            <a:pPr lvl="1" algn="ctr">
              <a:buFont typeface="Wingdings" pitchFamily="2" charset="2"/>
              <a:buChar char="ü"/>
            </a:pPr>
            <a:r>
              <a:rPr lang="en-US" sz="4800" dirty="0"/>
              <a:t>Com as </a:t>
            </a:r>
            <a:r>
              <a:rPr lang="en-US" sz="4800" dirty="0" err="1"/>
              <a:t>Vendas</a:t>
            </a:r>
            <a:r>
              <a:rPr lang="en-US" sz="4800" dirty="0"/>
              <a:t> (</a:t>
            </a:r>
            <a:r>
              <a:rPr lang="en-US" sz="4800" dirty="0" err="1"/>
              <a:t>Comerciais</a:t>
            </a:r>
            <a:r>
              <a:rPr lang="en-US" sz="4800" dirty="0"/>
              <a:t>)</a:t>
            </a:r>
          </a:p>
          <a:p>
            <a:pPr lvl="1" algn="ctr">
              <a:buFont typeface="Wingdings" pitchFamily="2" charset="2"/>
              <a:buChar char="ü"/>
            </a:pPr>
            <a:r>
              <a:rPr lang="en-US" sz="4800" dirty="0"/>
              <a:t>Com o </a:t>
            </a:r>
            <a:r>
              <a:rPr lang="en-US" sz="4800" dirty="0" err="1"/>
              <a:t>Administrativo</a:t>
            </a:r>
            <a:r>
              <a:rPr lang="en-US" sz="4800" dirty="0"/>
              <a:t> (</a:t>
            </a:r>
            <a:r>
              <a:rPr lang="en-US" sz="4800" dirty="0" err="1"/>
              <a:t>Burocrático</a:t>
            </a:r>
            <a:r>
              <a:rPr lang="en-US" sz="4800" dirty="0"/>
              <a:t>)</a:t>
            </a:r>
          </a:p>
          <a:p>
            <a:pPr lvl="1" algn="ctr">
              <a:buFont typeface="Wingdings" pitchFamily="2" charset="2"/>
              <a:buChar char="ü"/>
            </a:pPr>
            <a:r>
              <a:rPr lang="en-US" sz="4800" dirty="0"/>
              <a:t>Com o </a:t>
            </a:r>
            <a:r>
              <a:rPr lang="en-US" sz="4800" dirty="0" err="1"/>
              <a:t>Financeiro</a:t>
            </a:r>
            <a:r>
              <a:rPr lang="en-US" sz="4800" dirty="0"/>
              <a:t> (</a:t>
            </a:r>
            <a:r>
              <a:rPr lang="en-US" sz="4800" dirty="0" err="1"/>
              <a:t>juros</a:t>
            </a:r>
            <a:r>
              <a:rPr lang="en-US" sz="4800" dirty="0"/>
              <a:t> e </a:t>
            </a:r>
            <a:r>
              <a:rPr lang="en-US" sz="4800" dirty="0" err="1"/>
              <a:t>taxas</a:t>
            </a:r>
            <a:r>
              <a:rPr lang="en-US" sz="4800" dirty="0"/>
              <a:t> </a:t>
            </a:r>
            <a:r>
              <a:rPr lang="en-US" sz="4800" dirty="0" err="1"/>
              <a:t>bancárias</a:t>
            </a:r>
            <a:r>
              <a:rPr lang="en-US" sz="4800" dirty="0"/>
              <a:t>)</a:t>
            </a:r>
            <a:endParaRPr lang="pt-BR" sz="48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785770" y="857220"/>
            <a:ext cx="10572824" cy="1059135"/>
          </a:xfrm>
        </p:spPr>
        <p:txBody>
          <a:bodyPr/>
          <a:lstStyle/>
          <a:p>
            <a:pPr algn="ctr"/>
            <a:r>
              <a:rPr lang="en-US" sz="6000" dirty="0" err="1">
                <a:solidFill>
                  <a:schemeClr val="tx1"/>
                </a:solidFill>
                <a:latin typeface="Arial" charset="0"/>
                <a:cs typeface="Arial" charset="0"/>
              </a:rPr>
              <a:t>Compreensão</a:t>
            </a:r>
            <a:r>
              <a:rPr lang="en-US" sz="6000" dirty="0">
                <a:solidFill>
                  <a:schemeClr val="tx1"/>
                </a:solidFill>
                <a:latin typeface="Arial" charset="0"/>
                <a:cs typeface="Arial" charset="0"/>
              </a:rPr>
              <a:t> dos </a:t>
            </a:r>
            <a:r>
              <a:rPr lang="en-US" sz="6000" dirty="0" err="1">
                <a:solidFill>
                  <a:schemeClr val="tx1"/>
                </a:solidFill>
                <a:latin typeface="Arial" charset="0"/>
                <a:cs typeface="Arial" charset="0"/>
              </a:rPr>
              <a:t>Termos</a:t>
            </a:r>
            <a:br>
              <a:rPr lang="en-US" sz="6000" dirty="0">
                <a:solidFill>
                  <a:schemeClr val="tx1"/>
                </a:solidFill>
                <a:latin typeface="Arial" charset="0"/>
                <a:cs typeface="Arial" charset="0"/>
              </a:rPr>
            </a:br>
            <a:endParaRPr lang="pt-BR" sz="60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1279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7" name="Rectangle 3"/>
          <p:cNvSpPr>
            <a:spLocks noChangeArrowheads="1"/>
          </p:cNvSpPr>
          <p:nvPr/>
        </p:nvSpPr>
        <p:spPr bwMode="auto">
          <a:xfrm>
            <a:off x="592932" y="2659857"/>
            <a:ext cx="11989593" cy="669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8113" tIns="69057" rIns="138113" bIns="69057"/>
          <a:lstStyle/>
          <a:p>
            <a:pPr marL="421482" algn="ctr">
              <a:defRPr/>
            </a:pPr>
            <a:r>
              <a:rPr lang="pt-BR" sz="6000" b="1" dirty="0">
                <a:ea typeface="Verdana" pitchFamily="34" charset="0"/>
              </a:rPr>
              <a:t>Perda</a:t>
            </a:r>
            <a:r>
              <a:rPr lang="pt-BR" sz="6000" b="1" dirty="0">
                <a:latin typeface="+mn-lt"/>
                <a:ea typeface="Verdana" pitchFamily="34" charset="0"/>
                <a:cs typeface="Verdana" pitchFamily="34" charset="0"/>
              </a:rPr>
              <a:t> </a:t>
            </a:r>
          </a:p>
          <a:p>
            <a:pPr marL="0" lvl="2" algn="ctr">
              <a:tabLst>
                <a:tab pos="140495" algn="l"/>
              </a:tabLst>
              <a:defRPr/>
            </a:pPr>
            <a:r>
              <a:rPr lang="pt-BR" sz="5400" dirty="0">
                <a:latin typeface="+mn-lt"/>
                <a:ea typeface="Verdana" pitchFamily="34" charset="0"/>
                <a:cs typeface="Verdana" pitchFamily="34" charset="0"/>
              </a:rPr>
              <a:t>Valores consumidos de forma incontrolável, anormal ou involuntária</a:t>
            </a:r>
          </a:p>
          <a:p>
            <a:pPr marL="1714500" lvl="2" indent="-342900" algn="ctr">
              <a:defRPr/>
            </a:pPr>
            <a:endParaRPr lang="en-US" sz="5400" dirty="0">
              <a:latin typeface="+mn-lt"/>
              <a:ea typeface="Verdana" pitchFamily="34" charset="0"/>
              <a:cs typeface="Verdana" pitchFamily="34" charset="0"/>
            </a:endParaRPr>
          </a:p>
          <a:p>
            <a:pPr marL="0" lvl="2" algn="ctr">
              <a:defRPr/>
            </a:pPr>
            <a:r>
              <a:rPr lang="en-US" sz="5400" dirty="0">
                <a:latin typeface="+mn-lt"/>
                <a:ea typeface="Verdana" pitchFamily="34" charset="0"/>
                <a:cs typeface="Verdana" pitchFamily="34" charset="0"/>
              </a:rPr>
              <a:t>Toda </a:t>
            </a:r>
            <a:r>
              <a:rPr lang="en-US" sz="5400" dirty="0" err="1">
                <a:latin typeface="+mn-lt"/>
                <a:ea typeface="Verdana" pitchFamily="34" charset="0"/>
                <a:cs typeface="Verdana" pitchFamily="34" charset="0"/>
              </a:rPr>
              <a:t>Perda</a:t>
            </a:r>
            <a:r>
              <a:rPr lang="en-US" sz="5400" dirty="0">
                <a:latin typeface="+mn-lt"/>
                <a:ea typeface="Verdana" pitchFamily="34" charset="0"/>
                <a:cs typeface="Verdana" pitchFamily="34" charset="0"/>
              </a:rPr>
              <a:t> </a:t>
            </a:r>
            <a:r>
              <a:rPr lang="en-US" sz="5400" dirty="0" err="1">
                <a:latin typeface="+mn-lt"/>
                <a:ea typeface="Verdana" pitchFamily="34" charset="0"/>
                <a:cs typeface="Verdana" pitchFamily="34" charset="0"/>
              </a:rPr>
              <a:t>esperada</a:t>
            </a:r>
            <a:r>
              <a:rPr lang="en-US" sz="5400" dirty="0">
                <a:latin typeface="+mn-lt"/>
                <a:ea typeface="Verdana" pitchFamily="34" charset="0"/>
                <a:cs typeface="Verdana" pitchFamily="34" charset="0"/>
              </a:rPr>
              <a:t> </a:t>
            </a:r>
            <a:r>
              <a:rPr lang="en-US" sz="5400" dirty="0" err="1">
                <a:latin typeface="+mn-lt"/>
                <a:ea typeface="Verdana" pitchFamily="34" charset="0"/>
                <a:cs typeface="Verdana" pitchFamily="34" charset="0"/>
              </a:rPr>
              <a:t>torna</a:t>
            </a:r>
            <a:r>
              <a:rPr lang="en-US" sz="5400" dirty="0">
                <a:latin typeface="+mn-lt"/>
                <a:ea typeface="Verdana" pitchFamily="34" charset="0"/>
                <a:cs typeface="Verdana" pitchFamily="34" charset="0"/>
              </a:rPr>
              <a:t>-se </a:t>
            </a:r>
            <a:r>
              <a:rPr lang="en-US" sz="5400" dirty="0" err="1">
                <a:latin typeface="+mn-lt"/>
                <a:ea typeface="Verdana" pitchFamily="34" charset="0"/>
                <a:cs typeface="Verdana" pitchFamily="34" charset="0"/>
              </a:rPr>
              <a:t>uma</a:t>
            </a:r>
            <a:r>
              <a:rPr lang="en-US" sz="5400" dirty="0">
                <a:latin typeface="+mn-lt"/>
                <a:ea typeface="Verdana" pitchFamily="34" charset="0"/>
                <a:cs typeface="Verdana" pitchFamily="34" charset="0"/>
              </a:rPr>
              <a:t>…</a:t>
            </a:r>
          </a:p>
          <a:p>
            <a:pPr marL="0" lvl="2" algn="ctr">
              <a:lnSpc>
                <a:spcPct val="150000"/>
              </a:lnSpc>
              <a:defRPr/>
            </a:pPr>
            <a:r>
              <a:rPr lang="en-US" sz="6000" b="1" dirty="0">
                <a:latin typeface="+mn-lt"/>
                <a:ea typeface="Verdana" pitchFamily="34" charset="0"/>
                <a:cs typeface="Verdana" pitchFamily="34" charset="0"/>
              </a:rPr>
              <a:t> </a:t>
            </a:r>
            <a:r>
              <a:rPr lang="en-US" sz="6000" b="1" dirty="0">
                <a:ea typeface="Verdana" pitchFamily="34" charset="0"/>
              </a:rPr>
              <a:t>PROVISÃO</a:t>
            </a:r>
            <a:endParaRPr lang="pt-BR" sz="6000" b="1" dirty="0">
              <a:ea typeface="Verdana" pitchFamily="34" charset="0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785770" y="857220"/>
            <a:ext cx="10572824" cy="105913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j-ea"/>
                <a:cs typeface="Arial" charset="0"/>
              </a:rPr>
              <a:t>Compreensão dos Termos</a:t>
            </a:r>
            <a:br>
              <a:rPr kumimoji="0" lang="en-US" sz="6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j-ea"/>
                <a:cs typeface="Arial" charset="0"/>
              </a:rPr>
            </a:br>
            <a:endParaRPr kumimoji="0" lang="pt-BR" sz="6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j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2612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7" name="Rectangle 3"/>
          <p:cNvSpPr>
            <a:spLocks noChangeArrowheads="1"/>
          </p:cNvSpPr>
          <p:nvPr/>
        </p:nvSpPr>
        <p:spPr bwMode="auto">
          <a:xfrm>
            <a:off x="214266" y="1983606"/>
            <a:ext cx="13123068" cy="669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8113" tIns="69057" rIns="138113" bIns="69057"/>
          <a:lstStyle/>
          <a:p>
            <a:pPr marL="1535907" indent="-1114425" algn="ctr">
              <a:lnSpc>
                <a:spcPct val="150000"/>
              </a:lnSpc>
              <a:defRPr/>
            </a:pPr>
            <a:r>
              <a:rPr lang="en-US" sz="4800" b="1" dirty="0" err="1">
                <a:ea typeface="Verdana" pitchFamily="34" charset="0"/>
              </a:rPr>
              <a:t>Uma</a:t>
            </a:r>
            <a:r>
              <a:rPr lang="en-US" sz="4800" b="1" dirty="0">
                <a:ea typeface="Verdana" pitchFamily="34" charset="0"/>
              </a:rPr>
              <a:t> </a:t>
            </a:r>
            <a:r>
              <a:rPr lang="en-US" sz="4800" b="1" dirty="0" err="1">
                <a:ea typeface="Verdana" pitchFamily="34" charset="0"/>
              </a:rPr>
              <a:t>Camisa</a:t>
            </a:r>
            <a:r>
              <a:rPr lang="en-US" sz="4800" b="1" dirty="0">
                <a:ea typeface="Verdana" pitchFamily="34" charset="0"/>
              </a:rPr>
              <a:t> </a:t>
            </a:r>
            <a:r>
              <a:rPr lang="en-US" sz="4800" b="1" dirty="0" err="1">
                <a:ea typeface="Verdana" pitchFamily="34" charset="0"/>
              </a:rPr>
              <a:t>Branca</a:t>
            </a:r>
            <a:r>
              <a:rPr lang="en-US" sz="4800" b="1" dirty="0">
                <a:ea typeface="Verdana" pitchFamily="34" charset="0"/>
              </a:rPr>
              <a:t>?</a:t>
            </a:r>
          </a:p>
          <a:p>
            <a:pPr marL="421482" algn="just">
              <a:defRPr/>
            </a:pPr>
            <a:r>
              <a:rPr lang="en-US" sz="4200" b="1" dirty="0">
                <a:ea typeface="Verdana" pitchFamily="34" charset="0"/>
              </a:rPr>
              <a:t>O valor do </a:t>
            </a:r>
            <a:r>
              <a:rPr lang="en-US" sz="4200" b="1" dirty="0" err="1">
                <a:ea typeface="Verdana" pitchFamily="34" charset="0"/>
              </a:rPr>
              <a:t>Tecido</a:t>
            </a:r>
            <a:r>
              <a:rPr lang="en-US" sz="4200" b="1" dirty="0">
                <a:ea typeface="Verdana" pitchFamily="34" charset="0"/>
              </a:rPr>
              <a:t> (MAT) ………………….  $15,00</a:t>
            </a:r>
          </a:p>
          <a:p>
            <a:pPr marL="421482" algn="just">
              <a:defRPr/>
            </a:pPr>
            <a:r>
              <a:rPr lang="en-US" sz="4200" b="1" dirty="0">
                <a:ea typeface="Verdana" pitchFamily="34" charset="0"/>
              </a:rPr>
              <a:t>+O valor da </a:t>
            </a:r>
            <a:r>
              <a:rPr lang="en-US" sz="4200" b="1" dirty="0" err="1">
                <a:ea typeface="Verdana" pitchFamily="34" charset="0"/>
              </a:rPr>
              <a:t>Hora</a:t>
            </a:r>
            <a:r>
              <a:rPr lang="en-US" sz="4200" b="1" dirty="0">
                <a:ea typeface="Verdana" pitchFamily="34" charset="0"/>
              </a:rPr>
              <a:t> </a:t>
            </a:r>
            <a:r>
              <a:rPr lang="en-US" sz="4200" b="1" dirty="0" err="1">
                <a:ea typeface="Verdana" pitchFamily="34" charset="0"/>
              </a:rPr>
              <a:t>Costureira</a:t>
            </a:r>
            <a:r>
              <a:rPr lang="en-US" sz="4200" b="1" dirty="0">
                <a:ea typeface="Verdana" pitchFamily="34" charset="0"/>
              </a:rPr>
              <a:t> (MOD)…….. $10,00</a:t>
            </a:r>
          </a:p>
          <a:p>
            <a:pPr marL="421482" algn="just">
              <a:defRPr/>
            </a:pPr>
            <a:r>
              <a:rPr lang="en-US" sz="4200" b="1" dirty="0">
                <a:ea typeface="Verdana" pitchFamily="34" charset="0"/>
              </a:rPr>
              <a:t>= Custo </a:t>
            </a:r>
            <a:r>
              <a:rPr lang="en-US" sz="4200" b="1" dirty="0" err="1">
                <a:ea typeface="Verdana" pitchFamily="34" charset="0"/>
              </a:rPr>
              <a:t>Primário</a:t>
            </a:r>
            <a:r>
              <a:rPr lang="en-US" sz="4200" b="1" dirty="0">
                <a:ea typeface="Verdana" pitchFamily="34" charset="0"/>
              </a:rPr>
              <a:t> e SUBAVALIADO …... = $25,00</a:t>
            </a:r>
          </a:p>
          <a:p>
            <a:pPr marL="421482" algn="just">
              <a:defRPr/>
            </a:pPr>
            <a:endParaRPr lang="en-US" sz="4200" b="1" dirty="0">
              <a:ea typeface="Verdana" pitchFamily="34" charset="0"/>
            </a:endParaRPr>
          </a:p>
          <a:p>
            <a:pPr marL="421482" algn="ctr">
              <a:lnSpc>
                <a:spcPct val="150000"/>
              </a:lnSpc>
              <a:defRPr/>
            </a:pPr>
            <a:r>
              <a:rPr lang="en-US" sz="4200" b="1" dirty="0">
                <a:ea typeface="Verdana" pitchFamily="34" charset="0"/>
              </a:rPr>
              <a:t>E o Custo da </a:t>
            </a:r>
            <a:r>
              <a:rPr lang="en-US" sz="4200" b="1" dirty="0" err="1">
                <a:ea typeface="Verdana" pitchFamily="34" charset="0"/>
              </a:rPr>
              <a:t>Máquina</a:t>
            </a:r>
            <a:r>
              <a:rPr lang="en-US" sz="4200" b="1" dirty="0">
                <a:ea typeface="Verdana" pitchFamily="34" charset="0"/>
              </a:rPr>
              <a:t> e do </a:t>
            </a:r>
            <a:r>
              <a:rPr lang="en-US" sz="4200" b="1" dirty="0" err="1">
                <a:ea typeface="Verdana" pitchFamily="34" charset="0"/>
              </a:rPr>
              <a:t>ponto</a:t>
            </a:r>
            <a:r>
              <a:rPr lang="en-US" sz="4200" b="1" dirty="0">
                <a:ea typeface="Verdana" pitchFamily="34" charset="0"/>
              </a:rPr>
              <a:t> de produção que </a:t>
            </a:r>
            <a:r>
              <a:rPr lang="en-US" sz="4200" b="1" dirty="0" err="1">
                <a:ea typeface="Verdana" pitchFamily="34" charset="0"/>
              </a:rPr>
              <a:t>são</a:t>
            </a:r>
            <a:r>
              <a:rPr lang="en-US" sz="4200" b="1" dirty="0">
                <a:ea typeface="Verdana" pitchFamily="34" charset="0"/>
              </a:rPr>
              <a:t> do AMBIENTE DE PRODUÇÃO, QUANTO  CUSTAM?</a:t>
            </a:r>
            <a:endParaRPr lang="pt-BR" sz="4200" b="1" dirty="0">
              <a:ea typeface="Verdana" pitchFamily="34" charset="0"/>
            </a:endParaRPr>
          </a:p>
        </p:txBody>
      </p:sp>
      <p:sp>
        <p:nvSpPr>
          <p:cNvPr id="7171" name="Título 1"/>
          <p:cNvSpPr txBox="1">
            <a:spLocks/>
          </p:cNvSpPr>
          <p:nvPr/>
        </p:nvSpPr>
        <p:spPr bwMode="auto">
          <a:xfrm>
            <a:off x="500018" y="857220"/>
            <a:ext cx="6000792" cy="1059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7160" tIns="68580" rIns="137160" bIns="68580"/>
          <a:lstStyle/>
          <a:p>
            <a:pPr algn="ctr" defTabSz="1028700">
              <a:lnSpc>
                <a:spcPct val="90000"/>
              </a:lnSpc>
            </a:pPr>
            <a:r>
              <a:rPr lang="en-US" sz="5400" b="1" dirty="0"/>
              <a:t>Quanto CUSTA?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5804964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7" name="Rectangle 3"/>
          <p:cNvSpPr>
            <a:spLocks noChangeArrowheads="1"/>
          </p:cNvSpPr>
          <p:nvPr/>
        </p:nvSpPr>
        <p:spPr bwMode="auto">
          <a:xfrm>
            <a:off x="321423" y="2035947"/>
            <a:ext cx="12751683" cy="7393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8113" tIns="69057" rIns="138113" bIns="69057"/>
          <a:lstStyle/>
          <a:p>
            <a:pPr marL="1535907" indent="-1114425" algn="ctr">
              <a:lnSpc>
                <a:spcPct val="150000"/>
              </a:lnSpc>
              <a:defRPr/>
            </a:pPr>
            <a:r>
              <a:rPr lang="en-US" sz="6600" b="1" dirty="0" err="1">
                <a:ea typeface="Verdana" pitchFamily="34" charset="0"/>
              </a:rPr>
              <a:t>Uma</a:t>
            </a:r>
            <a:r>
              <a:rPr lang="en-US" sz="6600" b="1" dirty="0">
                <a:ea typeface="Verdana" pitchFamily="34" charset="0"/>
              </a:rPr>
              <a:t> </a:t>
            </a:r>
            <a:r>
              <a:rPr lang="en-US" sz="6600" b="1" dirty="0" err="1">
                <a:ea typeface="Verdana" pitchFamily="34" charset="0"/>
              </a:rPr>
              <a:t>Carona</a:t>
            </a:r>
            <a:r>
              <a:rPr lang="en-US" sz="6600" b="1" dirty="0">
                <a:ea typeface="Verdana" pitchFamily="34" charset="0"/>
              </a:rPr>
              <a:t>?</a:t>
            </a:r>
          </a:p>
          <a:p>
            <a:pPr marL="421482" algn="just">
              <a:defRPr/>
            </a:pPr>
            <a:r>
              <a:rPr lang="en-US" sz="4800" b="1" dirty="0">
                <a:ea typeface="Verdana" pitchFamily="34" charset="0"/>
              </a:rPr>
              <a:t>O valor do </a:t>
            </a:r>
            <a:r>
              <a:rPr lang="en-US" sz="4800" b="1" dirty="0" err="1">
                <a:ea typeface="Verdana" pitchFamily="34" charset="0"/>
              </a:rPr>
              <a:t>Combustível</a:t>
            </a:r>
            <a:r>
              <a:rPr lang="en-US" sz="4800" b="1" dirty="0">
                <a:ea typeface="Verdana" pitchFamily="34" charset="0"/>
              </a:rPr>
              <a:t> (MAT) …  $20,00</a:t>
            </a:r>
          </a:p>
          <a:p>
            <a:pPr marL="421482" algn="just">
              <a:defRPr/>
            </a:pPr>
            <a:r>
              <a:rPr lang="en-US" sz="4800" b="1" dirty="0">
                <a:ea typeface="Verdana" pitchFamily="34" charset="0"/>
              </a:rPr>
              <a:t>= Custo SUBAVALIADO ……..… = $20,00</a:t>
            </a:r>
          </a:p>
          <a:p>
            <a:pPr marL="421482" algn="just">
              <a:defRPr/>
            </a:pPr>
            <a:endParaRPr lang="en-US" sz="4800" b="1" dirty="0">
              <a:ea typeface="Verdana" pitchFamily="34" charset="0"/>
            </a:endParaRPr>
          </a:p>
          <a:p>
            <a:pPr marL="421482" algn="just">
              <a:defRPr/>
            </a:pPr>
            <a:r>
              <a:rPr lang="en-US" sz="4800" b="1" dirty="0">
                <a:ea typeface="Verdana" pitchFamily="34" charset="0"/>
              </a:rPr>
              <a:t>E o Custo da </a:t>
            </a:r>
            <a:r>
              <a:rPr lang="en-US" sz="4800" b="1" dirty="0" err="1">
                <a:ea typeface="Verdana" pitchFamily="34" charset="0"/>
              </a:rPr>
              <a:t>hora</a:t>
            </a:r>
            <a:r>
              <a:rPr lang="en-US" sz="4800" b="1" dirty="0">
                <a:ea typeface="Verdana" pitchFamily="34" charset="0"/>
              </a:rPr>
              <a:t> do </a:t>
            </a:r>
            <a:r>
              <a:rPr lang="en-US" sz="4800" b="1" dirty="0" err="1">
                <a:ea typeface="Verdana" pitchFamily="34" charset="0"/>
              </a:rPr>
              <a:t>Motorista</a:t>
            </a:r>
            <a:r>
              <a:rPr lang="en-US" sz="4800" b="1" dirty="0">
                <a:ea typeface="Verdana" pitchFamily="34" charset="0"/>
              </a:rPr>
              <a:t>? </a:t>
            </a:r>
          </a:p>
          <a:p>
            <a:pPr marL="421482" algn="just">
              <a:defRPr/>
            </a:pPr>
            <a:r>
              <a:rPr lang="en-US" sz="4800" b="1" dirty="0">
                <a:ea typeface="Verdana" pitchFamily="34" charset="0"/>
              </a:rPr>
              <a:t>E do </a:t>
            </a:r>
            <a:r>
              <a:rPr lang="en-US" sz="4800" b="1" dirty="0" err="1">
                <a:ea typeface="Verdana" pitchFamily="34" charset="0"/>
              </a:rPr>
              <a:t>Carro</a:t>
            </a:r>
            <a:r>
              <a:rPr lang="en-US" sz="4800" b="1" dirty="0">
                <a:ea typeface="Verdana" pitchFamily="34" charset="0"/>
              </a:rPr>
              <a:t> que é o AMBIENTE DE PRODUÇÃO?</a:t>
            </a:r>
          </a:p>
          <a:p>
            <a:pPr marL="421482" algn="ctr">
              <a:defRPr/>
            </a:pPr>
            <a:r>
              <a:rPr lang="en-US" sz="4800" b="1" dirty="0">
                <a:ea typeface="Verdana" pitchFamily="34" charset="0"/>
              </a:rPr>
              <a:t>QUANTO  CUSTAM?</a:t>
            </a:r>
            <a:endParaRPr lang="pt-BR" sz="4800" b="1" dirty="0">
              <a:ea typeface="Verdana" pitchFamily="34" charset="0"/>
            </a:endParaRPr>
          </a:p>
        </p:txBody>
      </p:sp>
      <p:sp>
        <p:nvSpPr>
          <p:cNvPr id="4" name="Título 1"/>
          <p:cNvSpPr txBox="1">
            <a:spLocks/>
          </p:cNvSpPr>
          <p:nvPr/>
        </p:nvSpPr>
        <p:spPr bwMode="auto">
          <a:xfrm>
            <a:off x="750051" y="726282"/>
            <a:ext cx="6000792" cy="1059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7160" tIns="68580" rIns="137160" bIns="68580"/>
          <a:lstStyle/>
          <a:p>
            <a:pPr algn="ctr" defTabSz="1028700">
              <a:lnSpc>
                <a:spcPct val="90000"/>
              </a:lnSpc>
            </a:pPr>
            <a:r>
              <a:rPr lang="en-US" sz="5400" b="1" dirty="0"/>
              <a:t>Quanto CUSTA?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15063630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164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7" name="Rectangle 3"/>
          <p:cNvSpPr>
            <a:spLocks noChangeArrowheads="1"/>
          </p:cNvSpPr>
          <p:nvPr/>
        </p:nvSpPr>
        <p:spPr bwMode="auto">
          <a:xfrm>
            <a:off x="321423" y="1714476"/>
            <a:ext cx="12751683" cy="8036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8113" tIns="69057" rIns="138113" bIns="69057"/>
          <a:lstStyle/>
          <a:p>
            <a:pPr marL="1535907" indent="-1114425" algn="ctr">
              <a:defRPr/>
            </a:pPr>
            <a:r>
              <a:rPr lang="en-US" sz="6000" b="1" dirty="0">
                <a:ea typeface="Verdana" pitchFamily="34" charset="0"/>
              </a:rPr>
              <a:t>Um final de </a:t>
            </a:r>
            <a:r>
              <a:rPr lang="en-US" sz="6000" b="1" dirty="0" err="1">
                <a:ea typeface="Verdana" pitchFamily="34" charset="0"/>
              </a:rPr>
              <a:t>semana</a:t>
            </a:r>
            <a:r>
              <a:rPr lang="en-US" sz="6000" b="1" dirty="0">
                <a:ea typeface="Verdana" pitchFamily="34" charset="0"/>
              </a:rPr>
              <a:t> </a:t>
            </a:r>
            <a:r>
              <a:rPr lang="en-US" sz="6000" b="1" dirty="0" err="1">
                <a:ea typeface="Verdana" pitchFamily="34" charset="0"/>
              </a:rPr>
              <a:t>na</a:t>
            </a:r>
            <a:r>
              <a:rPr lang="en-US" sz="6000" b="1" dirty="0">
                <a:ea typeface="Verdana" pitchFamily="34" charset="0"/>
              </a:rPr>
              <a:t> Casa de Praia de um Amigo?</a:t>
            </a:r>
          </a:p>
          <a:p>
            <a:pPr marL="1535907" indent="-1114425" algn="ctr">
              <a:defRPr/>
            </a:pPr>
            <a:endParaRPr lang="en-US" sz="6000" b="1" dirty="0">
              <a:ea typeface="Verdana" pitchFamily="34" charset="0"/>
            </a:endParaRPr>
          </a:p>
          <a:p>
            <a:pPr marL="421482" algn="just">
              <a:defRPr/>
            </a:pPr>
            <a:r>
              <a:rPr lang="en-US" sz="4800" b="1" dirty="0">
                <a:ea typeface="Verdana" pitchFamily="34" charset="0"/>
              </a:rPr>
              <a:t>O valor do </a:t>
            </a:r>
            <a:r>
              <a:rPr lang="en-US" sz="4800" b="1" dirty="0" err="1">
                <a:ea typeface="Verdana" pitchFamily="34" charset="0"/>
              </a:rPr>
              <a:t>Carvão</a:t>
            </a:r>
            <a:r>
              <a:rPr lang="en-US" sz="4800" b="1" dirty="0">
                <a:ea typeface="Verdana" pitchFamily="34" charset="0"/>
              </a:rPr>
              <a:t>, das </a:t>
            </a:r>
            <a:r>
              <a:rPr lang="en-US" sz="4800" b="1" dirty="0" err="1">
                <a:ea typeface="Verdana" pitchFamily="34" charset="0"/>
              </a:rPr>
              <a:t>Bebidas</a:t>
            </a:r>
            <a:r>
              <a:rPr lang="en-US" sz="4800" b="1" dirty="0">
                <a:ea typeface="Verdana" pitchFamily="34" charset="0"/>
              </a:rPr>
              <a:t>, das Carnes do </a:t>
            </a:r>
            <a:r>
              <a:rPr lang="en-US" sz="4800" b="1" dirty="0" err="1">
                <a:ea typeface="Verdana" pitchFamily="34" charset="0"/>
              </a:rPr>
              <a:t>Churrasco</a:t>
            </a:r>
            <a:r>
              <a:rPr lang="en-US" sz="4800" b="1" dirty="0">
                <a:ea typeface="Verdana" pitchFamily="34" charset="0"/>
              </a:rPr>
              <a:t> (MAT) …  $?????</a:t>
            </a:r>
          </a:p>
          <a:p>
            <a:pPr marL="421482" algn="just">
              <a:defRPr/>
            </a:pPr>
            <a:r>
              <a:rPr lang="en-US" sz="4800" b="1" dirty="0">
                <a:ea typeface="Verdana" pitchFamily="34" charset="0"/>
              </a:rPr>
              <a:t>= Custo SUBAVALIADO ……… = $?????</a:t>
            </a:r>
          </a:p>
          <a:p>
            <a:pPr marL="421482" algn="just">
              <a:defRPr/>
            </a:pPr>
            <a:endParaRPr lang="en-US" sz="4800" b="1" dirty="0">
              <a:ea typeface="Verdana" pitchFamily="34" charset="0"/>
            </a:endParaRPr>
          </a:p>
          <a:p>
            <a:pPr marL="421482" algn="ctr">
              <a:lnSpc>
                <a:spcPct val="150000"/>
              </a:lnSpc>
              <a:defRPr/>
            </a:pPr>
            <a:r>
              <a:rPr lang="en-US" sz="4800" b="1" dirty="0">
                <a:ea typeface="Verdana" pitchFamily="34" charset="0"/>
              </a:rPr>
              <a:t>O que </a:t>
            </a:r>
            <a:r>
              <a:rPr lang="en-US" sz="4800" b="1" dirty="0" err="1">
                <a:ea typeface="Verdana" pitchFamily="34" charset="0"/>
              </a:rPr>
              <a:t>faltou</a:t>
            </a:r>
            <a:r>
              <a:rPr lang="en-US" sz="4800" b="1" dirty="0">
                <a:ea typeface="Verdana" pitchFamily="34" charset="0"/>
              </a:rPr>
              <a:t> </a:t>
            </a:r>
            <a:r>
              <a:rPr lang="en-US" sz="4800" b="1" dirty="0" err="1">
                <a:ea typeface="Verdana" pitchFamily="34" charset="0"/>
              </a:rPr>
              <a:t>apurar</a:t>
            </a:r>
            <a:r>
              <a:rPr lang="en-US" sz="4800" b="1" dirty="0">
                <a:ea typeface="Verdana" pitchFamily="34" charset="0"/>
              </a:rPr>
              <a:t> </a:t>
            </a:r>
            <a:r>
              <a:rPr lang="en-US" sz="4800" b="1" dirty="0" err="1">
                <a:ea typeface="Verdana" pitchFamily="34" charset="0"/>
              </a:rPr>
              <a:t>os</a:t>
            </a:r>
            <a:r>
              <a:rPr lang="en-US" sz="4800" b="1" dirty="0">
                <a:ea typeface="Verdana" pitchFamily="34" charset="0"/>
              </a:rPr>
              <a:t> </a:t>
            </a:r>
            <a:r>
              <a:rPr lang="en-US" sz="4800" b="1" dirty="0" err="1">
                <a:ea typeface="Verdana" pitchFamily="34" charset="0"/>
              </a:rPr>
              <a:t>valores</a:t>
            </a:r>
            <a:r>
              <a:rPr lang="en-US" sz="4800" b="1" dirty="0">
                <a:ea typeface="Verdana" pitchFamily="34" charset="0"/>
              </a:rPr>
              <a:t> de </a:t>
            </a:r>
            <a:r>
              <a:rPr lang="en-US" sz="4800" b="1" dirty="0" err="1">
                <a:ea typeface="Verdana" pitchFamily="34" charset="0"/>
              </a:rPr>
              <a:t>Consumo</a:t>
            </a:r>
            <a:r>
              <a:rPr lang="en-US" sz="4800" b="1" dirty="0">
                <a:ea typeface="Verdana" pitchFamily="34" charset="0"/>
              </a:rPr>
              <a:t>?</a:t>
            </a:r>
            <a:endParaRPr lang="pt-BR" sz="4800" b="1" dirty="0">
              <a:ea typeface="Verdana" pitchFamily="34" charset="0"/>
            </a:endParaRPr>
          </a:p>
        </p:txBody>
      </p:sp>
      <p:sp>
        <p:nvSpPr>
          <p:cNvPr id="4" name="Título 1"/>
          <p:cNvSpPr txBox="1">
            <a:spLocks/>
          </p:cNvSpPr>
          <p:nvPr/>
        </p:nvSpPr>
        <p:spPr bwMode="auto">
          <a:xfrm>
            <a:off x="750051" y="440530"/>
            <a:ext cx="6000792" cy="1059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7160" tIns="68580" rIns="137160" bIns="68580"/>
          <a:lstStyle/>
          <a:p>
            <a:pPr algn="ctr" defTabSz="1028700">
              <a:lnSpc>
                <a:spcPct val="90000"/>
              </a:lnSpc>
            </a:pPr>
            <a:r>
              <a:rPr lang="en-US" sz="5400" b="1" dirty="0"/>
              <a:t>Quanto CUSTA?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16935466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084" y="1071534"/>
            <a:ext cx="11658600" cy="1714500"/>
          </a:xfrm>
        </p:spPr>
        <p:txBody>
          <a:bodyPr/>
          <a:lstStyle/>
          <a:p>
            <a:pPr algn="ctr"/>
            <a:r>
              <a:rPr lang="pt-BR" sz="6000" dirty="0">
                <a:solidFill>
                  <a:schemeClr val="tx1"/>
                </a:solidFill>
              </a:rPr>
              <a:t>Elementos de Custo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57142" y="3214674"/>
            <a:ext cx="12751683" cy="6036511"/>
          </a:xfrm>
          <a:prstGeom prst="rect">
            <a:avLst/>
          </a:prstGeom>
        </p:spPr>
        <p:txBody>
          <a:bodyPr lIns="137160" tIns="68580" rIns="137160" bIns="68580"/>
          <a:lstStyle/>
          <a:p>
            <a:pPr algn="ctr"/>
            <a:r>
              <a:rPr lang="pt-BR" sz="4400" u="sng" dirty="0"/>
              <a:t>MAT </a:t>
            </a:r>
          </a:p>
          <a:p>
            <a:pPr algn="ctr">
              <a:buFontTx/>
              <a:buNone/>
            </a:pPr>
            <a:r>
              <a:rPr lang="pt-BR" sz="4400" dirty="0"/>
              <a:t>Material Aplicado no procedimento ou processo produtivo</a:t>
            </a:r>
          </a:p>
          <a:p>
            <a:pPr algn="ctr"/>
            <a:r>
              <a:rPr lang="pt-BR" sz="4400" u="sng" dirty="0"/>
              <a:t>MOD</a:t>
            </a:r>
            <a:r>
              <a:rPr lang="pt-BR" sz="4400" dirty="0"/>
              <a:t> </a:t>
            </a:r>
          </a:p>
          <a:p>
            <a:pPr algn="ctr">
              <a:buFontTx/>
              <a:buNone/>
            </a:pPr>
            <a:r>
              <a:rPr lang="pt-BR" sz="4400" dirty="0"/>
              <a:t>Mão-de-obra direta (Equipe de trabalho)</a:t>
            </a:r>
          </a:p>
          <a:p>
            <a:pPr algn="ctr"/>
            <a:r>
              <a:rPr lang="pt-BR" sz="4400" u="sng" dirty="0"/>
              <a:t>CIF  ou  GGF</a:t>
            </a:r>
            <a:r>
              <a:rPr lang="pt-BR" sz="4400" dirty="0"/>
              <a:t> </a:t>
            </a:r>
          </a:p>
          <a:p>
            <a:pPr algn="ctr">
              <a:buFontTx/>
              <a:buNone/>
            </a:pPr>
            <a:r>
              <a:rPr lang="pt-BR" sz="4400" dirty="0"/>
              <a:t>Custos Indiretos de Fabricação ou Gastos Gerais de Fabricação (Ambiente de Produção)</a:t>
            </a:r>
          </a:p>
        </p:txBody>
      </p:sp>
    </p:spTree>
    <p:extLst>
      <p:ext uri="{BB962C8B-B14F-4D97-AF65-F5344CB8AC3E}">
        <p14:creationId xmlns:p14="http://schemas.microsoft.com/office/powerpoint/2010/main" val="3558634906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3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05272" y="679004"/>
            <a:ext cx="11658600" cy="2160240"/>
          </a:xfrm>
        </p:spPr>
        <p:txBody>
          <a:bodyPr/>
          <a:lstStyle/>
          <a:p>
            <a:pPr algn="ctr"/>
            <a:r>
              <a:rPr lang="pt-BR" sz="6000" dirty="0">
                <a:solidFill>
                  <a:schemeClr val="tx1"/>
                </a:solidFill>
              </a:rPr>
              <a:t>Como se calcula o Custo do Procedimento?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9248" y="3127276"/>
            <a:ext cx="12751683" cy="6736262"/>
          </a:xfrm>
          <a:prstGeom prst="rect">
            <a:avLst/>
          </a:prstGeom>
        </p:spPr>
        <p:txBody>
          <a:bodyPr lIns="137160" tIns="68580" rIns="137160" bIns="68580"/>
          <a:lstStyle/>
          <a:p>
            <a:pPr algn="ctr"/>
            <a:r>
              <a:rPr lang="pt-BR" sz="4400" b="1" u="sng" dirty="0"/>
              <a:t>MAT </a:t>
            </a:r>
            <a:r>
              <a:rPr lang="pt-BR" sz="4400" b="1" dirty="0"/>
              <a:t>= </a:t>
            </a:r>
            <a:r>
              <a:rPr lang="pt-BR" sz="4400" dirty="0"/>
              <a:t>Material Aplicado no procedimento ou processo produtivo</a:t>
            </a:r>
          </a:p>
          <a:p>
            <a:pPr marL="0" indent="0" algn="ctr">
              <a:buNone/>
            </a:pPr>
            <a:r>
              <a:rPr lang="pt-BR" sz="4400" dirty="0"/>
              <a:t>+</a:t>
            </a:r>
          </a:p>
          <a:p>
            <a:pPr algn="ctr"/>
            <a:r>
              <a:rPr lang="pt-BR" sz="4400" b="1" u="sng" dirty="0"/>
              <a:t>MOD</a:t>
            </a:r>
            <a:r>
              <a:rPr lang="pt-BR" sz="4400" b="1" dirty="0"/>
              <a:t> = </a:t>
            </a:r>
            <a:r>
              <a:rPr lang="pt-BR" sz="4400" dirty="0"/>
              <a:t>Mão-de-obra direta (Equipe de trabalho)</a:t>
            </a:r>
          </a:p>
          <a:p>
            <a:pPr marL="0" indent="0" algn="ctr">
              <a:buNone/>
            </a:pPr>
            <a:r>
              <a:rPr lang="pt-BR" sz="4400" dirty="0"/>
              <a:t>+</a:t>
            </a:r>
          </a:p>
          <a:p>
            <a:pPr algn="ctr"/>
            <a:r>
              <a:rPr lang="pt-BR" sz="4400" b="1" u="sng" dirty="0"/>
              <a:t>CIF  ou  GGF</a:t>
            </a:r>
            <a:r>
              <a:rPr lang="pt-BR" sz="4400" b="1" dirty="0"/>
              <a:t> = </a:t>
            </a:r>
            <a:r>
              <a:rPr lang="pt-BR" sz="4400" dirty="0"/>
              <a:t>Custos Indiretos de Fabricação do Serviço ou Gastos Gerais de Fabricação do Serviço (Ambiente de Produção), normalmente é compartilhado e vai para o RATEIO</a:t>
            </a:r>
          </a:p>
        </p:txBody>
      </p:sp>
    </p:spTree>
    <p:extLst>
      <p:ext uri="{BB962C8B-B14F-4D97-AF65-F5344CB8AC3E}">
        <p14:creationId xmlns:p14="http://schemas.microsoft.com/office/powerpoint/2010/main" val="4136868534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3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6E0FBDFB-B5B6-AB66-FA33-93BBD3167CF1}"/>
              </a:ext>
            </a:extLst>
          </p:cNvPr>
          <p:cNvGraphicFramePr>
            <a:graphicFrameLocks noGrp="1"/>
          </p:cNvGraphicFramePr>
          <p:nvPr/>
        </p:nvGraphicFramePr>
        <p:xfrm>
          <a:off x="305272" y="3190384"/>
          <a:ext cx="11953327" cy="663363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537600">
                  <a:extLst>
                    <a:ext uri="{9D8B030D-6E8A-4147-A177-3AD203B41FA5}">
                      <a16:colId xmlns:a16="http://schemas.microsoft.com/office/drawing/2014/main" val="3024173170"/>
                    </a:ext>
                  </a:extLst>
                </a:gridCol>
                <a:gridCol w="1626974">
                  <a:extLst>
                    <a:ext uri="{9D8B030D-6E8A-4147-A177-3AD203B41FA5}">
                      <a16:colId xmlns:a16="http://schemas.microsoft.com/office/drawing/2014/main" val="2756363003"/>
                    </a:ext>
                  </a:extLst>
                </a:gridCol>
                <a:gridCol w="1788753">
                  <a:extLst>
                    <a:ext uri="{9D8B030D-6E8A-4147-A177-3AD203B41FA5}">
                      <a16:colId xmlns:a16="http://schemas.microsoft.com/office/drawing/2014/main" val="2585027467"/>
                    </a:ext>
                  </a:extLst>
                </a:gridCol>
              </a:tblGrid>
              <a:tr h="41211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Itens ou Contas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CUSTOS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DESPESAS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942869"/>
                  </a:ext>
                </a:extLst>
              </a:tr>
              <a:tr h="451986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Salários apropriados (aplicados nos serviços) Médicos e Enfermeiros (MOD) 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31325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Salários da administração 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243672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Insumos consumidos no Procedimento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6933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Gastos com a recepção, agendamento, secretaria administrativa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185994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Aluguel da sala de esterilização e consultórios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887899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Energia elétrica de consumo de toda a Clínica (fim e meio)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250999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Depreciação de todos os equipamentos radiológicos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546245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Aluguel de recepção, gerência, escritórios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4265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Internet de todo o complexo hospitalar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542536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IPTU de Consultórios e sala de esterilização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712170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Gastos em vários Serviços odontológicos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690020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Manutenção de equipamentos do escritório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475395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Propaganda dos Serviços em agência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531133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Esterilização dos equipamentos do Procedimento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365096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Manutenção corretiva de equipamentos do Consultório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310444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C7B675B3-ABF5-7BC5-E641-A8EC584B9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96" y="305118"/>
            <a:ext cx="1044116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0975" algn="l"/>
              </a:tabLst>
            </a:pPr>
            <a:r>
              <a:rPr kumimoji="0" lang="pt-BR" altLang="pt-BR" sz="3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Classifique os itens abaixo quanto aos</a:t>
            </a:r>
            <a:r>
              <a:rPr kumimoji="0" lang="pt-BR" altLang="pt-B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Gastos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0975" algn="l"/>
              </a:tabLst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180975" algn="l"/>
              </a:tabLst>
            </a:pPr>
            <a:r>
              <a:rPr kumimoji="0" lang="pt-PT" altLang="pt-BR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Liberation Sans Narrow"/>
              </a:rPr>
              <a:t>  Custo: ligado a Prestação do Serviço, a área médica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80975" algn="l"/>
              </a:tabLst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180975" algn="l"/>
              </a:tabLst>
            </a:pPr>
            <a:r>
              <a:rPr kumimoji="0" lang="pt-PT" altLang="pt-BR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Liberation Sans Narrow"/>
              </a:rPr>
              <a:t>  Despesa: ligada ao suporte Empresarial, a área meio (Administração e Comercial)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0975" algn="l"/>
              </a:tabLst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890690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8" y="2479204"/>
            <a:ext cx="13177464" cy="7166664"/>
          </a:xfrm>
          <a:prstGeom prst="rect">
            <a:avLst/>
          </a:prstGeom>
        </p:spPr>
        <p:txBody>
          <a:bodyPr lIns="137160" tIns="68580" rIns="137160" bIns="68580"/>
          <a:lstStyle/>
          <a:p>
            <a:r>
              <a:rPr lang="pt-BR" sz="4000" dirty="0"/>
              <a:t>Quanto à </a:t>
            </a:r>
            <a:r>
              <a:rPr lang="pt-BR" sz="4000" b="1" dirty="0"/>
              <a:t>alocação ao PROCEDIMENTO</a:t>
            </a:r>
          </a:p>
          <a:p>
            <a:pPr lvl="1"/>
            <a:r>
              <a:rPr lang="pt-BR" sz="4000" b="1" dirty="0"/>
              <a:t>Custos Diretos</a:t>
            </a:r>
          </a:p>
          <a:p>
            <a:pPr lvl="2"/>
            <a:r>
              <a:rPr lang="pt-BR" sz="4000" dirty="0"/>
              <a:t>Facilmente identificados ao produto</a:t>
            </a:r>
          </a:p>
          <a:p>
            <a:pPr lvl="3"/>
            <a:r>
              <a:rPr lang="pt-BR" sz="4000" dirty="0"/>
              <a:t> MAT (Materiais, Insumos, Medicação)</a:t>
            </a:r>
          </a:p>
          <a:p>
            <a:pPr lvl="3"/>
            <a:r>
              <a:rPr lang="pt-BR" sz="4000" dirty="0"/>
              <a:t> MOD (horas da Equipe de trabalho do Procedimento)</a:t>
            </a:r>
          </a:p>
          <a:p>
            <a:pPr lvl="3"/>
            <a:endParaRPr lang="pt-BR" sz="4000" dirty="0"/>
          </a:p>
          <a:p>
            <a:pPr lvl="1"/>
            <a:r>
              <a:rPr lang="pt-BR" sz="4000" b="1" dirty="0"/>
              <a:t>Custos Indiretos</a:t>
            </a:r>
          </a:p>
          <a:p>
            <a:pPr lvl="2"/>
            <a:r>
              <a:rPr lang="pt-BR" sz="4000" dirty="0"/>
              <a:t>Não são identificados a um Procedimento específico, e por isso necessitam de rateio</a:t>
            </a:r>
          </a:p>
          <a:p>
            <a:pPr lvl="3"/>
            <a:r>
              <a:rPr lang="pt-BR" sz="4000" dirty="0"/>
              <a:t> GGF  ou  CIF (gastos com Ambiente Produtivo)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785902" y="1071534"/>
            <a:ext cx="8572512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7160" tIns="68580" rIns="137160" bIns="68580" anchor="ctr"/>
          <a:lstStyle/>
          <a:p>
            <a:pPr algn="ctr">
              <a:lnSpc>
                <a:spcPct val="100000"/>
              </a:lnSpc>
              <a:buFontTx/>
              <a:buNone/>
            </a:pPr>
            <a:r>
              <a:rPr lang="pt-BR" sz="5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Classificação dos Custos</a:t>
            </a:r>
          </a:p>
        </p:txBody>
      </p:sp>
    </p:spTree>
    <p:extLst>
      <p:ext uri="{BB962C8B-B14F-4D97-AF65-F5344CB8AC3E}">
        <p14:creationId xmlns:p14="http://schemas.microsoft.com/office/powerpoint/2010/main" val="253084593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6E0FBDFB-B5B6-AB66-FA33-93BBD3167CF1}"/>
              </a:ext>
            </a:extLst>
          </p:cNvPr>
          <p:cNvGraphicFramePr>
            <a:graphicFrameLocks noGrp="1"/>
          </p:cNvGraphicFramePr>
          <p:nvPr/>
        </p:nvGraphicFramePr>
        <p:xfrm>
          <a:off x="305272" y="3502661"/>
          <a:ext cx="11953327" cy="663363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537600">
                  <a:extLst>
                    <a:ext uri="{9D8B030D-6E8A-4147-A177-3AD203B41FA5}">
                      <a16:colId xmlns:a16="http://schemas.microsoft.com/office/drawing/2014/main" val="3024173170"/>
                    </a:ext>
                  </a:extLst>
                </a:gridCol>
                <a:gridCol w="1626974">
                  <a:extLst>
                    <a:ext uri="{9D8B030D-6E8A-4147-A177-3AD203B41FA5}">
                      <a16:colId xmlns:a16="http://schemas.microsoft.com/office/drawing/2014/main" val="2756363003"/>
                    </a:ext>
                  </a:extLst>
                </a:gridCol>
                <a:gridCol w="1788753">
                  <a:extLst>
                    <a:ext uri="{9D8B030D-6E8A-4147-A177-3AD203B41FA5}">
                      <a16:colId xmlns:a16="http://schemas.microsoft.com/office/drawing/2014/main" val="2585027467"/>
                    </a:ext>
                  </a:extLst>
                </a:gridCol>
              </a:tblGrid>
              <a:tr h="41211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Itens ou Contas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DIRETOS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b="1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INDIRETOS</a:t>
                      </a:r>
                      <a:endParaRPr lang="pt-BR" sz="2000" b="1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942869"/>
                  </a:ext>
                </a:extLst>
              </a:tr>
              <a:tr h="451986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Salários apropriados (aplicados nos serviços) Médicos e Enfermeiros (MOD) 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31325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Salários da administração 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243672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Insumos consumidos no Procedimento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6933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Gastos com a recepção, agendamento, secretaria administrativa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185994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Aluguel da sala de esterilização e consultórios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887899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Energia elétrica de consumo de toda a Clínica (fim e meio)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250999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Depreciação de todos os equipamentos radiológicos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546245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Aluguel de recepção, gerência, escritórios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4265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Internet de todo o complexo hospitalar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542536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IPTU de Consultórios e sala de esterilização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712170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Gastos em vários Serviços odontológicos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690020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Manutenção de equipamentos do escritório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475395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Propaganda dos Serviços em agência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531133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Esterilização dos equipamentos do Procedimento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365096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Manutenção corretiva de equipamentos do Consultório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310444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C7B675B3-ABF5-7BC5-E641-A8EC584B9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96" y="-41076"/>
            <a:ext cx="10081120" cy="346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tabLst>
                <a:tab pos="180340" algn="l"/>
              </a:tabLst>
            </a:pPr>
            <a:r>
              <a:rPr lang="pt-BR" sz="32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Classifique os itens abaixo quanto a </a:t>
            </a:r>
            <a:r>
              <a:rPr lang="pt-BR" sz="3200" b="1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Alocação a 1 Serviço específico</a:t>
            </a:r>
            <a:r>
              <a:rPr lang="pt-BR" sz="32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pt-BR" sz="32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180340" algn="l"/>
              </a:tabLst>
            </a:pPr>
            <a:r>
              <a:rPr lang="pt-BR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 </a:t>
            </a:r>
            <a:endParaRPr lang="pt-BR" sz="1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pt-PT" sz="24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Liberation Sans Narrow"/>
                <a:cs typeface="Arial" panose="020B0604020202020204" pitchFamily="34" charset="0"/>
              </a:rPr>
              <a:t>Específicos (DIRETOS) ou </a:t>
            </a:r>
            <a:endParaRPr lang="pt-BR" sz="24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Liberation Sans Narrow"/>
              <a:ea typeface="Liberation Sans Narrow"/>
              <a:cs typeface="Liberation Sans Narrow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pt-PT" sz="24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Liberation Sans Narrow"/>
                <a:cs typeface="Arial" panose="020B0604020202020204" pitchFamily="34" charset="0"/>
              </a:rPr>
              <a:t>Compartilhados (INDIRETOS), VÃO PARA RATEIO!!!</a:t>
            </a:r>
            <a:endParaRPr lang="pt-BR" sz="24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Liberation Sans Narrow"/>
              <a:ea typeface="Liberation Sans Narrow"/>
              <a:cs typeface="Liberation Sans Narrow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0975" algn="l"/>
              </a:tabLst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070911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49288" y="2191172"/>
            <a:ext cx="11930146" cy="7632848"/>
          </a:xfrm>
          <a:prstGeom prst="rect">
            <a:avLst/>
          </a:prstGeom>
        </p:spPr>
        <p:txBody>
          <a:bodyPr lIns="137160" tIns="68580" rIns="137160" bIns="68580"/>
          <a:lstStyle/>
          <a:p>
            <a:r>
              <a:rPr lang="pt-BR" dirty="0"/>
              <a:t>Quanto ao </a:t>
            </a:r>
            <a:r>
              <a:rPr lang="pt-BR" b="1" dirty="0"/>
              <a:t>Volume de PRODUÇÃO OU EXECUÇÃO</a:t>
            </a:r>
          </a:p>
          <a:p>
            <a:pPr lvl="1"/>
            <a:r>
              <a:rPr lang="pt-BR" sz="3600" b="1" dirty="0"/>
              <a:t>Custos Variáveis</a:t>
            </a:r>
          </a:p>
          <a:p>
            <a:pPr lvl="2"/>
            <a:r>
              <a:rPr lang="pt-BR" sz="3600" dirty="0"/>
              <a:t>Valores que se alteram de acordo com a quantidade de produção de procedimentos </a:t>
            </a:r>
          </a:p>
          <a:p>
            <a:pPr lvl="2"/>
            <a:r>
              <a:rPr lang="pt-BR" sz="3600" dirty="0"/>
              <a:t>É um valor constante por unidade (custo fixo unitário)</a:t>
            </a:r>
          </a:p>
          <a:p>
            <a:pPr marL="1028572" lvl="2" indent="0">
              <a:buNone/>
            </a:pPr>
            <a:endParaRPr lang="pt-BR" sz="3600" dirty="0"/>
          </a:p>
          <a:p>
            <a:pPr lvl="1"/>
            <a:r>
              <a:rPr lang="pt-BR" sz="3600" b="1" dirty="0"/>
              <a:t>Custos Fixos</a:t>
            </a:r>
          </a:p>
          <a:p>
            <a:pPr lvl="2"/>
            <a:r>
              <a:rPr lang="pt-BR" sz="3600" dirty="0"/>
              <a:t>Valores que não se alteram independentemente da quantidade de produção de procedimentos</a:t>
            </a:r>
          </a:p>
          <a:p>
            <a:pPr lvl="2" algn="just"/>
            <a:r>
              <a:rPr lang="pt-BR" sz="3600" dirty="0"/>
              <a:t>Sob o prisma de valor unitário, os custos fixos alteram pelo aumento ou pela redução da quantidade produzida</a:t>
            </a:r>
          </a:p>
          <a:p>
            <a:pPr lvl="2">
              <a:buNone/>
            </a:pPr>
            <a:endParaRPr lang="pt-BR" sz="3600" dirty="0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809328" y="679004"/>
            <a:ext cx="8572512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7160" tIns="68580" rIns="137160" bIns="68580" anchor="ctr"/>
          <a:lstStyle/>
          <a:p>
            <a:pPr algn="ctr">
              <a:lnSpc>
                <a:spcPct val="100000"/>
              </a:lnSpc>
              <a:buFontTx/>
              <a:buNone/>
            </a:pPr>
            <a:r>
              <a:rPr lang="pt-BR" sz="5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Classificação dos Custos</a:t>
            </a:r>
          </a:p>
        </p:txBody>
      </p:sp>
    </p:spTree>
    <p:extLst>
      <p:ext uri="{BB962C8B-B14F-4D97-AF65-F5344CB8AC3E}">
        <p14:creationId xmlns:p14="http://schemas.microsoft.com/office/powerpoint/2010/main" val="1758126917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0" y="1714488"/>
            <a:ext cx="11658600" cy="1071558"/>
          </a:xfrm>
        </p:spPr>
        <p:txBody>
          <a:bodyPr/>
          <a:lstStyle/>
          <a:p>
            <a:r>
              <a:rPr lang="pt-BR" sz="5400" dirty="0">
                <a:latin typeface="Verdana" pitchFamily="34" charset="0"/>
                <a:ea typeface="Verdana" pitchFamily="34" charset="0"/>
                <a:cs typeface="Verdana" pitchFamily="34" charset="0"/>
              </a:rPr>
              <a:t>Comportamento dos Custos</a:t>
            </a:r>
          </a:p>
        </p:txBody>
      </p:sp>
      <p:sp>
        <p:nvSpPr>
          <p:cNvPr id="21507" name="Line 3"/>
          <p:cNvSpPr>
            <a:spLocks noChangeShapeType="1"/>
          </p:cNvSpPr>
          <p:nvPr/>
        </p:nvSpPr>
        <p:spPr bwMode="auto">
          <a:xfrm>
            <a:off x="2743200" y="2743200"/>
            <a:ext cx="0" cy="2400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137160" tIns="68580" rIns="137160" bIns="68580"/>
          <a:lstStyle/>
          <a:p>
            <a:endParaRPr lang="pt-BR"/>
          </a:p>
        </p:txBody>
      </p:sp>
      <p:sp>
        <p:nvSpPr>
          <p:cNvPr id="21508" name="Line 4"/>
          <p:cNvSpPr>
            <a:spLocks noChangeShapeType="1"/>
          </p:cNvSpPr>
          <p:nvPr/>
        </p:nvSpPr>
        <p:spPr bwMode="auto">
          <a:xfrm>
            <a:off x="2743200" y="5143500"/>
            <a:ext cx="251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137160" tIns="68580" rIns="137160" bIns="68580"/>
          <a:lstStyle/>
          <a:p>
            <a:endParaRPr lang="pt-BR"/>
          </a:p>
        </p:txBody>
      </p:sp>
      <p:sp>
        <p:nvSpPr>
          <p:cNvPr id="198661" name="Text Box 5"/>
          <p:cNvSpPr txBox="1">
            <a:spLocks noChangeArrowheads="1"/>
          </p:cNvSpPr>
          <p:nvPr/>
        </p:nvSpPr>
        <p:spPr bwMode="auto">
          <a:xfrm>
            <a:off x="2171700" y="262890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7160" tIns="68580" rIns="137160" bIns="6858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pt-BR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$</a:t>
            </a:r>
          </a:p>
        </p:txBody>
      </p:sp>
      <p:sp>
        <p:nvSpPr>
          <p:cNvPr id="198662" name="Text Box 6"/>
          <p:cNvSpPr txBox="1">
            <a:spLocks noChangeArrowheads="1"/>
          </p:cNvSpPr>
          <p:nvPr/>
        </p:nvSpPr>
        <p:spPr bwMode="auto">
          <a:xfrm>
            <a:off x="4572000" y="502920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7160" tIns="68580" rIns="137160" bIns="6858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pt-BR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Q</a:t>
            </a:r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>
            <a:off x="2743200" y="4114800"/>
            <a:ext cx="251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137160" tIns="68580" rIns="137160" bIns="68580"/>
          <a:lstStyle/>
          <a:p>
            <a:endParaRPr lang="pt-BR"/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>
            <a:off x="9144000" y="2743200"/>
            <a:ext cx="0" cy="2400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137160" tIns="68580" rIns="137160" bIns="68580"/>
          <a:lstStyle/>
          <a:p>
            <a:endParaRPr lang="pt-BR"/>
          </a:p>
        </p:txBody>
      </p:sp>
      <p:sp>
        <p:nvSpPr>
          <p:cNvPr id="21514" name="Line 10"/>
          <p:cNvSpPr>
            <a:spLocks noChangeShapeType="1"/>
          </p:cNvSpPr>
          <p:nvPr/>
        </p:nvSpPr>
        <p:spPr bwMode="auto">
          <a:xfrm>
            <a:off x="9144000" y="5143500"/>
            <a:ext cx="251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137160" tIns="68580" rIns="137160" bIns="68580"/>
          <a:lstStyle/>
          <a:p>
            <a:endParaRPr lang="pt-BR"/>
          </a:p>
        </p:txBody>
      </p:sp>
      <p:sp>
        <p:nvSpPr>
          <p:cNvPr id="198667" name="Text Box 11"/>
          <p:cNvSpPr txBox="1">
            <a:spLocks noChangeArrowheads="1"/>
          </p:cNvSpPr>
          <p:nvPr/>
        </p:nvSpPr>
        <p:spPr bwMode="auto">
          <a:xfrm>
            <a:off x="8572500" y="262890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7160" tIns="68580" rIns="137160" bIns="6858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pt-BR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$</a:t>
            </a:r>
          </a:p>
        </p:txBody>
      </p:sp>
      <p:sp>
        <p:nvSpPr>
          <p:cNvPr id="198668" name="Text Box 12"/>
          <p:cNvSpPr txBox="1">
            <a:spLocks noChangeArrowheads="1"/>
          </p:cNvSpPr>
          <p:nvPr/>
        </p:nvSpPr>
        <p:spPr bwMode="auto">
          <a:xfrm>
            <a:off x="10972800" y="502920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7160" tIns="68580" rIns="137160" bIns="6858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pt-BR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Q</a:t>
            </a:r>
          </a:p>
        </p:txBody>
      </p:sp>
      <p:sp>
        <p:nvSpPr>
          <p:cNvPr id="198669" name="Text Box 13"/>
          <p:cNvSpPr txBox="1">
            <a:spLocks noChangeArrowheads="1"/>
          </p:cNvSpPr>
          <p:nvPr/>
        </p:nvSpPr>
        <p:spPr bwMode="auto">
          <a:xfrm>
            <a:off x="6719664" y="6273924"/>
            <a:ext cx="2057400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7160" tIns="68580" rIns="137160" bIns="6858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pt-BR" sz="2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Custos Variáveis</a:t>
            </a:r>
          </a:p>
        </p:txBody>
      </p:sp>
      <p:sp>
        <p:nvSpPr>
          <p:cNvPr id="21518" name="Line 14"/>
          <p:cNvSpPr>
            <a:spLocks noChangeShapeType="1"/>
          </p:cNvSpPr>
          <p:nvPr/>
        </p:nvSpPr>
        <p:spPr bwMode="auto">
          <a:xfrm flipV="1">
            <a:off x="9144000" y="3200400"/>
            <a:ext cx="2057400" cy="1943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137160" tIns="68580" rIns="137160" bIns="68580"/>
          <a:lstStyle/>
          <a:p>
            <a:endParaRPr lang="pt-BR"/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>
            <a:off x="4914900" y="6286500"/>
            <a:ext cx="0" cy="2400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137160" tIns="68580" rIns="137160" bIns="68580"/>
          <a:lstStyle/>
          <a:p>
            <a:endParaRPr lang="pt-BR"/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>
            <a:off x="4914900" y="8686800"/>
            <a:ext cx="251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137160" tIns="68580" rIns="137160" bIns="68580"/>
          <a:lstStyle/>
          <a:p>
            <a:endParaRPr lang="pt-BR"/>
          </a:p>
        </p:txBody>
      </p:sp>
      <p:sp>
        <p:nvSpPr>
          <p:cNvPr id="198673" name="Text Box 17"/>
          <p:cNvSpPr txBox="1">
            <a:spLocks noChangeArrowheads="1"/>
          </p:cNvSpPr>
          <p:nvPr/>
        </p:nvSpPr>
        <p:spPr bwMode="auto">
          <a:xfrm>
            <a:off x="4343400" y="617220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7160" tIns="68580" rIns="137160" bIns="6858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pt-BR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$</a:t>
            </a:r>
          </a:p>
        </p:txBody>
      </p:sp>
      <p:sp>
        <p:nvSpPr>
          <p:cNvPr id="198674" name="Text Box 18"/>
          <p:cNvSpPr txBox="1">
            <a:spLocks noChangeArrowheads="1"/>
          </p:cNvSpPr>
          <p:nvPr/>
        </p:nvSpPr>
        <p:spPr bwMode="auto">
          <a:xfrm>
            <a:off x="6743700" y="857250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7160" tIns="68580" rIns="137160" bIns="6858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pt-BR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Q</a:t>
            </a:r>
          </a:p>
        </p:txBody>
      </p:sp>
      <p:sp>
        <p:nvSpPr>
          <p:cNvPr id="198675" name="Text Box 19"/>
          <p:cNvSpPr txBox="1">
            <a:spLocks noChangeArrowheads="1"/>
          </p:cNvSpPr>
          <p:nvPr/>
        </p:nvSpPr>
        <p:spPr bwMode="auto">
          <a:xfrm>
            <a:off x="6966012" y="7303740"/>
            <a:ext cx="2057400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7160" tIns="68580" rIns="137160" bIns="6858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pt-BR" sz="2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Custos Fixos</a:t>
            </a:r>
          </a:p>
        </p:txBody>
      </p:sp>
      <p:sp>
        <p:nvSpPr>
          <p:cNvPr id="21524" name="Line 20"/>
          <p:cNvSpPr>
            <a:spLocks noChangeShapeType="1"/>
          </p:cNvSpPr>
          <p:nvPr/>
        </p:nvSpPr>
        <p:spPr bwMode="auto">
          <a:xfrm>
            <a:off x="4914900" y="7772400"/>
            <a:ext cx="25146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triangle" w="med" len="med"/>
          </a:ln>
        </p:spPr>
        <p:txBody>
          <a:bodyPr lIns="137160" tIns="68580" rIns="137160" bIns="68580"/>
          <a:lstStyle/>
          <a:p>
            <a:endParaRPr lang="pt-BR"/>
          </a:p>
        </p:txBody>
      </p:sp>
      <p:sp>
        <p:nvSpPr>
          <p:cNvPr id="21525" name="Line 21"/>
          <p:cNvSpPr>
            <a:spLocks noChangeShapeType="1"/>
          </p:cNvSpPr>
          <p:nvPr/>
        </p:nvSpPr>
        <p:spPr bwMode="auto">
          <a:xfrm flipV="1">
            <a:off x="4914900" y="5829300"/>
            <a:ext cx="2057400" cy="1943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137160" tIns="68580" rIns="137160" bIns="68580"/>
          <a:lstStyle/>
          <a:p>
            <a:endParaRPr lang="pt-BR"/>
          </a:p>
        </p:txBody>
      </p:sp>
      <p:sp>
        <p:nvSpPr>
          <p:cNvPr id="21526" name="Line 22"/>
          <p:cNvSpPr>
            <a:spLocks noChangeShapeType="1"/>
          </p:cNvSpPr>
          <p:nvPr/>
        </p:nvSpPr>
        <p:spPr bwMode="auto">
          <a:xfrm flipV="1">
            <a:off x="4914900" y="6743700"/>
            <a:ext cx="2057400" cy="1943100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triangle" w="med" len="med"/>
          </a:ln>
        </p:spPr>
        <p:txBody>
          <a:bodyPr lIns="137160" tIns="68580" rIns="137160" bIns="68580"/>
          <a:lstStyle/>
          <a:p>
            <a:endParaRPr lang="pt-BR"/>
          </a:p>
        </p:txBody>
      </p:sp>
      <p:sp>
        <p:nvSpPr>
          <p:cNvPr id="198679" name="Text Box 23"/>
          <p:cNvSpPr txBox="1">
            <a:spLocks noChangeArrowheads="1"/>
          </p:cNvSpPr>
          <p:nvPr/>
        </p:nvSpPr>
        <p:spPr bwMode="auto">
          <a:xfrm>
            <a:off x="6533964" y="5359524"/>
            <a:ext cx="2057400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7160" tIns="68580" rIns="137160" bIns="6858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pt-BR" sz="2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Custos Totais</a:t>
            </a:r>
          </a:p>
        </p:txBody>
      </p:sp>
    </p:spTree>
    <p:extLst>
      <p:ext uri="{BB962C8B-B14F-4D97-AF65-F5344CB8AC3E}">
        <p14:creationId xmlns:p14="http://schemas.microsoft.com/office/powerpoint/2010/main" val="1558840761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6E0FBDFB-B5B6-AB66-FA33-93BBD3167CF1}"/>
              </a:ext>
            </a:extLst>
          </p:cNvPr>
          <p:cNvGraphicFramePr>
            <a:graphicFrameLocks noGrp="1"/>
          </p:cNvGraphicFramePr>
          <p:nvPr/>
        </p:nvGraphicFramePr>
        <p:xfrm>
          <a:off x="377280" y="3493805"/>
          <a:ext cx="12112290" cy="663363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537600">
                  <a:extLst>
                    <a:ext uri="{9D8B030D-6E8A-4147-A177-3AD203B41FA5}">
                      <a16:colId xmlns:a16="http://schemas.microsoft.com/office/drawing/2014/main" val="3024173170"/>
                    </a:ext>
                  </a:extLst>
                </a:gridCol>
                <a:gridCol w="1785937">
                  <a:extLst>
                    <a:ext uri="{9D8B030D-6E8A-4147-A177-3AD203B41FA5}">
                      <a16:colId xmlns:a16="http://schemas.microsoft.com/office/drawing/2014/main" val="2756363003"/>
                    </a:ext>
                  </a:extLst>
                </a:gridCol>
                <a:gridCol w="1788753">
                  <a:extLst>
                    <a:ext uri="{9D8B030D-6E8A-4147-A177-3AD203B41FA5}">
                      <a16:colId xmlns:a16="http://schemas.microsoft.com/office/drawing/2014/main" val="2585027467"/>
                    </a:ext>
                  </a:extLst>
                </a:gridCol>
              </a:tblGrid>
              <a:tr h="41211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Itens ou Contas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VARIÁVEIS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b="1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FIXOS</a:t>
                      </a:r>
                      <a:endParaRPr lang="pt-BR" sz="2000" b="1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942869"/>
                  </a:ext>
                </a:extLst>
              </a:tr>
              <a:tr h="451986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Salários apropriados (aplicados nos serviços) Médicos e Enfermeiros (MOD) 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31325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Salários da administração 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243672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Insumos consumidos no Procedimento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6933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Gastos com a recepção, agendamento, secretaria administrativa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185994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Aluguel da sala de esterilização e consultórios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887899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Energia elétrica de consumo de toda a Clínica (fim e meio)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250999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Depreciação de todos os equipamentos radiológicos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546245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Aluguel de recepção, gerência, escritórios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4265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Internet de todo o complexo hospitalar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542536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IPTU de Consultórios e sala de esterilização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712170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Gastos em vários Serviços odontológicos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690020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Manutenção de equipamentos do escritório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475395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Propaganda dos Serviços em agência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531133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Esterilização dos equipamentos do Procedimento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365096"/>
                  </a:ext>
                </a:extLst>
              </a:tr>
              <a:tr h="412110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Manutenção corretiva de equipamentos do Consultório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310444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C7B675B3-ABF5-7BC5-E641-A8EC584B9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96" y="-21337"/>
            <a:ext cx="10009112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tabLst>
                <a:tab pos="180340" algn="l"/>
              </a:tabLst>
            </a:pPr>
            <a:r>
              <a:rPr lang="pt-BR" sz="24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Classifique os itens abaixo quanto ao </a:t>
            </a:r>
            <a:r>
              <a:rPr lang="pt-BR" sz="2400" b="1" dirty="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Volume de produção e venda </a:t>
            </a:r>
            <a:endParaRPr lang="pt-BR" sz="24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180340" algn="l"/>
              </a:tabLst>
            </a:pPr>
            <a:r>
              <a:rPr lang="pt-BR" sz="2000" b="1" dirty="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 </a:t>
            </a:r>
            <a:endParaRPr lang="pt-BR" sz="20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pt-PT" sz="20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Liberation Sans Narrow"/>
              </a:rPr>
              <a:t>Variáveis.... Ligados a Produção, a Execução da Quantidade de Procedimentos</a:t>
            </a:r>
            <a:endParaRPr lang="pt-BR" sz="20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Liberation Sans Narrow"/>
              <a:ea typeface="Liberation Sans Narrow"/>
              <a:cs typeface="Liberation Sans Narrow"/>
            </a:endParaRPr>
          </a:p>
          <a:p>
            <a:pPr marL="457200"/>
            <a:r>
              <a:rPr lang="pt-PT" sz="20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Liberation Sans Narrow"/>
              </a:rPr>
              <a:t> </a:t>
            </a:r>
            <a:endParaRPr lang="pt-BR" sz="20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Liberation Sans Narrow"/>
              <a:ea typeface="Liberation Sans Narrow"/>
              <a:cs typeface="Liberation Sans Narrow"/>
            </a:endParaRPr>
          </a:p>
          <a:p>
            <a:pPr lvl="0"/>
            <a:r>
              <a:rPr lang="pt-PT" sz="20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Liberation Sans Narrow"/>
              </a:rPr>
              <a:t>2. Fixos... Ligados a Estrutura Física Instalada, seu valor nao altera, independente da qtde de execução (procedimentos)</a:t>
            </a:r>
            <a:endParaRPr lang="pt-BR" sz="20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Liberation Sans Narrow"/>
              <a:ea typeface="Liberation Sans Narrow"/>
              <a:cs typeface="Liberation Sans Narrow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0975" algn="l"/>
              </a:tabLst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373338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6CDEBF4E-6B3B-327C-EB02-9A27A5BBE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2" y="242877"/>
            <a:ext cx="13033449" cy="9941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MOD Variável?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3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Contrato 1 médico pela CLT e pago $8.000 para fazer 160 Procedimentos: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sngStrike" cap="none" normalizeH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sng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Tesouraria (Financeiro) .... Pagar os $8.000 dependendo da presença do profissional, porém não depende do </a:t>
            </a:r>
            <a:r>
              <a:rPr kumimoji="0" lang="pt-BR" altLang="pt-BR" sz="2000" b="0" i="0" u="none" strike="sng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nr</a:t>
            </a:r>
            <a:r>
              <a:rPr kumimoji="0" lang="pt-BR" altLang="pt-BR" sz="2000" b="0" i="0" u="none" strike="sng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de procedimentos realizados.</a:t>
            </a:r>
            <a:endParaRPr kumimoji="0" lang="pt-BR" altLang="pt-BR" sz="2000" b="0" i="0" u="none" strike="sngStrike" cap="none" normalizeH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Custos (Valor):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800" b="1" dirty="0">
                <a:ea typeface="Calibri" panose="020F0502020204030204" pitchFamily="34" charset="0"/>
              </a:rPr>
              <a:t>C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alculamos o seu Custo Unitário (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hh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)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qdo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vc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for MOD (executor da atividade fim):</a:t>
            </a:r>
            <a:endParaRPr kumimoji="0" lang="pt-BR" altLang="pt-BR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$8.000 / 160 procedimentos  =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$50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hh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de MOD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No final do mês foi apontado que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vc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realizou 140 procedimentos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400" b="1" dirty="0">
                <a:ea typeface="Calibri" panose="020F0502020204030204" pitchFamily="34" charset="0"/>
              </a:rPr>
              <a:t>O v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alor pago de $8.000 será dividido em duas contas, a saber: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MOD Apropriada = Valor agregado que a MOD trabalhou: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sz="2400" dirty="0">
              <a:ea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$50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hh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X 140 procedimentos realizados = 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$7.000 MOD Apropriada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MOD OCIOSA =  Pagamento (-) Valor Apropriado da MOD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$8.000 Pagos (-) $7.000 Efetivamente usados =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MOD Ociosa de $1.000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392618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0E1BAD1B-C759-1A4A-CA63-F771CDEA6B28}"/>
              </a:ext>
            </a:extLst>
          </p:cNvPr>
          <p:cNvGraphicFramePr>
            <a:graphicFrameLocks noGrp="1"/>
          </p:cNvGraphicFramePr>
          <p:nvPr>
            <p:ph sz="quarter" idx="10"/>
          </p:nvPr>
        </p:nvGraphicFramePr>
        <p:xfrm>
          <a:off x="593303" y="6329760"/>
          <a:ext cx="12313370" cy="33502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2819">
                  <a:extLst>
                    <a:ext uri="{9D8B030D-6E8A-4147-A177-3AD203B41FA5}">
                      <a16:colId xmlns:a16="http://schemas.microsoft.com/office/drawing/2014/main" val="4172218664"/>
                    </a:ext>
                  </a:extLst>
                </a:gridCol>
                <a:gridCol w="1246099">
                  <a:extLst>
                    <a:ext uri="{9D8B030D-6E8A-4147-A177-3AD203B41FA5}">
                      <a16:colId xmlns:a16="http://schemas.microsoft.com/office/drawing/2014/main" val="1628452863"/>
                    </a:ext>
                  </a:extLst>
                </a:gridCol>
                <a:gridCol w="2403094">
                  <a:extLst>
                    <a:ext uri="{9D8B030D-6E8A-4147-A177-3AD203B41FA5}">
                      <a16:colId xmlns:a16="http://schemas.microsoft.com/office/drawing/2014/main" val="3094374561"/>
                    </a:ext>
                  </a:extLst>
                </a:gridCol>
                <a:gridCol w="2033389">
                  <a:extLst>
                    <a:ext uri="{9D8B030D-6E8A-4147-A177-3AD203B41FA5}">
                      <a16:colId xmlns:a16="http://schemas.microsoft.com/office/drawing/2014/main" val="3776622980"/>
                    </a:ext>
                  </a:extLst>
                </a:gridCol>
                <a:gridCol w="1710227">
                  <a:extLst>
                    <a:ext uri="{9D8B030D-6E8A-4147-A177-3AD203B41FA5}">
                      <a16:colId xmlns:a16="http://schemas.microsoft.com/office/drawing/2014/main" val="4110004545"/>
                    </a:ext>
                  </a:extLst>
                </a:gridCol>
                <a:gridCol w="2667742">
                  <a:extLst>
                    <a:ext uri="{9D8B030D-6E8A-4147-A177-3AD203B41FA5}">
                      <a16:colId xmlns:a16="http://schemas.microsoft.com/office/drawing/2014/main" val="637094996"/>
                    </a:ext>
                  </a:extLst>
                </a:gridCol>
              </a:tblGrid>
              <a:tr h="118342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</a:rPr>
                        <a:t>MOD Contratada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</a:rPr>
                        <a:t>Valor HH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</a:pPr>
                      <a:r>
                        <a:rPr lang="pt-BR" sz="2800" dirty="0" err="1">
                          <a:solidFill>
                            <a:schemeClr val="tx1"/>
                          </a:solidFill>
                          <a:effectLst/>
                        </a:rPr>
                        <a:t>Qtde</a:t>
                      </a: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</a:rPr>
                        <a:t> Executada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MOD </a:t>
                      </a:r>
                    </a:p>
                    <a:p>
                      <a:pPr marL="0" indent="0" algn="ctr">
                        <a:lnSpc>
                          <a:spcPct val="115000"/>
                        </a:lnSpc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Apropriada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MOD Ociosa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</a:rPr>
                        <a:t>Justificativa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373199"/>
                  </a:ext>
                </a:extLst>
              </a:tr>
              <a:tr h="108340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</a:rPr>
                        <a:t>$8.000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</a:rPr>
                        <a:t>$50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</a:rPr>
                        <a:t>140 Procedimentos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$7.000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$1.000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800" dirty="0" err="1">
                          <a:solidFill>
                            <a:schemeClr val="tx1"/>
                          </a:solidFill>
                          <a:effectLst/>
                        </a:rPr>
                        <a:t>Vc</a:t>
                      </a: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</a:rPr>
                        <a:t> investiga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818056"/>
                  </a:ext>
                </a:extLst>
              </a:tr>
              <a:tr h="108340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</a:rPr>
                        <a:t>$8.000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</a:rPr>
                        <a:t>$50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</a:rPr>
                        <a:t>???????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</a:pPr>
                      <a:r>
                        <a:rPr lang="pt-BR" sz="2800">
                          <a:solidFill>
                            <a:schemeClr val="tx1"/>
                          </a:solidFill>
                          <a:effectLst/>
                        </a:rPr>
                        <a:t>??????</a:t>
                      </a:r>
                      <a:endParaRPr lang="pt-BR" sz="28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</a:rPr>
                        <a:t>????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75123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CDEBF4E-6B3B-327C-EB02-9A27A5BBE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87" y="7114"/>
            <a:ext cx="12673409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MOD Variável?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Contrato 1 médico pela CLT e pago $8.000 para fazer 160 Procedimentos: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sngStrike" cap="none" normalizeH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No final do mês foi apontado que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vc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realizou 140 procedimentos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400" b="1" dirty="0">
                <a:ea typeface="Calibri" panose="020F0502020204030204" pitchFamily="34" charset="0"/>
              </a:rPr>
              <a:t>O v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alor pago de $8.000 será dividido em duas contas, a saber: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MOD Apropriada = Valor agregado que a MOD trabalhou: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sz="2400" dirty="0">
              <a:ea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$50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hh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X 140 procedimentos realizados = 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$7.000 MOD Apropriada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MOD OCIOSA =  Pagamento (-) Valor Apropriado da MOD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$8.000 Pagos (-) $7.000 Efetivamente usados =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MOD Ociosa de $1.000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370848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04" y="642906"/>
            <a:ext cx="12573088" cy="2714644"/>
          </a:xfrm>
        </p:spPr>
        <p:txBody>
          <a:bodyPr/>
          <a:lstStyle/>
          <a:p>
            <a:r>
              <a:rPr lang="en-US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Ganho de Escala</a:t>
            </a:r>
            <a:br>
              <a:rPr lang="en-US" b="1" dirty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br>
              <a:rPr lang="en-US" sz="4000" dirty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en-US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C. Fixo Unitário = </a:t>
            </a:r>
            <a:r>
              <a:rPr lang="en-US" sz="2800" b="1" dirty="0">
                <a:solidFill>
                  <a:srgbClr val="0B9CE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(C. Fixo / Qtde) </a:t>
            </a:r>
            <a:br>
              <a:rPr lang="en-US" sz="2800" b="1" dirty="0">
                <a:solidFill>
                  <a:srgbClr val="0B9CE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</a:br>
            <a:br>
              <a:rPr lang="en-US" sz="2800" b="1" dirty="0">
                <a:solidFill>
                  <a:srgbClr val="0B9CE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en-US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Custo por Unidade = </a:t>
            </a:r>
            <a:r>
              <a:rPr lang="en-US" sz="2800" b="1" dirty="0">
                <a:solidFill>
                  <a:srgbClr val="0B9CE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(C. Fixo / Qtde) </a:t>
            </a:r>
            <a:r>
              <a:rPr lang="en-US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+ C. Variável Unitário</a:t>
            </a:r>
            <a:br>
              <a:rPr lang="en-US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br>
              <a:rPr lang="en-US" sz="2800" b="1" dirty="0">
                <a:solidFill>
                  <a:srgbClr val="0B9CE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</a:br>
            <a:endParaRPr lang="pt-BR" sz="2800" b="1" dirty="0">
              <a:solidFill>
                <a:srgbClr val="0B9CE5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aphicFrame>
        <p:nvGraphicFramePr>
          <p:cNvPr id="5" name="Espaço Reservado para Tabela 4"/>
          <p:cNvGraphicFramePr>
            <a:graphicFrameLocks noGrp="1"/>
          </p:cNvGraphicFramePr>
          <p:nvPr>
            <p:ph type="tbl" idx="1"/>
          </p:nvPr>
        </p:nvGraphicFramePr>
        <p:xfrm>
          <a:off x="214268" y="3714740"/>
          <a:ext cx="12573087" cy="6294123"/>
        </p:xfrm>
        <a:graphic>
          <a:graphicData uri="http://schemas.openxmlformats.org/drawingml/2006/table">
            <a:tbl>
              <a:tblPr/>
              <a:tblGrid>
                <a:gridCol w="1968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0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4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04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04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95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53362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/>
                          <a:ea typeface="Calibri"/>
                          <a:cs typeface="Times New Roman"/>
                        </a:rPr>
                        <a:t>QTDE de Procedimentos em Escala de Produção:</a:t>
                      </a:r>
                      <a:endParaRPr lang="pt-BR" sz="18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/>
                          <a:ea typeface="Calibri"/>
                          <a:cs typeface="Times New Roman"/>
                        </a:rPr>
                        <a:t>Custos  Fixos para Toda a Capacidade Instalada</a:t>
                      </a:r>
                      <a:endParaRPr lang="pt-BR" sz="18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b="1" dirty="0">
                          <a:latin typeface="Arial"/>
                          <a:ea typeface="Calibri"/>
                          <a:cs typeface="Times New Roman"/>
                        </a:rPr>
                        <a:t>Custo Unitário Decrescente em razão do</a:t>
                      </a:r>
                      <a:endParaRPr lang="pt-BR" sz="2400" dirty="0">
                        <a:latin typeface="Arial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b="1" dirty="0">
                          <a:latin typeface="Arial"/>
                          <a:ea typeface="Calibri"/>
                          <a:cs typeface="Times New Roman"/>
                        </a:rPr>
                        <a:t>Fixo Unitário (Ganho de Escala)</a:t>
                      </a:r>
                      <a:endParaRPr lang="pt-BR" sz="24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/>
                          <a:ea typeface="Calibri"/>
                          <a:cs typeface="Times New Roman"/>
                        </a:rPr>
                        <a:t>Total da</a:t>
                      </a:r>
                      <a:endParaRPr lang="pt-BR" sz="1800" dirty="0">
                        <a:latin typeface="Arial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/>
                          <a:ea typeface="Calibri"/>
                          <a:cs typeface="Times New Roman"/>
                        </a:rPr>
                        <a:t>Produção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/>
                          <a:ea typeface="Calibri"/>
                          <a:cs typeface="Times New Roman"/>
                        </a:rPr>
                        <a:t>=</a:t>
                      </a:r>
                      <a:endParaRPr lang="pt-BR" sz="1800" dirty="0">
                        <a:latin typeface="Arial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/>
                          <a:ea typeface="Calibri"/>
                          <a:cs typeface="Times New Roman"/>
                        </a:rPr>
                        <a:t>QTDE X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/>
                          <a:ea typeface="Calibri"/>
                          <a:cs typeface="Times New Roman"/>
                        </a:rPr>
                        <a:t>Custo da Unidade</a:t>
                      </a:r>
                      <a:endParaRPr lang="pt-BR" sz="18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3111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/>
                          <a:ea typeface="Calibri"/>
                          <a:cs typeface="Times New Roman"/>
                        </a:rPr>
                        <a:t>Fixo Unitário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/>
                          <a:ea typeface="Calibri"/>
                          <a:cs typeface="Times New Roman"/>
                        </a:rPr>
                        <a:t>=</a:t>
                      </a:r>
                      <a:endParaRPr lang="pt-BR" sz="1800" dirty="0">
                        <a:latin typeface="Arial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/>
                          <a:ea typeface="Calibri"/>
                          <a:cs typeface="Times New Roman"/>
                        </a:rPr>
                        <a:t>C. Fixo / Qtde</a:t>
                      </a:r>
                      <a:endParaRPr lang="pt-BR" sz="18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/>
                          <a:ea typeface="Calibri"/>
                          <a:cs typeface="Times New Roman"/>
                        </a:rPr>
                        <a:t>Variável Unitário</a:t>
                      </a:r>
                      <a:endParaRPr lang="pt-BR" sz="1800" dirty="0">
                        <a:latin typeface="Arial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/>
                          <a:ea typeface="Calibri"/>
                          <a:cs typeface="Times New Roman"/>
                        </a:rPr>
                        <a:t>Porção de Insumos para 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/>
                          <a:ea typeface="Calibri"/>
                          <a:cs typeface="Times New Roman"/>
                        </a:rPr>
                        <a:t>1 Procedimento</a:t>
                      </a:r>
                      <a:endParaRPr lang="pt-BR" sz="18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/>
                          <a:ea typeface="Calibri"/>
                          <a:cs typeface="Times New Roman"/>
                        </a:rPr>
                        <a:t>Custo por Unidade =</a:t>
                      </a:r>
                      <a:endParaRPr lang="pt-BR" sz="1800" dirty="0">
                        <a:latin typeface="Arial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/>
                          <a:ea typeface="Calibri"/>
                          <a:cs typeface="Times New Roman"/>
                        </a:rPr>
                        <a:t>C. Fixo Unitário +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/>
                          <a:ea typeface="Calibri"/>
                          <a:cs typeface="Times New Roman"/>
                        </a:rPr>
                        <a:t>C. Variável Unitário</a:t>
                      </a:r>
                      <a:endParaRPr lang="pt-BR" sz="18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1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b="1" dirty="0">
                          <a:latin typeface="Arial"/>
                          <a:ea typeface="Calibri"/>
                          <a:cs typeface="Times New Roman"/>
                        </a:rPr>
                        <a:t>100</a:t>
                      </a:r>
                      <a:endParaRPr lang="pt-BR" sz="24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Arial"/>
                          <a:ea typeface="Calibri"/>
                          <a:cs typeface="Times New Roman"/>
                        </a:rPr>
                        <a:t>Estrutura</a:t>
                      </a:r>
                      <a:endParaRPr lang="pt-BR" sz="1800" dirty="0">
                        <a:latin typeface="Arial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Arial"/>
                          <a:ea typeface="Calibri"/>
                          <a:cs typeface="Times New Roman"/>
                        </a:rPr>
                        <a:t>Física</a:t>
                      </a:r>
                      <a:endParaRPr lang="pt-BR" sz="1800" dirty="0">
                        <a:latin typeface="Arial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Arial"/>
                          <a:ea typeface="Calibri"/>
                          <a:cs typeface="Times New Roman"/>
                        </a:rPr>
                        <a:t>Instalada</a:t>
                      </a:r>
                      <a:endParaRPr lang="pt-BR" sz="1800" dirty="0">
                        <a:latin typeface="Arial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Arial"/>
                          <a:ea typeface="Calibri"/>
                          <a:cs typeface="Times New Roman"/>
                        </a:rPr>
                        <a:t>para a</a:t>
                      </a:r>
                      <a:endParaRPr lang="pt-BR" sz="1800" dirty="0">
                        <a:latin typeface="Arial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Arial"/>
                          <a:ea typeface="Calibri"/>
                          <a:cs typeface="Times New Roman"/>
                        </a:rPr>
                        <a:t>Produção de 10.000 proc:</a:t>
                      </a:r>
                      <a:endParaRPr lang="pt-BR" sz="1800" dirty="0">
                        <a:latin typeface="Arial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/>
                          <a:ea typeface="Calibri"/>
                          <a:cs typeface="Times New Roman"/>
                        </a:rPr>
                        <a:t>$100.000</a:t>
                      </a:r>
                      <a:endParaRPr lang="pt-BR" sz="18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28573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BR" sz="2400" b="1" kern="1200" dirty="0">
                        <a:solidFill>
                          <a:schemeClr val="tx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28573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rial"/>
                          <a:ea typeface="Calibri"/>
                          <a:cs typeface="Times New Roman"/>
                        </a:rPr>
                        <a:t>$120,</a:t>
                      </a:r>
                      <a:endParaRPr lang="pt-BR" sz="2400" b="1" kern="1200" dirty="0">
                        <a:solidFill>
                          <a:schemeClr val="tx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28573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BR" sz="2400" b="1" kern="1200" dirty="0">
                        <a:solidFill>
                          <a:schemeClr val="tx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28573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BR" sz="2400" b="1" kern="1200" dirty="0">
                        <a:solidFill>
                          <a:schemeClr val="tx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5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b="1" dirty="0">
                          <a:latin typeface="Arial"/>
                          <a:ea typeface="Calibri"/>
                          <a:cs typeface="Times New Roman"/>
                        </a:rPr>
                        <a:t>1.000</a:t>
                      </a:r>
                      <a:endParaRPr lang="pt-BR" sz="24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028573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BR" sz="2400" b="1" kern="1200">
                        <a:solidFill>
                          <a:schemeClr val="tx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28573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rial"/>
                          <a:ea typeface="Calibri"/>
                          <a:cs typeface="Times New Roman"/>
                        </a:rPr>
                        <a:t>$120,</a:t>
                      </a:r>
                      <a:endParaRPr lang="pt-BR" sz="2400" b="1" kern="1200" dirty="0">
                        <a:solidFill>
                          <a:schemeClr val="tx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28573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BR" sz="2400" b="1" kern="1200" dirty="0">
                        <a:solidFill>
                          <a:schemeClr val="tx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28573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BR" sz="2400" b="1" kern="1200" dirty="0">
                        <a:solidFill>
                          <a:schemeClr val="tx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0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b="1" dirty="0">
                          <a:latin typeface="Arial"/>
                          <a:ea typeface="Calibri"/>
                          <a:cs typeface="Times New Roman"/>
                        </a:rPr>
                        <a:t>2.500</a:t>
                      </a:r>
                      <a:endParaRPr lang="pt-BR" sz="24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028573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BR" sz="2400" b="1" kern="1200">
                        <a:solidFill>
                          <a:schemeClr val="tx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28573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rial"/>
                          <a:ea typeface="Calibri"/>
                          <a:cs typeface="Times New Roman"/>
                        </a:rPr>
                        <a:t>$120,</a:t>
                      </a:r>
                      <a:endParaRPr lang="pt-BR" sz="2400" b="1" kern="1200" dirty="0">
                        <a:solidFill>
                          <a:schemeClr val="tx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28573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BR" sz="2400" b="1" kern="1200" dirty="0">
                        <a:solidFill>
                          <a:schemeClr val="tx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28573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BR" sz="2400" b="1" kern="1200" dirty="0">
                        <a:solidFill>
                          <a:schemeClr val="tx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3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b="1" dirty="0">
                          <a:latin typeface="Arial"/>
                          <a:ea typeface="Calibri"/>
                          <a:cs typeface="Times New Roman"/>
                        </a:rPr>
                        <a:t>5.000</a:t>
                      </a:r>
                      <a:endParaRPr lang="pt-BR" sz="24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028573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BR" sz="2400" b="1" kern="1200">
                        <a:solidFill>
                          <a:schemeClr val="tx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28573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rial"/>
                          <a:ea typeface="Calibri"/>
                          <a:cs typeface="Times New Roman"/>
                        </a:rPr>
                        <a:t>$120,</a:t>
                      </a:r>
                      <a:endParaRPr lang="pt-BR" sz="2400" b="1" kern="1200" dirty="0">
                        <a:solidFill>
                          <a:schemeClr val="tx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28573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BR" sz="2400" b="1" kern="1200" dirty="0">
                        <a:solidFill>
                          <a:schemeClr val="tx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28573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BR" sz="2400" b="1" kern="1200" dirty="0">
                        <a:solidFill>
                          <a:schemeClr val="tx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75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b="1" dirty="0">
                          <a:latin typeface="Arial"/>
                          <a:ea typeface="Calibri"/>
                          <a:cs typeface="Times New Roman"/>
                        </a:rPr>
                        <a:t>10.000</a:t>
                      </a:r>
                      <a:endParaRPr lang="pt-BR" sz="24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028573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BR" sz="2400" b="1" kern="1200">
                        <a:solidFill>
                          <a:schemeClr val="tx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28573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rial"/>
                          <a:ea typeface="Calibri"/>
                          <a:cs typeface="Times New Roman"/>
                        </a:rPr>
                        <a:t>$120,</a:t>
                      </a:r>
                      <a:endParaRPr lang="pt-BR" sz="2400" b="1" kern="1200" dirty="0">
                        <a:solidFill>
                          <a:schemeClr val="tx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28573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BR" sz="2400" b="1" kern="1200" dirty="0">
                        <a:solidFill>
                          <a:schemeClr val="tx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28573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BR" sz="2400" b="1" kern="1200" dirty="0">
                        <a:solidFill>
                          <a:schemeClr val="tx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137160" marR="137160" marT="68580" marB="68580">
                    <a:lnL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5626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42894" y="1142972"/>
            <a:ext cx="11658600" cy="7715304"/>
          </a:xfrm>
        </p:spPr>
        <p:txBody>
          <a:bodyPr/>
          <a:lstStyle/>
          <a:p>
            <a:r>
              <a:rPr lang="en-US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Ganho de Escala dependerá do Custo Fixo Unitário</a:t>
            </a:r>
            <a:b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b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en-US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Como baratear o </a:t>
            </a:r>
            <a:r>
              <a:rPr lang="en-US" sz="28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custo</a:t>
            </a:r>
            <a:r>
              <a:rPr lang="en-US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Unitário? </a:t>
            </a:r>
            <a:br>
              <a:rPr lang="en-US" sz="2800" dirty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br>
              <a:rPr lang="en-US" sz="2800" dirty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en-US" sz="2800" b="1" u="sng" dirty="0">
                <a:latin typeface="Verdana" pitchFamily="34" charset="0"/>
                <a:ea typeface="Verdana" pitchFamily="34" charset="0"/>
                <a:cs typeface="Verdana" pitchFamily="34" charset="0"/>
              </a:rPr>
              <a:t>Evitando a Ociosidade</a:t>
            </a:r>
            <a:br>
              <a:rPr lang="en-US" sz="2800" dirty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br>
              <a:rPr lang="en-US" sz="2800" dirty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br>
              <a:rPr lang="en-US" sz="2800" dirty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en-US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Como Evitar a </a:t>
            </a:r>
            <a:r>
              <a:rPr lang="en-US" sz="28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Ociosidade</a:t>
            </a:r>
            <a:r>
              <a:rPr lang="en-US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? </a:t>
            </a:r>
            <a:br>
              <a:rPr lang="en-US" sz="2800" dirty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br>
              <a:rPr lang="en-US" sz="2800" dirty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en-US" sz="2800" b="1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1a. Executar TUDO que se propôs; usar toda a Capacidade Instalada</a:t>
            </a:r>
            <a:br>
              <a:rPr lang="en-US" sz="2800" dirty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br>
              <a:rPr lang="en-US" sz="2800" dirty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en-US" sz="28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2a. Montar o Negócio do tamanho real de sua capacidade de venda</a:t>
            </a:r>
            <a:br>
              <a:rPr lang="en-US" sz="2800" dirty="0">
                <a:solidFill>
                  <a:srgbClr val="0B9CE5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</a:br>
            <a:endParaRPr lang="pt-BR" sz="2800" dirty="0">
              <a:solidFill>
                <a:srgbClr val="0B9CE5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5626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472" y="1071534"/>
            <a:ext cx="7560468" cy="1059135"/>
          </a:xfrm>
        </p:spPr>
        <p:txBody>
          <a:bodyPr/>
          <a:lstStyle/>
          <a:p>
            <a:pPr algn="ctr"/>
            <a:r>
              <a:rPr lang="pt-BR" sz="4200" dirty="0">
                <a:solidFill>
                  <a:schemeClr val="tx1"/>
                </a:solidFill>
              </a:rPr>
              <a:t>Métodos de Custeio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37728" y="2628900"/>
            <a:ext cx="10972800" cy="7229508"/>
          </a:xfrm>
          <a:prstGeom prst="rect">
            <a:avLst/>
          </a:prstGeom>
        </p:spPr>
        <p:txBody>
          <a:bodyPr lIns="137160" tIns="68580" rIns="137160" bIns="68580"/>
          <a:lstStyle/>
          <a:p>
            <a:pPr algn="ctr">
              <a:lnSpc>
                <a:spcPct val="90000"/>
              </a:lnSpc>
              <a:buFont typeface="Wingdings" pitchFamily="2" charset="2"/>
              <a:buChar char="ü"/>
            </a:pPr>
            <a:r>
              <a:rPr lang="pt-BR" sz="4000" b="1" dirty="0"/>
              <a:t>Absorção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ü"/>
            </a:pPr>
            <a:r>
              <a:rPr lang="pt-BR" sz="4000" dirty="0"/>
              <a:t>Absorve os Custos Indiretos através dos rateios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ü"/>
            </a:pPr>
            <a:endParaRPr lang="pt-BR" sz="4000" dirty="0"/>
          </a:p>
          <a:p>
            <a:pPr algn="ctr">
              <a:lnSpc>
                <a:spcPct val="90000"/>
              </a:lnSpc>
              <a:buFont typeface="Wingdings" pitchFamily="2" charset="2"/>
              <a:buChar char="ü"/>
            </a:pPr>
            <a:r>
              <a:rPr lang="pt-BR" sz="4000" b="1" dirty="0"/>
              <a:t>Variável ou Direto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ü"/>
            </a:pPr>
            <a:r>
              <a:rPr lang="pt-BR" sz="4000" dirty="0"/>
              <a:t>Separa os Custos em Fixos e Variáveis a fim de calcular a Margem de Contribuição do Produto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ü"/>
            </a:pPr>
            <a:endParaRPr lang="pt-BR" sz="4000" dirty="0"/>
          </a:p>
          <a:p>
            <a:pPr algn="ctr">
              <a:lnSpc>
                <a:spcPct val="90000"/>
              </a:lnSpc>
              <a:buFont typeface="Wingdings" pitchFamily="2" charset="2"/>
              <a:buChar char="ü"/>
            </a:pPr>
            <a:r>
              <a:rPr lang="pt-BR" sz="4000" b="1" dirty="0"/>
              <a:t>ABC (Atividade)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ü"/>
            </a:pPr>
            <a:r>
              <a:rPr lang="pt-BR" sz="4000" dirty="0"/>
              <a:t>Cria atividades e direcionadores de Custos</a:t>
            </a:r>
          </a:p>
        </p:txBody>
      </p:sp>
    </p:spTree>
    <p:extLst>
      <p:ext uri="{BB962C8B-B14F-4D97-AF65-F5344CB8AC3E}">
        <p14:creationId xmlns:p14="http://schemas.microsoft.com/office/powerpoint/2010/main" val="2999734584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28778" y="1000096"/>
            <a:ext cx="7560468" cy="659577"/>
          </a:xfrm>
        </p:spPr>
        <p:txBody>
          <a:bodyPr/>
          <a:lstStyle/>
          <a:p>
            <a:r>
              <a:rPr lang="pt-BR" sz="4200" dirty="0">
                <a:solidFill>
                  <a:schemeClr val="tx1"/>
                </a:solidFill>
              </a:rPr>
              <a:t>Custeio por Absorção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2226470"/>
            <a:ext cx="12344400" cy="7129463"/>
          </a:xfrm>
          <a:prstGeom prst="rect">
            <a:avLst/>
          </a:prstGeom>
        </p:spPr>
        <p:txBody>
          <a:bodyPr lIns="137160" tIns="68580" rIns="137160" bIns="68580"/>
          <a:lstStyle/>
          <a:p>
            <a:pPr algn="just"/>
            <a:r>
              <a:rPr lang="pt-BR" sz="4800" dirty="0">
                <a:cs typeface="Times New Roman" pitchFamily="18" charset="0"/>
              </a:rPr>
              <a:t>Atende as exigências societárias e fiscais e está de acordo com os Princípios Fundamentais de Contabilidade e com as normas da legislação tributária;</a:t>
            </a:r>
          </a:p>
          <a:p>
            <a:pPr algn="just"/>
            <a:r>
              <a:rPr lang="pt-BR" sz="4800" dirty="0">
                <a:cs typeface="Times New Roman" pitchFamily="18" charset="0"/>
              </a:rPr>
              <a:t>Consiste em apropriar aos produtos todos os custos incorridos no processo de fabricação, sejam eles diretos, indiretos, fixos ou variáveis;</a:t>
            </a:r>
          </a:p>
        </p:txBody>
      </p:sp>
    </p:spTree>
    <p:extLst>
      <p:ext uri="{BB962C8B-B14F-4D97-AF65-F5344CB8AC3E}">
        <p14:creationId xmlns:p14="http://schemas.microsoft.com/office/powerpoint/2010/main" val="2323342654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14500" y="2643188"/>
            <a:ext cx="10972800" cy="6172200"/>
          </a:xfrm>
          <a:prstGeom prst="rect">
            <a:avLst/>
          </a:prstGeom>
        </p:spPr>
        <p:txBody>
          <a:bodyPr lIns="137160" tIns="68580" rIns="137160" bIns="68580"/>
          <a:lstStyle/>
          <a:p>
            <a:pPr algn="just">
              <a:lnSpc>
                <a:spcPct val="90000"/>
              </a:lnSpc>
            </a:pPr>
            <a:r>
              <a:rPr lang="pt-BR" sz="4200" dirty="0">
                <a:cs typeface="Times New Roman" pitchFamily="18" charset="0"/>
              </a:rPr>
              <a:t>Todos os custos são aplicados a todos os produtos, sendo </a:t>
            </a:r>
            <a:r>
              <a:rPr lang="pt-BR" sz="4200" u="sng" dirty="0">
                <a:cs typeface="Times New Roman" pitchFamily="18" charset="0"/>
              </a:rPr>
              <a:t>apropriados ao resultado quando da venda dos respectivos produtos</a:t>
            </a:r>
            <a:r>
              <a:rPr lang="pt-BR" sz="4200" dirty="0">
                <a:cs typeface="Times New Roman" pitchFamily="18" charset="0"/>
              </a:rPr>
              <a:t>;</a:t>
            </a:r>
          </a:p>
          <a:p>
            <a:pPr algn="just">
              <a:lnSpc>
                <a:spcPct val="90000"/>
              </a:lnSpc>
            </a:pPr>
            <a:r>
              <a:rPr lang="pt-BR" sz="4200" dirty="0">
                <a:cs typeface="Times New Roman" pitchFamily="18" charset="0"/>
              </a:rPr>
              <a:t>Para o usuário externo, sugere a divisão da empresa em duas partes: </a:t>
            </a:r>
            <a:r>
              <a:rPr lang="pt-BR" sz="4200" u="sng" dirty="0">
                <a:cs typeface="Times New Roman" pitchFamily="18" charset="0"/>
              </a:rPr>
              <a:t>a fábrica e a atividade comercial</a:t>
            </a:r>
            <a:r>
              <a:rPr lang="pt-BR" sz="4200" dirty="0">
                <a:cs typeface="Times New Roman" pitchFamily="18" charset="0"/>
              </a:rPr>
              <a:t>;</a:t>
            </a:r>
          </a:p>
          <a:p>
            <a:pPr algn="just">
              <a:lnSpc>
                <a:spcPct val="90000"/>
              </a:lnSpc>
            </a:pPr>
            <a:r>
              <a:rPr lang="pt-BR" sz="4200" dirty="0">
                <a:cs typeface="Times New Roman" pitchFamily="18" charset="0"/>
              </a:rPr>
              <a:t>Apuração do custo de produção somente após “rateio” dos custos indiretos;</a:t>
            </a:r>
          </a:p>
          <a:p>
            <a:pPr algn="just">
              <a:lnSpc>
                <a:spcPct val="90000"/>
              </a:lnSpc>
            </a:pPr>
            <a:r>
              <a:rPr lang="pt-BR" sz="4200" dirty="0">
                <a:cs typeface="Times New Roman" pitchFamily="18" charset="0"/>
              </a:rPr>
              <a:t>Os custos fixos totais independem de oscilações do volume fabricado;</a:t>
            </a:r>
            <a:r>
              <a:rPr lang="pt-BR" sz="4200" dirty="0"/>
              <a:t> 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3000348" y="1357286"/>
            <a:ext cx="7560468" cy="659577"/>
          </a:xfrm>
        </p:spPr>
        <p:txBody>
          <a:bodyPr/>
          <a:lstStyle/>
          <a:p>
            <a:r>
              <a:rPr lang="pt-BR" sz="4200" dirty="0">
                <a:solidFill>
                  <a:schemeClr val="tx1"/>
                </a:solidFill>
              </a:rPr>
              <a:t>Custeio por Absorção</a:t>
            </a:r>
          </a:p>
        </p:txBody>
      </p:sp>
    </p:spTree>
    <p:extLst>
      <p:ext uri="{BB962C8B-B14F-4D97-AF65-F5344CB8AC3E}">
        <p14:creationId xmlns:p14="http://schemas.microsoft.com/office/powerpoint/2010/main" val="1363101188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ChangeArrowheads="1"/>
          </p:cNvSpPr>
          <p:nvPr/>
        </p:nvSpPr>
        <p:spPr bwMode="auto">
          <a:xfrm>
            <a:off x="3128963" y="821532"/>
            <a:ext cx="1371600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7160" tIns="68580" rIns="137160" bIns="68580">
            <a:spAutoFit/>
          </a:bodyPr>
          <a:lstStyle/>
          <a:p>
            <a:endParaRPr lang="pt-BR"/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0" y="135151"/>
            <a:ext cx="27706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137160" tIns="68580" rIns="137160" bIns="6858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53251" name="Object 3"/>
          <p:cNvGraphicFramePr>
            <a:graphicFrameLocks noChangeAspect="1"/>
          </p:cNvGraphicFramePr>
          <p:nvPr/>
        </p:nvGraphicFramePr>
        <p:xfrm>
          <a:off x="2969568" y="1364679"/>
          <a:ext cx="8886825" cy="831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474208" imgH="4066032" progId="Word.Picture.8">
                  <p:embed/>
                </p:oleObj>
              </mc:Choice>
              <mc:Fallback>
                <p:oleObj name="Picture" r:id="rId2" imgW="5474208" imgH="4066032" progId="Word.Picture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9568" y="1364679"/>
                        <a:ext cx="8886825" cy="831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3" name="Rectangle 5"/>
          <p:cNvSpPr>
            <a:spLocks noChangeArrowheads="1"/>
          </p:cNvSpPr>
          <p:nvPr/>
        </p:nvSpPr>
        <p:spPr bwMode="auto">
          <a:xfrm>
            <a:off x="0" y="8793376"/>
            <a:ext cx="27706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137160" tIns="68580" rIns="137160" bIns="6858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2714596" y="1142972"/>
            <a:ext cx="7560468" cy="659577"/>
          </a:xfrm>
        </p:spPr>
        <p:txBody>
          <a:bodyPr/>
          <a:lstStyle/>
          <a:p>
            <a:r>
              <a:rPr lang="pt-BR" sz="4200" dirty="0">
                <a:solidFill>
                  <a:schemeClr val="tx1"/>
                </a:solidFill>
              </a:rPr>
              <a:t>Custeio por Absorção</a:t>
            </a:r>
          </a:p>
        </p:txBody>
      </p:sp>
    </p:spTree>
    <p:extLst>
      <p:ext uri="{BB962C8B-B14F-4D97-AF65-F5344CB8AC3E}">
        <p14:creationId xmlns:p14="http://schemas.microsoft.com/office/powerpoint/2010/main" val="658936883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143356" y="928658"/>
            <a:ext cx="5622237" cy="844821"/>
          </a:xfrm>
        </p:spPr>
        <p:txBody>
          <a:bodyPr/>
          <a:lstStyle/>
          <a:p>
            <a:r>
              <a:rPr lang="pt-BR" sz="4200" dirty="0">
                <a:solidFill>
                  <a:schemeClr val="tx1"/>
                </a:solidFill>
              </a:rPr>
              <a:t>Custeio Variável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2226470"/>
            <a:ext cx="12344400" cy="7129463"/>
          </a:xfrm>
          <a:prstGeom prst="rect">
            <a:avLst/>
          </a:prstGeom>
        </p:spPr>
        <p:txBody>
          <a:bodyPr lIns="137160" tIns="68580" rIns="137160" bIns="68580"/>
          <a:lstStyle/>
          <a:p>
            <a:pPr algn="just">
              <a:spcAft>
                <a:spcPct val="50000"/>
              </a:spcAft>
            </a:pPr>
            <a:r>
              <a:rPr lang="pt-BR" sz="4200" dirty="0">
                <a:cs typeface="Times New Roman" pitchFamily="18" charset="0"/>
              </a:rPr>
              <a:t>também denominado direto, gerencial e por contribuição, em que só são agregados aos produtos seus custos variáveis, considerando-se os </a:t>
            </a:r>
            <a:r>
              <a:rPr lang="pt-BR" sz="4200" u="sng" dirty="0">
                <a:cs typeface="Times New Roman" pitchFamily="18" charset="0"/>
              </a:rPr>
              <a:t>custos fixos como se fossem despesas</a:t>
            </a:r>
            <a:r>
              <a:rPr lang="pt-BR" sz="4200" dirty="0"/>
              <a:t> </a:t>
            </a:r>
          </a:p>
          <a:p>
            <a:pPr algn="just">
              <a:spcAft>
                <a:spcPct val="50000"/>
              </a:spcAft>
            </a:pPr>
            <a:r>
              <a:rPr lang="pt-BR" sz="4200" dirty="0">
                <a:cs typeface="Times New Roman" pitchFamily="18" charset="0"/>
              </a:rPr>
              <a:t>custos dos produtos são mensuráveis objetivamente, pois não sofrerão processos arbitrários ou subjetivos de distribuição dos custos comuns</a:t>
            </a:r>
            <a:r>
              <a:rPr lang="pt-BR" sz="4200" dirty="0"/>
              <a:t> (rateio dos custos fixos)</a:t>
            </a:r>
          </a:p>
        </p:txBody>
      </p:sp>
    </p:spTree>
    <p:extLst>
      <p:ext uri="{BB962C8B-B14F-4D97-AF65-F5344CB8AC3E}">
        <p14:creationId xmlns:p14="http://schemas.microsoft.com/office/powerpoint/2010/main" val="2367242635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14500" y="2400300"/>
            <a:ext cx="10972800" cy="6172200"/>
          </a:xfrm>
          <a:prstGeom prst="rect">
            <a:avLst/>
          </a:prstGeom>
        </p:spPr>
        <p:txBody>
          <a:bodyPr lIns="137160" tIns="68580" rIns="137160" bIns="68580"/>
          <a:lstStyle/>
          <a:p>
            <a:pPr algn="just">
              <a:lnSpc>
                <a:spcPct val="110000"/>
              </a:lnSpc>
              <a:spcBef>
                <a:spcPct val="100000"/>
              </a:spcBef>
            </a:pPr>
            <a:r>
              <a:rPr lang="pt-BR" sz="4200" dirty="0">
                <a:cs typeface="Times New Roman" pitchFamily="18" charset="0"/>
              </a:rPr>
              <a:t>os dados necessários para a análise das relações </a:t>
            </a:r>
            <a:r>
              <a:rPr lang="pt-BR" sz="4200" dirty="0" err="1">
                <a:cs typeface="Times New Roman" pitchFamily="18" charset="0"/>
              </a:rPr>
              <a:t>custo-volume-lucro</a:t>
            </a:r>
            <a:r>
              <a:rPr lang="pt-BR" sz="4200" dirty="0">
                <a:cs typeface="Times New Roman" pitchFamily="18" charset="0"/>
              </a:rPr>
              <a:t> são rapidamente obtidos do sistema de informação contábil; </a:t>
            </a:r>
          </a:p>
          <a:p>
            <a:pPr algn="just">
              <a:lnSpc>
                <a:spcPct val="90000"/>
              </a:lnSpc>
            </a:pPr>
            <a:r>
              <a:rPr lang="pt-BR" sz="4200" dirty="0">
                <a:cs typeface="Times New Roman" pitchFamily="18" charset="0"/>
              </a:rPr>
              <a:t>é mais fácil para os gerentes industriais entenderem o custeamento dos produtos sob o custeio direto, pois os dados são próximos da fábrica e de sua responsabilidade, possibilitando a correta avaliação de desempenho setorial; 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918" y="1428724"/>
            <a:ext cx="5622237" cy="844821"/>
          </a:xfrm>
        </p:spPr>
        <p:txBody>
          <a:bodyPr/>
          <a:lstStyle/>
          <a:p>
            <a:r>
              <a:rPr lang="pt-BR" sz="4200" dirty="0">
                <a:solidFill>
                  <a:schemeClr val="tx1"/>
                </a:solidFill>
              </a:rPr>
              <a:t>Custeio Variável</a:t>
            </a:r>
          </a:p>
        </p:txBody>
      </p:sp>
    </p:spTree>
    <p:extLst>
      <p:ext uri="{BB962C8B-B14F-4D97-AF65-F5344CB8AC3E}">
        <p14:creationId xmlns:p14="http://schemas.microsoft.com/office/powerpoint/2010/main" val="3067128534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65412" y="2443200"/>
            <a:ext cx="11087100" cy="5200650"/>
          </a:xfrm>
          <a:prstGeom prst="rect">
            <a:avLst/>
          </a:prstGeom>
        </p:spPr>
        <p:txBody>
          <a:bodyPr lIns="137160" tIns="68580" rIns="137160" bIns="68580"/>
          <a:lstStyle/>
          <a:p>
            <a:pPr algn="just">
              <a:lnSpc>
                <a:spcPct val="90000"/>
              </a:lnSpc>
            </a:pPr>
            <a:r>
              <a:rPr lang="pt-BR" sz="4200" dirty="0">
                <a:cs typeface="Times New Roman" pitchFamily="18" charset="0"/>
              </a:rPr>
              <a:t>a exclusão dos custos fixos indiretos para valoração dos estoques causa sua subavaliação, fere os princípios contábeis e altera o resultados do período;</a:t>
            </a:r>
          </a:p>
          <a:p>
            <a:pPr algn="just">
              <a:spcBef>
                <a:spcPct val="100000"/>
              </a:spcBef>
            </a:pPr>
            <a:r>
              <a:rPr lang="pt-BR" sz="4200" dirty="0">
                <a:cs typeface="Times New Roman" pitchFamily="18" charset="0"/>
              </a:rPr>
              <a:t>é um conceito de custeamento e análise de custos para decisões de curto prazo, mas subestima os custos fixos, que são ligados à capacidade de produção e de planejamento de longo prazo, podendo trazer problemas de continuidade para a empresa ”.</a:t>
            </a:r>
          </a:p>
          <a:p>
            <a:pPr algn="just">
              <a:lnSpc>
                <a:spcPct val="90000"/>
              </a:lnSpc>
            </a:pPr>
            <a:endParaRPr lang="pt-BR" sz="4200" dirty="0">
              <a:cs typeface="Times New Roman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08" y="1428724"/>
            <a:ext cx="5622237" cy="844821"/>
          </a:xfrm>
        </p:spPr>
        <p:txBody>
          <a:bodyPr/>
          <a:lstStyle/>
          <a:p>
            <a:r>
              <a:rPr lang="pt-BR" sz="4200" dirty="0">
                <a:solidFill>
                  <a:schemeClr val="tx1"/>
                </a:solidFill>
              </a:rPr>
              <a:t>Custeio Variável</a:t>
            </a:r>
          </a:p>
        </p:txBody>
      </p:sp>
    </p:spTree>
    <p:extLst>
      <p:ext uri="{BB962C8B-B14F-4D97-AF65-F5344CB8AC3E}">
        <p14:creationId xmlns:p14="http://schemas.microsoft.com/office/powerpoint/2010/main" val="914482398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ChangeArrowheads="1"/>
          </p:cNvSpPr>
          <p:nvPr/>
        </p:nvSpPr>
        <p:spPr bwMode="auto">
          <a:xfrm>
            <a:off x="0" y="135151"/>
            <a:ext cx="27706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137160" tIns="68580" rIns="137160" bIns="6858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103425" name="Object 1"/>
          <p:cNvGraphicFramePr>
            <a:graphicFrameLocks noChangeAspect="1"/>
          </p:cNvGraphicFramePr>
          <p:nvPr/>
        </p:nvGraphicFramePr>
        <p:xfrm>
          <a:off x="1133364" y="1903141"/>
          <a:ext cx="10930203" cy="7473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473700" imgH="4089400" progId="Word.Picture.8">
                  <p:embed/>
                </p:oleObj>
              </mc:Choice>
              <mc:Fallback>
                <p:oleObj name="Picture" r:id="rId2" imgW="5473700" imgH="4089400" progId="Word.Picture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3364" y="1903141"/>
                        <a:ext cx="10930203" cy="74734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7" name="Rectangle 3"/>
          <p:cNvSpPr>
            <a:spLocks noChangeArrowheads="1"/>
          </p:cNvSpPr>
          <p:nvPr/>
        </p:nvSpPr>
        <p:spPr bwMode="auto">
          <a:xfrm>
            <a:off x="0" y="6007314"/>
            <a:ext cx="27706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137160" tIns="68580" rIns="137160" bIns="6858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cxnSp>
        <p:nvCxnSpPr>
          <p:cNvPr id="8" name="Conector reto 7"/>
          <p:cNvCxnSpPr/>
          <p:nvPr/>
        </p:nvCxnSpPr>
        <p:spPr>
          <a:xfrm rot="5400000">
            <a:off x="10854444" y="7627776"/>
            <a:ext cx="23762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32" y="1500162"/>
            <a:ext cx="5622237" cy="844821"/>
          </a:xfrm>
        </p:spPr>
        <p:txBody>
          <a:bodyPr/>
          <a:lstStyle/>
          <a:p>
            <a:r>
              <a:rPr lang="pt-BR" sz="4200" dirty="0">
                <a:solidFill>
                  <a:schemeClr val="tx1"/>
                </a:solidFill>
              </a:rPr>
              <a:t>Custeio Variável</a:t>
            </a:r>
          </a:p>
        </p:txBody>
      </p:sp>
    </p:spTree>
    <p:extLst>
      <p:ext uri="{BB962C8B-B14F-4D97-AF65-F5344CB8AC3E}">
        <p14:creationId xmlns:p14="http://schemas.microsoft.com/office/powerpoint/2010/main" val="36705870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42894" y="174948"/>
            <a:ext cx="5193126" cy="891456"/>
          </a:xfrm>
        </p:spPr>
        <p:txBody>
          <a:bodyPr/>
          <a:lstStyle/>
          <a:p>
            <a:r>
              <a:rPr lang="pt-BR" sz="4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D R E</a:t>
            </a:r>
          </a:p>
        </p:txBody>
      </p:sp>
      <p:sp>
        <p:nvSpPr>
          <p:cNvPr id="215043" name="Text Box 3"/>
          <p:cNvSpPr txBox="1">
            <a:spLocks noChangeArrowheads="1"/>
          </p:cNvSpPr>
          <p:nvPr/>
        </p:nvSpPr>
        <p:spPr bwMode="auto">
          <a:xfrm>
            <a:off x="7429500" y="2971801"/>
            <a:ext cx="5600700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7160" tIns="68580" rIns="137160" bIns="6858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pt-BR" sz="3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(-) Custos e Despesas Variáveis</a:t>
            </a:r>
          </a:p>
        </p:txBody>
      </p:sp>
      <p:sp>
        <p:nvSpPr>
          <p:cNvPr id="215044" name="Text Box 4"/>
          <p:cNvSpPr txBox="1">
            <a:spLocks noChangeArrowheads="1"/>
          </p:cNvSpPr>
          <p:nvPr/>
        </p:nvSpPr>
        <p:spPr bwMode="auto">
          <a:xfrm>
            <a:off x="7429500" y="3543301"/>
            <a:ext cx="5143500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7160" tIns="68580" rIns="137160" bIns="6858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pt-BR" sz="3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= Margem de Contribuição</a:t>
            </a:r>
          </a:p>
        </p:txBody>
      </p:sp>
      <p:sp>
        <p:nvSpPr>
          <p:cNvPr id="215045" name="Text Box 5"/>
          <p:cNvSpPr txBox="1">
            <a:spLocks noChangeArrowheads="1"/>
          </p:cNvSpPr>
          <p:nvPr/>
        </p:nvSpPr>
        <p:spPr bwMode="auto">
          <a:xfrm>
            <a:off x="7543800" y="4114801"/>
            <a:ext cx="4914900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7160" tIns="68580" rIns="137160" bIns="6858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pt-BR" sz="3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(-) Custos e Despesas Fixas</a:t>
            </a:r>
          </a:p>
        </p:txBody>
      </p:sp>
      <p:sp>
        <p:nvSpPr>
          <p:cNvPr id="215046" name="Text Box 6"/>
          <p:cNvSpPr txBox="1">
            <a:spLocks noChangeArrowheads="1"/>
          </p:cNvSpPr>
          <p:nvPr/>
        </p:nvSpPr>
        <p:spPr bwMode="auto">
          <a:xfrm>
            <a:off x="7315200" y="4776788"/>
            <a:ext cx="5143500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7160" tIns="68580" rIns="137160" bIns="6858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pt-BR" sz="3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= Resultado Operacional</a:t>
            </a:r>
          </a:p>
        </p:txBody>
      </p:sp>
      <p:sp>
        <p:nvSpPr>
          <p:cNvPr id="215047" name="Text Box 7"/>
          <p:cNvSpPr txBox="1">
            <a:spLocks noChangeArrowheads="1"/>
          </p:cNvSpPr>
          <p:nvPr/>
        </p:nvSpPr>
        <p:spPr bwMode="auto">
          <a:xfrm>
            <a:off x="7200900" y="2400301"/>
            <a:ext cx="3886200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7160" tIns="68580" rIns="137160" bIns="6858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pt-BR" sz="3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Receita de Venda</a:t>
            </a:r>
          </a:p>
        </p:txBody>
      </p:sp>
      <p:sp>
        <p:nvSpPr>
          <p:cNvPr id="215048" name="Text Box 8"/>
          <p:cNvSpPr txBox="1">
            <a:spLocks noChangeArrowheads="1"/>
          </p:cNvSpPr>
          <p:nvPr/>
        </p:nvSpPr>
        <p:spPr bwMode="auto">
          <a:xfrm>
            <a:off x="1485900" y="2971801"/>
            <a:ext cx="5600700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7160" tIns="68580" rIns="137160" bIns="6858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pt-BR" sz="3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(-) Custos Diretos e Indiretos</a:t>
            </a:r>
          </a:p>
        </p:txBody>
      </p:sp>
      <p:sp>
        <p:nvSpPr>
          <p:cNvPr id="215049" name="Text Box 9"/>
          <p:cNvSpPr txBox="1">
            <a:spLocks noChangeArrowheads="1"/>
          </p:cNvSpPr>
          <p:nvPr/>
        </p:nvSpPr>
        <p:spPr bwMode="auto">
          <a:xfrm>
            <a:off x="914400" y="3543301"/>
            <a:ext cx="5143500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7160" tIns="68580" rIns="137160" bIns="6858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pt-BR" sz="3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= Resultado Bruto</a:t>
            </a:r>
          </a:p>
        </p:txBody>
      </p:sp>
      <p:sp>
        <p:nvSpPr>
          <p:cNvPr id="215050" name="Text Box 10"/>
          <p:cNvSpPr txBox="1">
            <a:spLocks noChangeArrowheads="1"/>
          </p:cNvSpPr>
          <p:nvPr/>
        </p:nvSpPr>
        <p:spPr bwMode="auto">
          <a:xfrm>
            <a:off x="1600200" y="4114801"/>
            <a:ext cx="4914900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7160" tIns="68580" rIns="137160" bIns="6858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pt-BR" sz="3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(-) Despesas Operacionais</a:t>
            </a:r>
          </a:p>
        </p:txBody>
      </p:sp>
      <p:sp>
        <p:nvSpPr>
          <p:cNvPr id="215051" name="Text Box 11"/>
          <p:cNvSpPr txBox="1">
            <a:spLocks noChangeArrowheads="1"/>
          </p:cNvSpPr>
          <p:nvPr/>
        </p:nvSpPr>
        <p:spPr bwMode="auto">
          <a:xfrm>
            <a:off x="1371600" y="4776788"/>
            <a:ext cx="5143500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7160" tIns="68580" rIns="137160" bIns="6858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pt-BR" sz="3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= Resultado Operacional</a:t>
            </a:r>
          </a:p>
        </p:txBody>
      </p:sp>
      <p:sp>
        <p:nvSpPr>
          <p:cNvPr id="215052" name="Text Box 12"/>
          <p:cNvSpPr txBox="1">
            <a:spLocks noChangeArrowheads="1"/>
          </p:cNvSpPr>
          <p:nvPr/>
        </p:nvSpPr>
        <p:spPr bwMode="auto">
          <a:xfrm>
            <a:off x="1257300" y="2400301"/>
            <a:ext cx="3886200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7160" tIns="68580" rIns="137160" bIns="6858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pt-BR" sz="3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Receita de Venda</a:t>
            </a:r>
          </a:p>
        </p:txBody>
      </p:sp>
      <p:sp>
        <p:nvSpPr>
          <p:cNvPr id="215053" name="Text Box 13"/>
          <p:cNvSpPr txBox="1">
            <a:spLocks noChangeArrowheads="1"/>
          </p:cNvSpPr>
          <p:nvPr/>
        </p:nvSpPr>
        <p:spPr bwMode="auto">
          <a:xfrm>
            <a:off x="2057400" y="6395922"/>
            <a:ext cx="10287000" cy="346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7160" tIns="68580" rIns="137160" bIns="68580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pt-BR" sz="3600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Observe que no Custeio por </a:t>
            </a:r>
            <a:r>
              <a:rPr lang="pt-BR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Absorção os Custos alteram o Resultado Bruto </a:t>
            </a:r>
            <a:r>
              <a:rPr lang="pt-BR" sz="3600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e as </a:t>
            </a:r>
            <a:r>
              <a:rPr lang="pt-BR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Despesas alteram o Resultado Operacional</a:t>
            </a:r>
            <a:r>
              <a:rPr lang="pt-BR" sz="3600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, enquanto no Custeio </a:t>
            </a:r>
            <a:r>
              <a:rPr lang="pt-BR" sz="3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Variável</a:t>
            </a:r>
            <a:r>
              <a:rPr lang="pt-BR" sz="36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 os </a:t>
            </a:r>
            <a:r>
              <a:rPr lang="pt-BR" sz="3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Custos e Despesas Variáveis alteram a Margem de Contribuição </a:t>
            </a:r>
            <a:r>
              <a:rPr lang="pt-BR" sz="36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e os </a:t>
            </a:r>
            <a:r>
              <a:rPr lang="pt-BR" sz="3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Custos e Despesas Fixas alteram o Resultado Operacional 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857208" y="1573119"/>
            <a:ext cx="11193918" cy="891456"/>
          </a:xfrm>
          <a:prstGeom prst="rect">
            <a:avLst/>
          </a:prstGeom>
        </p:spPr>
        <p:txBody>
          <a:bodyPr lIns="137160" tIns="68580" rIns="137160" bIns="68580"/>
          <a:lstStyle/>
          <a:p>
            <a:pPr algn="ctr" defTabSz="1371600" eaLnBrk="0" hangingPunct="0">
              <a:defRPr/>
            </a:pPr>
            <a:r>
              <a:rPr lang="pt-BR" sz="4200" b="1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Absorção	          Variável</a:t>
            </a:r>
          </a:p>
        </p:txBody>
      </p:sp>
    </p:spTree>
    <p:extLst>
      <p:ext uri="{BB962C8B-B14F-4D97-AF65-F5344CB8AC3E}">
        <p14:creationId xmlns:p14="http://schemas.microsoft.com/office/powerpoint/2010/main" val="11431126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5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5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5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5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5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5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3" grpId="0" autoUpdateAnimBg="0"/>
      <p:bldP spid="215044" grpId="0" autoUpdateAnimBg="0"/>
      <p:bldP spid="215045" grpId="0" autoUpdateAnimBg="0"/>
      <p:bldP spid="215046" grpId="0" autoUpdateAnimBg="0"/>
      <p:bldP spid="215047" grpId="0" autoUpdateAnimBg="0"/>
      <p:bldP spid="215048" grpId="0" autoUpdateAnimBg="0"/>
      <p:bldP spid="215049" grpId="0" autoUpdateAnimBg="0"/>
      <p:bldP spid="215050" grpId="0" autoUpdateAnimBg="0"/>
      <p:bldP spid="215051" grpId="0" autoUpdateAnimBg="0"/>
      <p:bldP spid="215052" grpId="0" autoUpdateAnimBg="0"/>
      <p:bldP spid="215053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3FDA0A-B37B-57AF-CAA5-94F653324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392" y="823020"/>
            <a:ext cx="10657184" cy="1584176"/>
          </a:xfrm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pt-BR" sz="3600" dirty="0">
                <a:solidFill>
                  <a:schemeClr val="tx1"/>
                </a:solidFill>
              </a:rPr>
              <a:t>Como avaliar o Desempenho de um </a:t>
            </a:r>
            <a:br>
              <a:rPr lang="pt-BR" sz="3600" dirty="0">
                <a:solidFill>
                  <a:schemeClr val="tx1"/>
                </a:solidFill>
              </a:rPr>
            </a:br>
            <a:r>
              <a:rPr lang="pt-BR" sz="3600" dirty="0">
                <a:solidFill>
                  <a:schemeClr val="tx1"/>
                </a:solidFill>
              </a:rPr>
              <a:t>Centro de Custo?</a:t>
            </a:r>
            <a:br>
              <a:rPr lang="pt-BR" sz="3600" dirty="0">
                <a:solidFill>
                  <a:schemeClr val="tx1"/>
                </a:solidFill>
              </a:rPr>
            </a:br>
            <a:endParaRPr lang="pt-BR" sz="3600" dirty="0">
              <a:solidFill>
                <a:schemeClr val="tx1"/>
              </a:solidFill>
            </a:endParaRPr>
          </a:p>
        </p:txBody>
      </p:sp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A735D74A-F3FA-7E27-E92A-EBEDD87F130E}"/>
              </a:ext>
            </a:extLst>
          </p:cNvPr>
          <p:cNvGraphicFramePr>
            <a:graphicFrameLocks noGrp="1"/>
          </p:cNvGraphicFramePr>
          <p:nvPr>
            <p:ph sz="quarter" idx="10"/>
          </p:nvPr>
        </p:nvGraphicFramePr>
        <p:xfrm>
          <a:off x="161256" y="3487316"/>
          <a:ext cx="12889432" cy="5591748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6000253">
                  <a:extLst>
                    <a:ext uri="{9D8B030D-6E8A-4147-A177-3AD203B41FA5}">
                      <a16:colId xmlns:a16="http://schemas.microsoft.com/office/drawing/2014/main" val="1608843963"/>
                    </a:ext>
                  </a:extLst>
                </a:gridCol>
                <a:gridCol w="2000084">
                  <a:extLst>
                    <a:ext uri="{9D8B030D-6E8A-4147-A177-3AD203B41FA5}">
                      <a16:colId xmlns:a16="http://schemas.microsoft.com/office/drawing/2014/main" val="2218775031"/>
                    </a:ext>
                  </a:extLst>
                </a:gridCol>
                <a:gridCol w="1926007">
                  <a:extLst>
                    <a:ext uri="{9D8B030D-6E8A-4147-A177-3AD203B41FA5}">
                      <a16:colId xmlns:a16="http://schemas.microsoft.com/office/drawing/2014/main" val="806343038"/>
                    </a:ext>
                  </a:extLst>
                </a:gridCol>
                <a:gridCol w="1407467">
                  <a:extLst>
                    <a:ext uri="{9D8B030D-6E8A-4147-A177-3AD203B41FA5}">
                      <a16:colId xmlns:a16="http://schemas.microsoft.com/office/drawing/2014/main" val="3786790177"/>
                    </a:ext>
                  </a:extLst>
                </a:gridCol>
                <a:gridCol w="1555621">
                  <a:extLst>
                    <a:ext uri="{9D8B030D-6E8A-4147-A177-3AD203B41FA5}">
                      <a16:colId xmlns:a16="http://schemas.microsoft.com/office/drawing/2014/main" val="1357516778"/>
                    </a:ext>
                  </a:extLst>
                </a:gridCol>
              </a:tblGrid>
              <a:tr h="8760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ITENS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Clínica Geral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Ginecologia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Urologia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TOTAL</a:t>
                      </a:r>
                      <a:endParaRPr lang="pt-BR" sz="280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81849"/>
                  </a:ext>
                </a:extLst>
              </a:tr>
              <a:tr h="87609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Receita ou Faturamento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22.000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29.000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10.000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61.000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767664"/>
                  </a:ext>
                </a:extLst>
              </a:tr>
              <a:tr h="87609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(-) Gastos Variáveis com Procedimentos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(12.000)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(21.000)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(5.000)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(38.000)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390444"/>
                  </a:ext>
                </a:extLst>
              </a:tr>
              <a:tr h="87609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= Margem de Contribuição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10.000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8.000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5.000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23.000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364256"/>
                  </a:ext>
                </a:extLst>
              </a:tr>
              <a:tr h="87609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(-) Gastos Fixos Compartilhados com a </a:t>
                      </a:r>
                    </a:p>
                    <a:p>
                      <a:pPr algn="l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Estrutura Física, e por isso Rateio!!!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40%</a:t>
                      </a:r>
                    </a:p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(7.200)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45%</a:t>
                      </a:r>
                    </a:p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(8.100)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15%</a:t>
                      </a:r>
                    </a:p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(2.700)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100%</a:t>
                      </a:r>
                    </a:p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(18.000)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745181"/>
                  </a:ext>
                </a:extLst>
              </a:tr>
              <a:tr h="87609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= Lucro Operacional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2.800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(100)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2.300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5.000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089311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93B7E111-012C-A25E-C002-ADF826F00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371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77002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3FDA0A-B37B-57AF-CAA5-94F653324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36" y="228600"/>
            <a:ext cx="10657184" cy="1584176"/>
          </a:xfrm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pt-BR" sz="3600" dirty="0">
                <a:solidFill>
                  <a:schemeClr val="tx1"/>
                </a:solidFill>
              </a:rPr>
              <a:t>Como avaliar o Desempenho de um </a:t>
            </a:r>
            <a:br>
              <a:rPr lang="pt-BR" sz="3600" dirty="0">
                <a:solidFill>
                  <a:schemeClr val="tx1"/>
                </a:solidFill>
              </a:rPr>
            </a:br>
            <a:r>
              <a:rPr lang="pt-BR" sz="3600" dirty="0">
                <a:solidFill>
                  <a:schemeClr val="tx1"/>
                </a:solidFill>
              </a:rPr>
              <a:t>Centro de Custo?</a:t>
            </a:r>
            <a:br>
              <a:rPr lang="pt-BR" sz="3600" dirty="0">
                <a:solidFill>
                  <a:schemeClr val="tx1"/>
                </a:solidFill>
              </a:rPr>
            </a:br>
            <a:r>
              <a:rPr lang="pt-BR" sz="3600" dirty="0">
                <a:solidFill>
                  <a:schemeClr val="tx1"/>
                </a:solidFill>
              </a:rPr>
              <a:t>Pela MARGEM DE CONTRIBUIÇÃO!</a:t>
            </a:r>
            <a:br>
              <a:rPr lang="pt-BR" sz="3600" dirty="0">
                <a:solidFill>
                  <a:schemeClr val="tx1"/>
                </a:solidFill>
              </a:rPr>
            </a:br>
            <a:endParaRPr lang="pt-BR" sz="3600" dirty="0">
              <a:solidFill>
                <a:schemeClr val="tx1"/>
              </a:solidFill>
            </a:endParaRPr>
          </a:p>
        </p:txBody>
      </p:sp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A735D74A-F3FA-7E27-E92A-EBEDD87F130E}"/>
              </a:ext>
            </a:extLst>
          </p:cNvPr>
          <p:cNvGraphicFramePr>
            <a:graphicFrameLocks noGrp="1"/>
          </p:cNvGraphicFramePr>
          <p:nvPr>
            <p:ph sz="quarter" idx="10"/>
          </p:nvPr>
        </p:nvGraphicFramePr>
        <p:xfrm>
          <a:off x="161256" y="4232272"/>
          <a:ext cx="12889432" cy="5591748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6000253">
                  <a:extLst>
                    <a:ext uri="{9D8B030D-6E8A-4147-A177-3AD203B41FA5}">
                      <a16:colId xmlns:a16="http://schemas.microsoft.com/office/drawing/2014/main" val="1608843963"/>
                    </a:ext>
                  </a:extLst>
                </a:gridCol>
                <a:gridCol w="2000084">
                  <a:extLst>
                    <a:ext uri="{9D8B030D-6E8A-4147-A177-3AD203B41FA5}">
                      <a16:colId xmlns:a16="http://schemas.microsoft.com/office/drawing/2014/main" val="2218775031"/>
                    </a:ext>
                  </a:extLst>
                </a:gridCol>
                <a:gridCol w="1926007">
                  <a:extLst>
                    <a:ext uri="{9D8B030D-6E8A-4147-A177-3AD203B41FA5}">
                      <a16:colId xmlns:a16="http://schemas.microsoft.com/office/drawing/2014/main" val="806343038"/>
                    </a:ext>
                  </a:extLst>
                </a:gridCol>
                <a:gridCol w="1407467">
                  <a:extLst>
                    <a:ext uri="{9D8B030D-6E8A-4147-A177-3AD203B41FA5}">
                      <a16:colId xmlns:a16="http://schemas.microsoft.com/office/drawing/2014/main" val="3786790177"/>
                    </a:ext>
                  </a:extLst>
                </a:gridCol>
                <a:gridCol w="1555621">
                  <a:extLst>
                    <a:ext uri="{9D8B030D-6E8A-4147-A177-3AD203B41FA5}">
                      <a16:colId xmlns:a16="http://schemas.microsoft.com/office/drawing/2014/main" val="1357516778"/>
                    </a:ext>
                  </a:extLst>
                </a:gridCol>
              </a:tblGrid>
              <a:tr h="8760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ITENS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Clínica Geral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Ginecologia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Urologia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TOTAL</a:t>
                      </a:r>
                      <a:endParaRPr lang="pt-BR" sz="280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81849"/>
                  </a:ext>
                </a:extLst>
              </a:tr>
              <a:tr h="87609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Receita ou Faturamento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22.000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29.000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10.000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61.000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767664"/>
                  </a:ext>
                </a:extLst>
              </a:tr>
              <a:tr h="87609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(-) Gastos Variáveis com Procedimentos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(12.000)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(21.000)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(5.000)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(38.000)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390444"/>
                  </a:ext>
                </a:extLst>
              </a:tr>
              <a:tr h="87609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= Margem de Contribuição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10.000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8.000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5.000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23.000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364256"/>
                  </a:ext>
                </a:extLst>
              </a:tr>
              <a:tr h="87609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(-) Gastos Fixos Compartilhados com a </a:t>
                      </a:r>
                    </a:p>
                    <a:p>
                      <a:pPr algn="l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Estrutura Física, e por isso Rateio!!!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Liberation Sans Narrow"/>
                          <a:ea typeface="Liberation Sans Narrow"/>
                          <a:cs typeface="Liberation Sans Narrow"/>
                        </a:rPr>
                        <a:t>Dependerá da Escolha de um critério arbitrário de Rateio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100%</a:t>
                      </a:r>
                    </a:p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(18.000)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745181"/>
                  </a:ext>
                </a:extLst>
              </a:tr>
              <a:tr h="87609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= Lucro Operacional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Liberation Sans Narrow"/>
                          <a:ea typeface="Liberation Sans Narrow"/>
                          <a:cs typeface="Liberation Sans Narrow"/>
                        </a:rPr>
                        <a:t>???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28573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0340" algn="l"/>
                        </a:tabLst>
                        <a:defRPr/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Liberation Sans Narrow"/>
                          <a:ea typeface="Liberation Sans Narrow"/>
                          <a:cs typeface="Liberation Sans Narrow"/>
                        </a:rPr>
                        <a:t>???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28573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0340" algn="l"/>
                        </a:tabLst>
                        <a:defRPr/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Liberation Sans Narrow"/>
                          <a:ea typeface="Liberation Sans Narrow"/>
                          <a:cs typeface="Liberation Sans Narrow"/>
                        </a:rPr>
                        <a:t>???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tabLst>
                          <a:tab pos="180340" algn="l"/>
                        </a:tabLst>
                      </a:pP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5.000</a:t>
                      </a:r>
                      <a:endParaRPr lang="pt-BR" sz="28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Liberation Sans Narrow"/>
                        <a:ea typeface="Liberation Sans Narrow"/>
                        <a:cs typeface="Liberation Sans Narrow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089311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93B7E111-012C-A25E-C002-ADF826F00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371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77435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ítulo 1"/>
          <p:cNvSpPr>
            <a:spLocks noGrp="1"/>
          </p:cNvSpPr>
          <p:nvPr>
            <p:ph type="title"/>
          </p:nvPr>
        </p:nvSpPr>
        <p:spPr>
          <a:xfrm>
            <a:off x="685800" y="1593038"/>
            <a:ext cx="12344400" cy="978695"/>
          </a:xfrm>
        </p:spPr>
        <p:txBody>
          <a:bodyPr/>
          <a:lstStyle/>
          <a:p>
            <a:r>
              <a:rPr lang="pt-BR" sz="4200" b="1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REFLEXOS DAS VARIAÇÕES DA RECEITA</a:t>
            </a:r>
          </a:p>
        </p:txBody>
      </p:sp>
      <p:graphicFrame>
        <p:nvGraphicFramePr>
          <p:cNvPr id="35869" name="Group 29"/>
          <p:cNvGraphicFramePr>
            <a:graphicFrameLocks noGrp="1"/>
          </p:cNvGraphicFramePr>
          <p:nvPr/>
        </p:nvGraphicFramePr>
        <p:xfrm>
          <a:off x="500018" y="2714608"/>
          <a:ext cx="12249152" cy="6429281"/>
        </p:xfrm>
        <a:graphic>
          <a:graphicData uri="http://schemas.openxmlformats.org/drawingml/2006/table">
            <a:tbl>
              <a:tblPr/>
              <a:tblGrid>
                <a:gridCol w="2035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7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65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093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CAUSAS DAS VARIAÇÕES DA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RECEITA</a:t>
                      </a:r>
                    </a:p>
                  </a:txBody>
                  <a:tcPr marL="81972" marR="8197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GERAM     R E F L E X O S    NOS(AS)</a:t>
                      </a:r>
                    </a:p>
                  </a:txBody>
                  <a:tcPr marL="81972" marR="8197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EXEMPLOS</a:t>
                      </a:r>
                    </a:p>
                  </a:txBody>
                  <a:tcPr marL="81972" marR="8197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255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CUSTOS VARIÁVEIS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(MAT + MOD + ENERGIA)</a:t>
                      </a:r>
                    </a:p>
                  </a:txBody>
                  <a:tcPr marL="81972" marR="8197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DESPESAS VARIÁVEIS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(COMISSÕES DE VENDAS)</a:t>
                      </a:r>
                    </a:p>
                  </a:txBody>
                  <a:tcPr marL="81972" marR="8197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2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PREÇO</a:t>
                      </a:r>
                    </a:p>
                  </a:txBody>
                  <a:tcPr marL="81972" marR="8197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700" b="1" i="0" u="none" strike="noStrike" cap="none" normalizeH="0" baseline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81972" marR="81972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700" b="1" i="0" u="none" strike="noStrike" cap="none" normalizeH="0" baseline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81972" marR="81972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 Pinça: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$15,00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$20,00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$25,00</a:t>
                      </a:r>
                    </a:p>
                  </a:txBody>
                  <a:tcPr marL="81972" marR="81972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3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VOLUME (QTDE)</a:t>
                      </a:r>
                    </a:p>
                  </a:txBody>
                  <a:tcPr marL="81972" marR="8197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700" b="1" i="0" u="none" strike="noStrike" cap="none" normalizeH="0" baseline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81972" marR="81972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700" b="1" i="0" u="none" strike="noStrike" cap="none" normalizeH="0" baseline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81972" marR="81972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 Pinça:   $ 15,00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2 Pinças: $ 30,00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3 Pinças: $ 45,00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4 Pinças: $ 60,00</a:t>
                      </a:r>
                    </a:p>
                  </a:txBody>
                  <a:tcPr marL="81972" marR="81972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4345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31082" y="1485900"/>
            <a:ext cx="11658600" cy="1714500"/>
          </a:xfrm>
        </p:spPr>
        <p:txBody>
          <a:bodyPr/>
          <a:lstStyle/>
          <a:p>
            <a:r>
              <a:rPr lang="pt-BR" sz="4800" dirty="0">
                <a:solidFill>
                  <a:schemeClr val="tx2">
                    <a:lumMod val="75000"/>
                  </a:schemeClr>
                </a:solidFill>
              </a:rPr>
              <a:t>Custeio Baseado em Atividade ABC (</a:t>
            </a:r>
            <a:r>
              <a:rPr lang="pt-BR" sz="4800" dirty="0" err="1">
                <a:solidFill>
                  <a:schemeClr val="tx2">
                    <a:lumMod val="75000"/>
                  </a:schemeClr>
                </a:solidFill>
              </a:rPr>
              <a:t>Activity</a:t>
            </a:r>
            <a:r>
              <a:rPr lang="pt-BR" sz="4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sz="4800" dirty="0" err="1">
                <a:solidFill>
                  <a:schemeClr val="tx2">
                    <a:lumMod val="75000"/>
                  </a:schemeClr>
                </a:solidFill>
              </a:rPr>
              <a:t>Based</a:t>
            </a:r>
            <a:r>
              <a:rPr lang="pt-BR" sz="4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sz="4800" dirty="0" err="1">
                <a:solidFill>
                  <a:schemeClr val="tx2">
                    <a:lumMod val="75000"/>
                  </a:schemeClr>
                </a:solidFill>
              </a:rPr>
              <a:t>Costing</a:t>
            </a:r>
            <a:r>
              <a:rPr lang="pt-BR" sz="4800" dirty="0">
                <a:solidFill>
                  <a:schemeClr val="tx2">
                    <a:lumMod val="75000"/>
                  </a:schemeClr>
                </a:solidFill>
              </a:rPr>
              <a:t> 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41376" y="3579051"/>
            <a:ext cx="10972800" cy="6172200"/>
          </a:xfrm>
          <a:prstGeom prst="rect">
            <a:avLst/>
          </a:prstGeom>
        </p:spPr>
        <p:txBody>
          <a:bodyPr lIns="137160" tIns="68580" rIns="137160" bIns="68580"/>
          <a:lstStyle/>
          <a:p>
            <a:pPr algn="just">
              <a:lnSpc>
                <a:spcPct val="90000"/>
              </a:lnSpc>
              <a:spcBef>
                <a:spcPct val="150000"/>
              </a:spcBef>
            </a:pPr>
            <a:r>
              <a:rPr lang="pt-BR" sz="3300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é um sistema de custeio baseado na análise das atividades significativas desenvolvidas na empresa. Visa a eliminar as limitações impostas pelos sistemas tradicionais de custeio, criadas numa época em que a </a:t>
            </a:r>
            <a:r>
              <a:rPr lang="pt-BR" sz="3300" u="sng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mão de obra direta</a:t>
            </a:r>
            <a:r>
              <a:rPr lang="pt-BR" sz="3300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 era a parcela mais significativa na estrutura dos custo do produto</a:t>
            </a:r>
          </a:p>
          <a:p>
            <a:pPr algn="just">
              <a:lnSpc>
                <a:spcPct val="90000"/>
              </a:lnSpc>
              <a:spcBef>
                <a:spcPct val="150000"/>
              </a:spcBef>
            </a:pPr>
            <a:r>
              <a:rPr lang="pt-BR" sz="3300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estabelece relações bem definidas entre atividades e o evento mensurável que origina cada atividade</a:t>
            </a:r>
            <a:r>
              <a:rPr lang="pt-BR" sz="3300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pPr algn="just">
              <a:lnSpc>
                <a:spcPct val="90000"/>
              </a:lnSpc>
              <a:spcBef>
                <a:spcPct val="150000"/>
              </a:spcBef>
            </a:pPr>
            <a:r>
              <a:rPr lang="pt-BR" sz="3300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alocação racional dos gastos indiretos aos bens e serviços produzidos, proporcionando um controle mais apurado dos gastos da empresa e melhor suporte nas decisões gerenciais</a:t>
            </a:r>
            <a:r>
              <a:rPr lang="pt-BR" sz="3300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010507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85664" y="2048382"/>
            <a:ext cx="12587442" cy="1059135"/>
          </a:xfrm>
        </p:spPr>
        <p:txBody>
          <a:bodyPr/>
          <a:lstStyle/>
          <a:p>
            <a:pPr algn="ctr"/>
            <a:r>
              <a:rPr lang="pt-BR" sz="4800" dirty="0">
                <a:solidFill>
                  <a:schemeClr val="tx2">
                    <a:lumMod val="75000"/>
                  </a:schemeClr>
                </a:solidFill>
              </a:rPr>
              <a:t>Indicações de uso do ABC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28581" y="3257580"/>
            <a:ext cx="12573088" cy="6172200"/>
          </a:xfrm>
          <a:prstGeom prst="rect">
            <a:avLst/>
          </a:prstGeom>
        </p:spPr>
        <p:txBody>
          <a:bodyPr lIns="137160" tIns="68580" rIns="137160" bIns="68580"/>
          <a:lstStyle/>
          <a:p>
            <a:pPr algn="just">
              <a:spcBef>
                <a:spcPct val="150000"/>
              </a:spcBef>
            </a:pPr>
            <a:r>
              <a:rPr lang="pt-BR" sz="3900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custo indireto ser a parcela significativa na composição do custo total</a:t>
            </a:r>
          </a:p>
          <a:p>
            <a:pPr algn="just">
              <a:spcBef>
                <a:spcPct val="150000"/>
              </a:spcBef>
            </a:pPr>
            <a:r>
              <a:rPr lang="pt-BR" sz="3900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diversidade de produtos e/ou serviços com variação relevante nos volumes de produção ou processo produtivo</a:t>
            </a:r>
          </a:p>
          <a:p>
            <a:pPr algn="just">
              <a:spcBef>
                <a:spcPct val="150000"/>
              </a:spcBef>
            </a:pPr>
            <a:r>
              <a:rPr lang="pt-BR" sz="3900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encomendas especiais onde volume e/ou especificações do produto variam de acordo com determinações impostas pelo cliente</a:t>
            </a:r>
          </a:p>
          <a:p>
            <a:pPr algn="just">
              <a:spcBef>
                <a:spcPct val="150000"/>
              </a:spcBef>
            </a:pPr>
            <a:endParaRPr lang="pt-BR" sz="39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651715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85664" y="1941225"/>
            <a:ext cx="12373128" cy="1059135"/>
          </a:xfrm>
        </p:spPr>
        <p:txBody>
          <a:bodyPr/>
          <a:lstStyle/>
          <a:p>
            <a:pPr algn="ctr"/>
            <a:r>
              <a:rPr lang="pt-BR" sz="4800" dirty="0">
                <a:solidFill>
                  <a:schemeClr val="tx2">
                    <a:lumMod val="75000"/>
                  </a:schemeClr>
                </a:solidFill>
              </a:rPr>
              <a:t>Direcionadores de Custos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28580" y="3579051"/>
            <a:ext cx="12751683" cy="6172200"/>
          </a:xfrm>
          <a:prstGeom prst="rect">
            <a:avLst/>
          </a:prstGeom>
        </p:spPr>
        <p:txBody>
          <a:bodyPr lIns="137160" tIns="68580" rIns="137160" bIns="68580"/>
          <a:lstStyle/>
          <a:p>
            <a:pPr algn="just">
              <a:lnSpc>
                <a:spcPct val="80000"/>
              </a:lnSpc>
              <a:spcBef>
                <a:spcPct val="150000"/>
              </a:spcBef>
            </a:pPr>
            <a:r>
              <a:rPr lang="pt-BR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São fatores que geram ou influenciam o nível dos gastos de uma atividade ou de um objeto de custeio </a:t>
            </a:r>
          </a:p>
          <a:p>
            <a:pPr algn="just">
              <a:lnSpc>
                <a:spcPct val="80000"/>
              </a:lnSpc>
              <a:spcBef>
                <a:spcPct val="150000"/>
              </a:spcBef>
            </a:pPr>
            <a:r>
              <a:rPr lang="pt-BR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Aplicados ao rastreamento e a distribuição de atividades aos objetos de custeio </a:t>
            </a:r>
          </a:p>
          <a:p>
            <a:pPr algn="just">
              <a:lnSpc>
                <a:spcPct val="80000"/>
              </a:lnSpc>
              <a:spcBef>
                <a:spcPct val="150000"/>
              </a:spcBef>
            </a:pPr>
            <a:r>
              <a:rPr lang="pt-BR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Apuração do custo dos recursos consumidos pelas diferentes atividades; e</a:t>
            </a:r>
          </a:p>
          <a:p>
            <a:pPr algn="just">
              <a:lnSpc>
                <a:spcPct val="80000"/>
              </a:lnSpc>
              <a:spcBef>
                <a:spcPct val="150000"/>
              </a:spcBef>
            </a:pPr>
            <a:r>
              <a:rPr lang="pt-BR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Indicação do percentual em que cada objeto a ser custeado participa no consumo dessas atividades.</a:t>
            </a:r>
            <a:endParaRPr lang="pt-BR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822397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5737" y="2035947"/>
            <a:ext cx="12858840" cy="1059135"/>
          </a:xfrm>
        </p:spPr>
        <p:txBody>
          <a:bodyPr/>
          <a:lstStyle/>
          <a:p>
            <a:pPr algn="ctr"/>
            <a:r>
              <a:rPr lang="pt-BR" sz="4800" dirty="0">
                <a:solidFill>
                  <a:schemeClr val="tx2">
                    <a:lumMod val="75000"/>
                  </a:schemeClr>
                </a:solidFill>
              </a:rPr>
              <a:t>Principais dificuldades do ABC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28580" y="3364737"/>
            <a:ext cx="12751683" cy="5529258"/>
          </a:xfrm>
          <a:prstGeom prst="rect">
            <a:avLst/>
          </a:prstGeom>
        </p:spPr>
        <p:txBody>
          <a:bodyPr lIns="137160" tIns="68580" rIns="137160" bIns="68580"/>
          <a:lstStyle/>
          <a:p>
            <a:pPr algn="just"/>
            <a:r>
              <a:rPr lang="pt-BR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Carga de trabalho elevada</a:t>
            </a:r>
          </a:p>
          <a:p>
            <a:pPr algn="just"/>
            <a:r>
              <a:rPr lang="pt-BR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Insuficiência de recursos humanos e de equipamentos de informática</a:t>
            </a:r>
          </a:p>
          <a:p>
            <a:pPr algn="just"/>
            <a:r>
              <a:rPr lang="pt-BR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Dificuldades relacionadas com os direcionadores de custos</a:t>
            </a:r>
          </a:p>
          <a:p>
            <a:pPr algn="just"/>
            <a:r>
              <a:rPr lang="pt-BR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Seleção de atividades</a:t>
            </a:r>
          </a:p>
          <a:p>
            <a:pPr algn="just"/>
            <a:r>
              <a:rPr lang="pt-BR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Desenho do sistema</a:t>
            </a:r>
          </a:p>
          <a:p>
            <a:pPr algn="just"/>
            <a:r>
              <a:rPr lang="pt-BR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Custo x benefício do sistema.</a:t>
            </a:r>
          </a:p>
          <a:p>
            <a:pPr algn="just"/>
            <a:r>
              <a:rPr lang="pt-BR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Reeducação de contadores e gerentes </a:t>
            </a:r>
          </a:p>
        </p:txBody>
      </p:sp>
    </p:spTree>
    <p:extLst>
      <p:ext uri="{BB962C8B-B14F-4D97-AF65-F5344CB8AC3E}">
        <p14:creationId xmlns:p14="http://schemas.microsoft.com/office/powerpoint/2010/main" val="1554103694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21435"/>
            <a:ext cx="6922299" cy="978695"/>
          </a:xfrm>
        </p:spPr>
        <p:txBody>
          <a:bodyPr/>
          <a:lstStyle/>
          <a:p>
            <a:r>
              <a:rPr lang="pt-BR" sz="4200" dirty="0">
                <a:solidFill>
                  <a:schemeClr val="tx1"/>
                </a:solidFill>
              </a:rPr>
              <a:t>Ponto de Equilíbrio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7340" y="2143104"/>
            <a:ext cx="11658600" cy="6172200"/>
          </a:xfrm>
          <a:prstGeom prst="rect">
            <a:avLst/>
          </a:prstGeom>
        </p:spPr>
        <p:txBody>
          <a:bodyPr lIns="137160" tIns="68580" rIns="137160" bIns="68580"/>
          <a:lstStyle/>
          <a:p>
            <a:pPr algn="just"/>
            <a:r>
              <a:rPr lang="pt-BR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é o nível de atividade em que as receitas totais e os custos totais se igualam, ou seja, onde o lucro é igual a zero.</a:t>
            </a:r>
          </a:p>
          <a:p>
            <a:pPr algn="just">
              <a:buFontTx/>
              <a:buNone/>
            </a:pPr>
            <a:r>
              <a:rPr lang="pt-BR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</a:p>
          <a:p>
            <a:pPr algn="just"/>
            <a:r>
              <a:rPr lang="pt-BR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este tipo de análise é de grande importância tanto para empresas com fins lucrativos quanto para entidades sem fins lucrativos, em função de se verificar como os custos variam em relação ao volume produzido e consequentemente o resultado auferido.</a:t>
            </a:r>
          </a:p>
          <a:p>
            <a:pPr algn="just">
              <a:buFontTx/>
              <a:buNone/>
            </a:pPr>
            <a:r>
              <a:rPr lang="pt-BR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</a:p>
          <a:p>
            <a:pPr>
              <a:buFontTx/>
              <a:buNone/>
            </a:pPr>
            <a:endParaRPr lang="pt-BR" dirty="0">
              <a:solidFill>
                <a:schemeClr val="tx2">
                  <a:lumMod val="7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016266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71456" y="1142972"/>
            <a:ext cx="9587046" cy="627087"/>
          </a:xfrm>
        </p:spPr>
        <p:txBody>
          <a:bodyPr/>
          <a:lstStyle/>
          <a:p>
            <a:pPr lvl="1"/>
            <a:r>
              <a:rPr lang="pt-PT" sz="36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Ponto de Equilíbrio Operacional</a:t>
            </a:r>
            <a:endParaRPr lang="pt-BR" sz="36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4" name="Picture 3" descr="FIG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1163" y="2400300"/>
            <a:ext cx="10206038" cy="6822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85664" y="321435"/>
            <a:ext cx="7560468" cy="1059135"/>
          </a:xfrm>
        </p:spPr>
        <p:txBody>
          <a:bodyPr/>
          <a:lstStyle/>
          <a:p>
            <a:r>
              <a:rPr lang="pt-BR" sz="4200" dirty="0">
                <a:solidFill>
                  <a:schemeClr val="tx1"/>
                </a:solidFill>
              </a:rPr>
              <a:t>Ponto de Equilíbrio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0269" y="1707107"/>
            <a:ext cx="11658600" cy="1671700"/>
          </a:xfrm>
          <a:prstGeom prst="rect">
            <a:avLst/>
          </a:prstGeom>
        </p:spPr>
        <p:txBody>
          <a:bodyPr lIns="137160" tIns="68580" rIns="137160" bIns="68580"/>
          <a:lstStyle/>
          <a:p>
            <a:pPr marL="0" indent="564357" algn="ctr">
              <a:buNone/>
            </a:pPr>
            <a:r>
              <a:rPr lang="pt-BR" sz="3000" b="1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Para se calcular o Ponto de Equilíbrio (</a:t>
            </a:r>
            <a:r>
              <a:rPr lang="pt-BR" sz="3000" b="1" dirty="0" err="1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PtEq</a:t>
            </a:r>
            <a:r>
              <a:rPr lang="pt-BR" sz="3000" b="1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) de cada Centro de Custo de seu interesse, é necessário seguir os seguintes passos técnicos:</a:t>
            </a:r>
            <a:endParaRPr lang="pt-BR" sz="3000" dirty="0">
              <a:solidFill>
                <a:schemeClr val="tx2">
                  <a:lumMod val="7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564357">
              <a:buNone/>
            </a:pPr>
            <a:endParaRPr lang="pt-BR" sz="3000" dirty="0">
              <a:solidFill>
                <a:schemeClr val="tx2">
                  <a:lumMod val="7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EADA071-80A0-933B-E955-3260C2D36B48}"/>
              </a:ext>
            </a:extLst>
          </p:cNvPr>
          <p:cNvGraphicFramePr>
            <a:graphicFrameLocks noGrp="1"/>
          </p:cNvGraphicFramePr>
          <p:nvPr/>
        </p:nvGraphicFramePr>
        <p:xfrm>
          <a:off x="809328" y="5357688"/>
          <a:ext cx="11471622" cy="41783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493069">
                  <a:extLst>
                    <a:ext uri="{9D8B030D-6E8A-4147-A177-3AD203B41FA5}">
                      <a16:colId xmlns:a16="http://schemas.microsoft.com/office/drawing/2014/main" val="2284064560"/>
                    </a:ext>
                  </a:extLst>
                </a:gridCol>
                <a:gridCol w="2978553">
                  <a:extLst>
                    <a:ext uri="{9D8B030D-6E8A-4147-A177-3AD203B41FA5}">
                      <a16:colId xmlns:a16="http://schemas.microsoft.com/office/drawing/2014/main" val="24346412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pt-BR" sz="3200" dirty="0">
                          <a:solidFill>
                            <a:schemeClr val="tx1"/>
                          </a:solidFill>
                          <a:effectLst/>
                        </a:rPr>
                        <a:t>Receita (Faturamento para 1.000 execuções)</a:t>
                      </a:r>
                      <a:endParaRPr lang="pt-BR" sz="3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3200" dirty="0">
                          <a:solidFill>
                            <a:schemeClr val="tx1"/>
                          </a:solidFill>
                          <a:effectLst/>
                        </a:rPr>
                        <a:t>$200.000</a:t>
                      </a:r>
                      <a:endParaRPr lang="pt-BR" sz="3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058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pt-BR" sz="3200" dirty="0">
                          <a:solidFill>
                            <a:schemeClr val="tx1"/>
                          </a:solidFill>
                          <a:effectLst/>
                        </a:rPr>
                        <a:t>(-) Variáveis com a quantidade de Procedimentos</a:t>
                      </a:r>
                      <a:endParaRPr lang="pt-BR" sz="3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3200" dirty="0">
                          <a:solidFill>
                            <a:schemeClr val="tx1"/>
                          </a:solidFill>
                          <a:effectLst/>
                        </a:rPr>
                        <a:t>($160.000)</a:t>
                      </a:r>
                      <a:endParaRPr lang="pt-BR" sz="3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987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pt-BR" sz="3200" dirty="0">
                          <a:solidFill>
                            <a:schemeClr val="tx1"/>
                          </a:solidFill>
                          <a:effectLst/>
                        </a:rPr>
                        <a:t>= Margem de Contribuição por Procedimento</a:t>
                      </a:r>
                      <a:endParaRPr lang="pt-BR" sz="3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3200" dirty="0">
                          <a:solidFill>
                            <a:schemeClr val="tx1"/>
                          </a:solidFill>
                          <a:effectLst/>
                        </a:rPr>
                        <a:t>$40.000</a:t>
                      </a:r>
                      <a:endParaRPr lang="pt-BR" sz="3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66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pt-BR" sz="3200" dirty="0">
                          <a:solidFill>
                            <a:schemeClr val="tx1"/>
                          </a:solidFill>
                          <a:effectLst/>
                        </a:rPr>
                        <a:t>(-) Fixos da Estrutura Física (já reteados)</a:t>
                      </a:r>
                      <a:endParaRPr lang="pt-BR" sz="3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3200" dirty="0">
                          <a:solidFill>
                            <a:schemeClr val="tx1"/>
                          </a:solidFill>
                          <a:effectLst/>
                        </a:rPr>
                        <a:t>($60.000)</a:t>
                      </a:r>
                      <a:endParaRPr lang="pt-BR" sz="3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78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pt-BR" sz="3200" dirty="0">
                          <a:solidFill>
                            <a:schemeClr val="tx1"/>
                          </a:solidFill>
                          <a:effectLst/>
                        </a:rPr>
                        <a:t>Lucro ou </a:t>
                      </a:r>
                      <a:r>
                        <a:rPr lang="pt-BR" sz="3200" dirty="0" err="1">
                          <a:solidFill>
                            <a:schemeClr val="tx1"/>
                          </a:solidFill>
                          <a:effectLst/>
                        </a:rPr>
                        <a:t>Prej</a:t>
                      </a:r>
                      <a:r>
                        <a:rPr lang="pt-BR" sz="3200" dirty="0">
                          <a:solidFill>
                            <a:schemeClr val="tx1"/>
                          </a:solidFill>
                          <a:effectLst/>
                        </a:rPr>
                        <a:t> Oper. Líquido</a:t>
                      </a:r>
                      <a:endParaRPr lang="pt-BR" sz="3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3200" dirty="0">
                          <a:solidFill>
                            <a:schemeClr val="tx1"/>
                          </a:solidFill>
                          <a:effectLst/>
                        </a:rPr>
                        <a:t>($20.000)</a:t>
                      </a:r>
                      <a:endParaRPr lang="pt-BR" sz="3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828260"/>
                  </a:ext>
                </a:extLst>
              </a:tr>
            </a:tbl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D19A54A2-A94A-1287-CF7E-C114E1004CA0}"/>
              </a:ext>
            </a:extLst>
          </p:cNvPr>
          <p:cNvSpPr txBox="1">
            <a:spLocks noChangeArrowheads="1"/>
          </p:cNvSpPr>
          <p:nvPr/>
        </p:nvSpPr>
        <p:spPr>
          <a:xfrm>
            <a:off x="377280" y="3532397"/>
            <a:ext cx="11658600" cy="1671700"/>
          </a:xfrm>
          <a:prstGeom prst="rect">
            <a:avLst/>
          </a:prstGeom>
        </p:spPr>
        <p:txBody>
          <a:bodyPr lIns="137160" tIns="68580" rIns="137160" bIns="68580"/>
          <a:lstStyle>
            <a:lvl1pPr marL="385715" indent="-38571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35715" indent="-321429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716" indent="-2571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000" indent="-2571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289" indent="-2571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574" indent="-257144" algn="l" defTabSz="102857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860" indent="-257144" algn="l" defTabSz="102857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147" indent="-257144" algn="l" defTabSz="102857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432" indent="-257144" algn="l" defTabSz="102857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564357" algn="ctr">
              <a:buFont typeface="Arial" panose="020B0604020202020204" pitchFamily="34" charset="0"/>
              <a:buNone/>
            </a:pPr>
            <a:r>
              <a:rPr lang="pt-BR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1º passo: Elaborar a DRE Gerencial para cada Centro de Custo que apresenta Margem de Contribuição positiva</a:t>
            </a:r>
            <a:endParaRPr lang="pt-BR" sz="28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564357">
              <a:buFont typeface="Arial" panose="020B0604020202020204" pitchFamily="34" charset="0"/>
              <a:buNone/>
            </a:pPr>
            <a:endParaRPr lang="pt-BR" sz="28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55393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85664" y="321435"/>
            <a:ext cx="7560468" cy="1059135"/>
          </a:xfrm>
        </p:spPr>
        <p:txBody>
          <a:bodyPr/>
          <a:lstStyle/>
          <a:p>
            <a:r>
              <a:rPr lang="pt-BR" sz="4200" dirty="0">
                <a:solidFill>
                  <a:schemeClr val="tx1"/>
                </a:solidFill>
              </a:rPr>
              <a:t>Ponto de Equilíbrio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0269" y="1707107"/>
            <a:ext cx="11658600" cy="1671700"/>
          </a:xfrm>
          <a:prstGeom prst="rect">
            <a:avLst/>
          </a:prstGeom>
        </p:spPr>
        <p:txBody>
          <a:bodyPr lIns="137160" tIns="68580" rIns="137160" bIns="68580"/>
          <a:lstStyle/>
          <a:p>
            <a:pPr marL="0" indent="564357" algn="ctr">
              <a:buNone/>
            </a:pPr>
            <a:r>
              <a:rPr lang="pt-BR" sz="3000" b="1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Para se calcular o Ponto de Equilíbrio (</a:t>
            </a:r>
            <a:r>
              <a:rPr lang="pt-BR" sz="3000" b="1" dirty="0" err="1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PtEq</a:t>
            </a:r>
            <a:r>
              <a:rPr lang="pt-BR" sz="3000" b="1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) de cada Centro de Custo de seu interesse, é necessário seguir os seguintes passos técnicos:</a:t>
            </a:r>
            <a:endParaRPr lang="pt-BR" sz="3000" dirty="0">
              <a:solidFill>
                <a:schemeClr val="tx2">
                  <a:lumMod val="7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564357">
              <a:buNone/>
            </a:pPr>
            <a:endParaRPr lang="pt-BR" sz="3000" dirty="0">
              <a:solidFill>
                <a:schemeClr val="tx2">
                  <a:lumMod val="7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19A54A2-A94A-1287-CF7E-C114E1004CA0}"/>
              </a:ext>
            </a:extLst>
          </p:cNvPr>
          <p:cNvSpPr txBox="1">
            <a:spLocks noChangeArrowheads="1"/>
          </p:cNvSpPr>
          <p:nvPr/>
        </p:nvSpPr>
        <p:spPr>
          <a:xfrm>
            <a:off x="377280" y="3676413"/>
            <a:ext cx="11658600" cy="1179055"/>
          </a:xfrm>
          <a:prstGeom prst="rect">
            <a:avLst/>
          </a:prstGeom>
        </p:spPr>
        <p:txBody>
          <a:bodyPr lIns="137160" tIns="68580" rIns="137160" bIns="68580"/>
          <a:lstStyle>
            <a:lvl1pPr marL="385715" indent="-38571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35715" indent="-321429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716" indent="-2571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000" indent="-2571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289" indent="-2571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574" indent="-257144" algn="l" defTabSz="102857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860" indent="-257144" algn="l" defTabSz="102857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147" indent="-257144" algn="l" defTabSz="102857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432" indent="-257144" algn="l" defTabSz="102857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564357" algn="ctr">
              <a:buFont typeface="Arial" panose="020B0604020202020204" pitchFamily="34" charset="0"/>
              <a:buNone/>
            </a:pPr>
            <a:r>
              <a:rPr lang="pt-BR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2º passo: Calcular a Margem de Contribuição UNITÁRIA</a:t>
            </a:r>
            <a:endParaRPr lang="pt-BR" sz="28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564357">
              <a:buFont typeface="Arial" panose="020B0604020202020204" pitchFamily="34" charset="0"/>
              <a:buNone/>
            </a:pPr>
            <a:endParaRPr lang="pt-BR" sz="28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77D955A-0122-A432-50E2-942CFD363132}"/>
              </a:ext>
            </a:extLst>
          </p:cNvPr>
          <p:cNvGraphicFramePr>
            <a:graphicFrameLocks noGrp="1"/>
          </p:cNvGraphicFramePr>
          <p:nvPr/>
        </p:nvGraphicFramePr>
        <p:xfrm>
          <a:off x="233264" y="4686764"/>
          <a:ext cx="12845059" cy="38507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36504">
                  <a:extLst>
                    <a:ext uri="{9D8B030D-6E8A-4147-A177-3AD203B41FA5}">
                      <a16:colId xmlns:a16="http://schemas.microsoft.com/office/drawing/2014/main" val="2695600912"/>
                    </a:ext>
                  </a:extLst>
                </a:gridCol>
                <a:gridCol w="1808488">
                  <a:extLst>
                    <a:ext uri="{9D8B030D-6E8A-4147-A177-3AD203B41FA5}">
                      <a16:colId xmlns:a16="http://schemas.microsoft.com/office/drawing/2014/main" val="3496538558"/>
                    </a:ext>
                  </a:extLst>
                </a:gridCol>
                <a:gridCol w="1207135">
                  <a:extLst>
                    <a:ext uri="{9D8B030D-6E8A-4147-A177-3AD203B41FA5}">
                      <a16:colId xmlns:a16="http://schemas.microsoft.com/office/drawing/2014/main" val="1485587945"/>
                    </a:ext>
                  </a:extLst>
                </a:gridCol>
                <a:gridCol w="5292932">
                  <a:extLst>
                    <a:ext uri="{9D8B030D-6E8A-4147-A177-3AD203B41FA5}">
                      <a16:colId xmlns:a16="http://schemas.microsoft.com/office/drawing/2014/main" val="1852594562"/>
                    </a:ext>
                  </a:extLst>
                </a:gridCol>
              </a:tblGrid>
              <a:tr h="712716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pt-BR" sz="2800" b="0" dirty="0">
                          <a:solidFill>
                            <a:schemeClr val="tx1"/>
                          </a:solidFill>
                          <a:effectLst/>
                        </a:rPr>
                        <a:t>Receita (Faturamento)</a:t>
                      </a:r>
                      <a:endParaRPr lang="pt-BR" sz="2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800" b="0">
                          <a:solidFill>
                            <a:schemeClr val="tx1"/>
                          </a:solidFill>
                          <a:effectLst/>
                        </a:rPr>
                        <a:t>$200.000</a:t>
                      </a:r>
                      <a:endParaRPr lang="pt-BR" sz="2800" b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800" b="0" dirty="0">
                          <a:solidFill>
                            <a:schemeClr val="tx1"/>
                          </a:solidFill>
                          <a:effectLst/>
                        </a:rPr>
                        <a:t>/1.000</a:t>
                      </a:r>
                      <a:endParaRPr lang="pt-BR" sz="2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800" b="0" dirty="0">
                          <a:solidFill>
                            <a:schemeClr val="tx1"/>
                          </a:solidFill>
                          <a:effectLst/>
                        </a:rPr>
                        <a:t>Receita  Unitária ............... $200</a:t>
                      </a:r>
                      <a:endParaRPr lang="pt-BR" sz="2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579477"/>
                  </a:ext>
                </a:extLst>
              </a:tr>
              <a:tr h="925899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pt-BR" sz="2800" b="0" dirty="0">
                          <a:solidFill>
                            <a:schemeClr val="tx1"/>
                          </a:solidFill>
                          <a:effectLst/>
                        </a:rPr>
                        <a:t>(-) Variáveis</a:t>
                      </a:r>
                      <a:endParaRPr lang="pt-BR" sz="2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800" b="0" dirty="0">
                          <a:solidFill>
                            <a:schemeClr val="tx1"/>
                          </a:solidFill>
                          <a:effectLst/>
                        </a:rPr>
                        <a:t>($160.000)</a:t>
                      </a:r>
                      <a:endParaRPr lang="pt-BR" sz="2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800" b="0" dirty="0">
                          <a:solidFill>
                            <a:schemeClr val="tx1"/>
                          </a:solidFill>
                          <a:effectLst/>
                        </a:rPr>
                        <a:t>/1.000</a:t>
                      </a:r>
                      <a:endParaRPr lang="pt-BR" sz="2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800" b="0" dirty="0">
                          <a:solidFill>
                            <a:schemeClr val="tx1"/>
                          </a:solidFill>
                          <a:effectLst/>
                        </a:rPr>
                        <a:t>(-) Variáveis Unitários........ ($160)</a:t>
                      </a:r>
                      <a:endParaRPr lang="pt-BR" sz="2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51468"/>
                  </a:ext>
                </a:extLst>
              </a:tr>
              <a:tr h="671842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pt-BR" sz="2800" b="0" dirty="0">
                          <a:solidFill>
                            <a:schemeClr val="tx1"/>
                          </a:solidFill>
                          <a:effectLst/>
                        </a:rPr>
                        <a:t>= Margem de Contribuição</a:t>
                      </a:r>
                      <a:endParaRPr lang="pt-BR" sz="2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800" b="0" dirty="0">
                          <a:solidFill>
                            <a:schemeClr val="tx1"/>
                          </a:solidFill>
                          <a:effectLst/>
                        </a:rPr>
                        <a:t>$40.000</a:t>
                      </a:r>
                      <a:endParaRPr lang="pt-BR" sz="2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800" b="0" dirty="0">
                          <a:solidFill>
                            <a:schemeClr val="tx1"/>
                          </a:solidFill>
                          <a:effectLst/>
                        </a:rPr>
                        <a:t>/1.000</a:t>
                      </a:r>
                      <a:endParaRPr lang="pt-BR" sz="2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pt-BR" sz="2800" b="1" dirty="0">
                          <a:solidFill>
                            <a:schemeClr val="tx1"/>
                          </a:solidFill>
                          <a:effectLst/>
                        </a:rPr>
                        <a:t>= M. de </a:t>
                      </a:r>
                      <a:r>
                        <a:rPr lang="pt-BR" sz="2800" b="1" dirty="0" err="1">
                          <a:solidFill>
                            <a:schemeClr val="tx1"/>
                          </a:solidFill>
                          <a:effectLst/>
                        </a:rPr>
                        <a:t>Contrib</a:t>
                      </a:r>
                      <a:r>
                        <a:rPr lang="pt-BR" sz="2800" b="1" dirty="0">
                          <a:solidFill>
                            <a:schemeClr val="tx1"/>
                          </a:solidFill>
                          <a:effectLst/>
                        </a:rPr>
                        <a:t>. Unitária.... $40</a:t>
                      </a:r>
                      <a:endParaRPr lang="pt-BR" sz="28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673492"/>
                  </a:ext>
                </a:extLst>
              </a:tr>
              <a:tr h="712716">
                <a:tc gridSpan="4"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pt-BR" sz="2800" b="0" dirty="0">
                          <a:solidFill>
                            <a:schemeClr val="tx1"/>
                          </a:solidFill>
                          <a:effectLst/>
                        </a:rPr>
                        <a:t>(-) Fixos </a:t>
                      </a:r>
                      <a:r>
                        <a:rPr lang="pt-BR" sz="2800" dirty="0">
                          <a:solidFill>
                            <a:schemeClr val="tx1"/>
                          </a:solidFill>
                          <a:effectLst/>
                        </a:rPr>
                        <a:t>da Estrutura Física (já reteados) para esse Procedimento .........    </a:t>
                      </a:r>
                      <a:r>
                        <a:rPr lang="pt-BR" sz="2800" b="0" dirty="0">
                          <a:solidFill>
                            <a:schemeClr val="tx1"/>
                          </a:solidFill>
                          <a:effectLst/>
                        </a:rPr>
                        <a:t>($60.000)</a:t>
                      </a:r>
                      <a:endParaRPr lang="pt-BR" sz="2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BR" sz="2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169762"/>
                  </a:ext>
                </a:extLst>
              </a:tr>
              <a:tr h="649596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pt-BR" sz="2800" b="0" dirty="0">
                          <a:solidFill>
                            <a:schemeClr val="tx1"/>
                          </a:solidFill>
                          <a:effectLst/>
                        </a:rPr>
                        <a:t>Lucro ou </a:t>
                      </a:r>
                      <a:r>
                        <a:rPr lang="pt-BR" sz="2800" b="0" dirty="0" err="1">
                          <a:solidFill>
                            <a:schemeClr val="tx1"/>
                          </a:solidFill>
                          <a:effectLst/>
                        </a:rPr>
                        <a:t>Prej</a:t>
                      </a:r>
                      <a:r>
                        <a:rPr lang="pt-BR" sz="2800" b="0" dirty="0">
                          <a:solidFill>
                            <a:schemeClr val="tx1"/>
                          </a:solidFill>
                          <a:effectLst/>
                        </a:rPr>
                        <a:t> Oper. Líquido</a:t>
                      </a:r>
                      <a:endParaRPr lang="pt-BR" sz="2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800" b="0" dirty="0">
                          <a:solidFill>
                            <a:schemeClr val="tx1"/>
                          </a:solidFill>
                          <a:effectLst/>
                        </a:rPr>
                        <a:t>($20.000)</a:t>
                      </a:r>
                      <a:endParaRPr lang="pt-BR" sz="2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800" b="0" dirty="0">
                          <a:solidFill>
                            <a:schemeClr val="tx1"/>
                          </a:solidFill>
                          <a:effectLst/>
                        </a:rPr>
                        <a:t>Se você desejar um Lucro de $50.000?</a:t>
                      </a:r>
                      <a:endParaRPr lang="pt-BR" sz="2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059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4292891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85664" y="321435"/>
            <a:ext cx="7560468" cy="1059135"/>
          </a:xfrm>
        </p:spPr>
        <p:txBody>
          <a:bodyPr/>
          <a:lstStyle/>
          <a:p>
            <a:r>
              <a:rPr lang="pt-BR" sz="4200" dirty="0">
                <a:solidFill>
                  <a:schemeClr val="tx1"/>
                </a:solidFill>
              </a:rPr>
              <a:t>Ponto de Equilíbrio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19A54A2-A94A-1287-CF7E-C114E1004CA0}"/>
              </a:ext>
            </a:extLst>
          </p:cNvPr>
          <p:cNvSpPr txBox="1">
            <a:spLocks noChangeArrowheads="1"/>
          </p:cNvSpPr>
          <p:nvPr/>
        </p:nvSpPr>
        <p:spPr>
          <a:xfrm>
            <a:off x="377280" y="1543100"/>
            <a:ext cx="11658600" cy="4392488"/>
          </a:xfrm>
          <a:prstGeom prst="rect">
            <a:avLst/>
          </a:prstGeom>
        </p:spPr>
        <p:txBody>
          <a:bodyPr lIns="137160" tIns="68580" rIns="137160" bIns="68580"/>
          <a:lstStyle>
            <a:lvl1pPr marL="385715" indent="-38571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35715" indent="-321429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716" indent="-2571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000" indent="-2571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289" indent="-2571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574" indent="-257144" algn="l" defTabSz="102857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860" indent="-257144" algn="l" defTabSz="102857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147" indent="-257144" algn="l" defTabSz="102857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432" indent="-257144" algn="l" defTabSz="102857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3º passo: </a:t>
            </a:r>
            <a:r>
              <a:rPr lang="pt-BR" sz="2800" b="1" dirty="0">
                <a:latin typeface="Verdana" pitchFamily="34" charset="0"/>
                <a:ea typeface="Verdana" pitchFamily="34" charset="0"/>
              </a:rPr>
              <a:t>Calcular a fórmula:</a:t>
            </a: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endParaRPr lang="pt-BR" sz="2800" b="1" dirty="0">
              <a:latin typeface="Verdana" pitchFamily="34" charset="0"/>
              <a:ea typeface="Verdana" pitchFamily="34" charset="0"/>
            </a:endParaRPr>
          </a:p>
          <a:p>
            <a:pPr marL="0" indent="0"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800" dirty="0">
                <a:latin typeface="Verdana" pitchFamily="34" charset="0"/>
                <a:ea typeface="Verdana" pitchFamily="34" charset="0"/>
              </a:rPr>
              <a:t>Ponto de Equilíbrio = Fixos totais / MC Unitária</a:t>
            </a:r>
          </a:p>
          <a:p>
            <a:pPr marL="0" indent="0"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800" b="1" dirty="0" err="1">
                <a:latin typeface="Verdana" pitchFamily="34" charset="0"/>
                <a:ea typeface="Verdana" pitchFamily="34" charset="0"/>
              </a:rPr>
              <a:t>PEq</a:t>
            </a:r>
            <a:r>
              <a:rPr lang="pt-BR" sz="2800" b="1" dirty="0">
                <a:latin typeface="Verdana" pitchFamily="34" charset="0"/>
                <a:ea typeface="Verdana" pitchFamily="34" charset="0"/>
              </a:rPr>
              <a:t> = $60.000 / $40 = 1.500 Consultas</a:t>
            </a:r>
          </a:p>
          <a:p>
            <a:pPr marL="0" indent="0"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800" dirty="0">
                <a:latin typeface="Verdana" pitchFamily="34" charset="0"/>
                <a:ea typeface="Verdana" pitchFamily="34" charset="0"/>
              </a:rPr>
              <a:t>Em  Faturamento será:</a:t>
            </a:r>
          </a:p>
          <a:p>
            <a:pPr marL="0" indent="0"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800" b="1" dirty="0">
                <a:latin typeface="Verdana" pitchFamily="34" charset="0"/>
                <a:ea typeface="Verdana" pitchFamily="34" charset="0"/>
              </a:rPr>
              <a:t>1.500 consultas X $200 Preço da consulta = $300.000</a:t>
            </a:r>
          </a:p>
          <a:p>
            <a:pPr marL="0" indent="564357">
              <a:buFont typeface="Arial" panose="020B0604020202020204" pitchFamily="34" charset="0"/>
              <a:buNone/>
            </a:pPr>
            <a:endParaRPr lang="pt-BR" sz="28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4F27E2C-51CC-C2F9-DF59-33EF47C5C9BE}"/>
              </a:ext>
            </a:extLst>
          </p:cNvPr>
          <p:cNvSpPr txBox="1"/>
          <p:nvPr/>
        </p:nvSpPr>
        <p:spPr>
          <a:xfrm>
            <a:off x="377280" y="6007596"/>
            <a:ext cx="12493016" cy="3405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spcAft>
                <a:spcPts val="1000"/>
              </a:spcAft>
            </a:pPr>
            <a:r>
              <a:rPr lang="pt-BR" sz="2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Esse Cálculo deve ser feito para cada Centro de Custo (Procedimento) que apresente Margem de Contribuição positiva (o Procedimento deve se “pagar” e gerar um saldo positivo para “pagar” os Fixos rateados para ele), e que Você tenha atribuído por rateio algum valor da Estrutura Física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194253639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85664" y="321435"/>
            <a:ext cx="7560468" cy="1059135"/>
          </a:xfrm>
        </p:spPr>
        <p:txBody>
          <a:bodyPr/>
          <a:lstStyle/>
          <a:p>
            <a:r>
              <a:rPr lang="pt-BR" sz="4200" dirty="0">
                <a:solidFill>
                  <a:schemeClr val="tx1"/>
                </a:solidFill>
              </a:rPr>
              <a:t>Ponto de Equilíbrio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19A54A2-A94A-1287-CF7E-C114E1004CA0}"/>
              </a:ext>
            </a:extLst>
          </p:cNvPr>
          <p:cNvSpPr txBox="1">
            <a:spLocks noChangeArrowheads="1"/>
          </p:cNvSpPr>
          <p:nvPr/>
        </p:nvSpPr>
        <p:spPr>
          <a:xfrm>
            <a:off x="377280" y="1759124"/>
            <a:ext cx="12529392" cy="7344816"/>
          </a:xfrm>
          <a:prstGeom prst="rect">
            <a:avLst/>
          </a:prstGeom>
        </p:spPr>
        <p:txBody>
          <a:bodyPr lIns="137160" tIns="68580" rIns="137160" bIns="68580"/>
          <a:lstStyle>
            <a:lvl1pPr marL="385715" indent="-38571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35715" indent="-321429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716" indent="-2571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000" indent="-2571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289" indent="-2571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574" indent="-257144" algn="l" defTabSz="102857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860" indent="-257144" algn="l" defTabSz="102857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147" indent="-257144" algn="l" defTabSz="102857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432" indent="-257144" algn="l" defTabSz="102857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800" b="1" dirty="0">
                <a:latin typeface="Arial" panose="020B0604020202020204" pitchFamily="34" charset="0"/>
                <a:ea typeface="Calibri" panose="020F0502020204030204" pitchFamily="34" charset="0"/>
              </a:rPr>
              <a:t>Caso deseje saber a quantidade necessária para um </a:t>
            </a:r>
          </a:p>
          <a:p>
            <a:pPr marL="0" indent="0"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800" b="1" dirty="0">
                <a:latin typeface="Arial" panose="020B0604020202020204" pitchFamily="34" charset="0"/>
                <a:ea typeface="Calibri" panose="020F0502020204030204" pitchFamily="34" charset="0"/>
              </a:rPr>
              <a:t>Lucro atribuído por você para o Centro de Custo:</a:t>
            </a:r>
          </a:p>
          <a:p>
            <a:pPr marL="0" indent="0" algn="ctr">
              <a:lnSpc>
                <a:spcPct val="115000"/>
              </a:lnSpc>
              <a:spcAft>
                <a:spcPts val="1000"/>
              </a:spcAft>
              <a:buNone/>
            </a:pPr>
            <a:endParaRPr lang="pt-BR" sz="2800" b="1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indent="0" algn="ctr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4º passo: </a:t>
            </a:r>
            <a:r>
              <a:rPr lang="pt-BR" sz="2800" dirty="0">
                <a:latin typeface="Arial" panose="020B0604020202020204" pitchFamily="34" charset="0"/>
                <a:ea typeface="Calibri" panose="020F0502020204030204" pitchFamily="34" charset="0"/>
              </a:rPr>
              <a:t>Basta somar o Lucro desejado ao Fixo na fórmula do </a:t>
            </a:r>
            <a:r>
              <a:rPr lang="pt-BR" sz="2800" dirty="0" err="1">
                <a:latin typeface="Arial" panose="020B0604020202020204" pitchFamily="34" charset="0"/>
                <a:ea typeface="Calibri" panose="020F0502020204030204" pitchFamily="34" charset="0"/>
              </a:rPr>
              <a:t>PEq</a:t>
            </a:r>
            <a:r>
              <a:rPr lang="pt-BR" sz="2800" dirty="0">
                <a:latin typeface="Arial" panose="020B0604020202020204" pitchFamily="34" charset="0"/>
                <a:ea typeface="Calibri" panose="020F0502020204030204" pitchFamily="34" charset="0"/>
              </a:rPr>
              <a:t>:</a:t>
            </a:r>
          </a:p>
          <a:p>
            <a:pPr marL="0" indent="0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2800" dirty="0">
                <a:latin typeface="Arial" panose="020B0604020202020204" pitchFamily="34" charset="0"/>
                <a:ea typeface="Calibri" panose="020F0502020204030204" pitchFamily="34" charset="0"/>
              </a:rPr>
              <a:t>META = (FIXOS  +  LUCRO) / Margem de Contribuição UNITÁRIA</a:t>
            </a:r>
          </a:p>
          <a:p>
            <a:pPr marL="0" indent="0" algn="ctr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280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pt-BR" sz="2800" b="1" dirty="0">
                <a:latin typeface="Arial" panose="020B0604020202020204" pitchFamily="34" charset="0"/>
                <a:ea typeface="Calibri" panose="020F0502020204030204" pitchFamily="34" charset="0"/>
              </a:rPr>
              <a:t>Meta = ($60.000 + $50.000) / $40</a:t>
            </a:r>
          </a:p>
          <a:p>
            <a:pPr marL="0" indent="0" algn="ctr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2800" dirty="0">
                <a:latin typeface="Arial" panose="020B0604020202020204" pitchFamily="34" charset="0"/>
                <a:ea typeface="Calibri" panose="020F0502020204030204" pitchFamily="34" charset="0"/>
              </a:rPr>
              <a:t>Meta = $110.000 / $40  = 2.750 consultas </a:t>
            </a:r>
          </a:p>
          <a:p>
            <a:pPr marL="0" indent="0" algn="ctr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2800" dirty="0" err="1">
                <a:latin typeface="Arial" panose="020B0604020202020204" pitchFamily="34" charset="0"/>
                <a:ea typeface="Calibri" panose="020F0502020204030204" pitchFamily="34" charset="0"/>
              </a:rPr>
              <a:t>Orç</a:t>
            </a:r>
            <a:r>
              <a:rPr lang="pt-BR" sz="2800" dirty="0">
                <a:latin typeface="Arial" panose="020B0604020202020204" pitchFamily="34" charset="0"/>
                <a:ea typeface="Calibri" panose="020F0502020204030204" pitchFamily="34" charset="0"/>
              </a:rPr>
              <a:t> de Venda para essa META = 2.750 X $200 = $Faturamento</a:t>
            </a:r>
            <a:endParaRPr lang="pt-BR" sz="2800" b="1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179937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0607" y="369068"/>
            <a:ext cx="10587813" cy="1059656"/>
          </a:xfrm>
        </p:spPr>
        <p:txBody>
          <a:bodyPr/>
          <a:lstStyle/>
          <a:p>
            <a:pPr algn="ctr"/>
            <a:r>
              <a:rPr lang="pt-BR" sz="4200" dirty="0">
                <a:solidFill>
                  <a:schemeClr val="tx1"/>
                </a:solidFill>
              </a:rPr>
              <a:t>Afinal, como se Forma o Preço?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5737" y="1795128"/>
            <a:ext cx="12344400" cy="7417773"/>
          </a:xfrm>
          <a:prstGeom prst="rect">
            <a:avLst/>
          </a:prstGeom>
        </p:spPr>
        <p:txBody>
          <a:bodyPr lIns="137160" tIns="68580" rIns="137160" bIns="68580"/>
          <a:lstStyle/>
          <a:p>
            <a:pPr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pt-BR" sz="4800" b="1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Clientes</a:t>
            </a:r>
          </a:p>
          <a:p>
            <a:pPr lvl="2">
              <a:lnSpc>
                <a:spcPct val="80000"/>
              </a:lnSpc>
              <a:defRPr/>
            </a:pPr>
            <a:r>
              <a:rPr lang="pt-BR" sz="4200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Maturação da Carteira de Clientes</a:t>
            </a:r>
          </a:p>
          <a:p>
            <a:pPr>
              <a:lnSpc>
                <a:spcPct val="80000"/>
              </a:lnSpc>
              <a:buFont typeface="Arial" charset="0"/>
              <a:buNone/>
              <a:defRPr/>
            </a:pPr>
            <a:endParaRPr lang="pt-BR" b="1" dirty="0">
              <a:solidFill>
                <a:schemeClr val="tx2">
                  <a:lumMod val="7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pt-BR" sz="4800" b="1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Concorrentes</a:t>
            </a:r>
            <a:r>
              <a:rPr lang="pt-BR" sz="4800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 lvl="2">
              <a:lnSpc>
                <a:spcPct val="80000"/>
              </a:lnSpc>
              <a:defRPr/>
            </a:pPr>
            <a:r>
              <a:rPr lang="pt-BR" sz="4200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As reações dos concorrentes</a:t>
            </a:r>
          </a:p>
          <a:p>
            <a:pPr lvl="2">
              <a:lnSpc>
                <a:spcPct val="80000"/>
              </a:lnSpc>
              <a:buFontTx/>
              <a:buNone/>
              <a:defRPr/>
            </a:pPr>
            <a:r>
              <a:rPr lang="pt-BR" sz="3600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 algn="ctr">
              <a:lnSpc>
                <a:spcPct val="80000"/>
              </a:lnSpc>
              <a:buFont typeface="Arial" charset="0"/>
              <a:buNone/>
              <a:defRPr/>
            </a:pPr>
            <a:r>
              <a:rPr lang="pt-BR" sz="4800" b="1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  U  S  T  O  S </a:t>
            </a:r>
          </a:p>
          <a:p>
            <a:pPr marL="0" lvl="1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pt-BR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O correto cálculo de quanto Custa, evitando a Estrutura Física Ociosa, seja pelo esgotamento da Capacidade Instalada ou pela redução física da instalação...</a:t>
            </a:r>
          </a:p>
        </p:txBody>
      </p:sp>
    </p:spTree>
    <p:extLst>
      <p:ext uri="{BB962C8B-B14F-4D97-AF65-F5344CB8AC3E}">
        <p14:creationId xmlns:p14="http://schemas.microsoft.com/office/powerpoint/2010/main" val="25466838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1470" y="2035970"/>
            <a:ext cx="13192125" cy="6322218"/>
          </a:xfrm>
          <a:prstGeom prst="rect">
            <a:avLst/>
          </a:prstGeom>
        </p:spPr>
        <p:txBody>
          <a:bodyPr lIns="137160" tIns="68580" rIns="137160" bIns="68580"/>
          <a:lstStyle/>
          <a:p>
            <a:pPr marL="0" indent="0" algn="ctr">
              <a:lnSpc>
                <a:spcPct val="80000"/>
              </a:lnSpc>
              <a:buNone/>
              <a:defRPr/>
            </a:pPr>
            <a:endParaRPr lang="pt-BR" sz="3300" b="1" dirty="0">
              <a:solidFill>
                <a:schemeClr val="tx1">
                  <a:lumMod val="85000"/>
                  <a:lumOff val="1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 algn="ctr">
              <a:lnSpc>
                <a:spcPct val="200000"/>
              </a:lnSpc>
              <a:spcBef>
                <a:spcPts val="0"/>
              </a:spcBef>
              <a:buNone/>
              <a:defRPr/>
            </a:pPr>
            <a:r>
              <a:rPr lang="pt-BR" sz="4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Preço (-) Custo </a:t>
            </a:r>
            <a:r>
              <a:rPr lang="pt-BR" sz="42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= ???</a:t>
            </a:r>
          </a:p>
          <a:p>
            <a:pPr marL="0" indent="0" algn="ctr">
              <a:lnSpc>
                <a:spcPct val="200000"/>
              </a:lnSpc>
              <a:spcBef>
                <a:spcPts val="0"/>
              </a:spcBef>
              <a:buNone/>
              <a:defRPr/>
            </a:pPr>
            <a:r>
              <a:rPr lang="pt-BR" b="1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Preço (-) Custo = </a:t>
            </a:r>
            <a:r>
              <a:rPr lang="pt-BR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Impostos + Despesas + Lucro</a:t>
            </a:r>
            <a:endParaRPr lang="pt-BR" u="sng" dirty="0">
              <a:solidFill>
                <a:schemeClr val="tx1">
                  <a:lumMod val="85000"/>
                  <a:lumOff val="1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 algn="ctr">
              <a:lnSpc>
                <a:spcPct val="200000"/>
              </a:lnSpc>
              <a:spcBef>
                <a:spcPts val="0"/>
              </a:spcBef>
              <a:buNone/>
              <a:defRPr/>
            </a:pPr>
            <a:r>
              <a:rPr lang="pt-BR" sz="4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Impostos + Despesas + Lucro = </a:t>
            </a:r>
          </a:p>
          <a:p>
            <a:pPr marL="0" indent="0" algn="ctr">
              <a:lnSpc>
                <a:spcPct val="200000"/>
              </a:lnSpc>
              <a:spcBef>
                <a:spcPts val="0"/>
              </a:spcBef>
              <a:buNone/>
              <a:defRPr/>
            </a:pPr>
            <a:r>
              <a:rPr lang="pt-BR" sz="4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MARK – UP</a:t>
            </a:r>
          </a:p>
          <a:p>
            <a:pPr marL="0" indent="0" algn="ctr">
              <a:lnSpc>
                <a:spcPct val="80000"/>
              </a:lnSpc>
              <a:buNone/>
              <a:defRPr/>
            </a:pPr>
            <a:endParaRPr lang="en-US" sz="3300" b="1" dirty="0">
              <a:solidFill>
                <a:schemeClr val="tx1">
                  <a:lumMod val="85000"/>
                  <a:lumOff val="1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267" name="Título 3"/>
          <p:cNvSpPr>
            <a:spLocks noGrp="1"/>
          </p:cNvSpPr>
          <p:nvPr>
            <p:ph type="title"/>
          </p:nvPr>
        </p:nvSpPr>
        <p:spPr>
          <a:xfrm>
            <a:off x="485292" y="583903"/>
            <a:ext cx="8100900" cy="1059135"/>
          </a:xfrm>
        </p:spPr>
        <p:txBody>
          <a:bodyPr/>
          <a:lstStyle/>
          <a:p>
            <a:pPr algn="ctr"/>
            <a:r>
              <a:rPr lang="pt-BR" sz="4200" dirty="0">
                <a:solidFill>
                  <a:schemeClr val="tx1"/>
                </a:solidFill>
              </a:rPr>
              <a:t>Como se calcula o Preço?</a:t>
            </a:r>
          </a:p>
        </p:txBody>
      </p:sp>
    </p:spTree>
    <p:extLst>
      <p:ext uri="{BB962C8B-B14F-4D97-AF65-F5344CB8AC3E}">
        <p14:creationId xmlns:p14="http://schemas.microsoft.com/office/powerpoint/2010/main" val="32625412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0607" y="369068"/>
            <a:ext cx="10587813" cy="1059656"/>
          </a:xfrm>
        </p:spPr>
        <p:txBody>
          <a:bodyPr/>
          <a:lstStyle/>
          <a:p>
            <a:pPr algn="ctr"/>
            <a:r>
              <a:rPr lang="pt-BR" sz="4200" dirty="0">
                <a:solidFill>
                  <a:schemeClr val="tx1"/>
                </a:solidFill>
              </a:rPr>
              <a:t>Afinal, como se Forma o Preço?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5272" y="1795128"/>
            <a:ext cx="12745416" cy="7812868"/>
          </a:xfrm>
          <a:prstGeom prst="rect">
            <a:avLst/>
          </a:prstGeom>
        </p:spPr>
        <p:txBody>
          <a:bodyPr lIns="137160" tIns="68580" rIns="137160" bIns="68580"/>
          <a:lstStyle/>
          <a:p>
            <a:pPr marL="0" indent="564357" algn="ctr">
              <a:buNone/>
            </a:pPr>
            <a:r>
              <a:rPr lang="pt-BR" sz="3200" b="1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Para se calcular o Preço de cada Centro de Custo de seu interesse, é necessário seguir os seguintes passos técnicos:</a:t>
            </a:r>
            <a:endParaRPr lang="pt-BR" sz="3200" dirty="0">
              <a:solidFill>
                <a:schemeClr val="tx2">
                  <a:lumMod val="7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80000"/>
              </a:lnSpc>
              <a:buFont typeface="Arial" charset="0"/>
              <a:buNone/>
              <a:defRPr/>
            </a:pPr>
            <a:endParaRPr lang="pt-BR" sz="3200" b="1" dirty="0">
              <a:solidFill>
                <a:schemeClr val="tx2">
                  <a:lumMod val="7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564357" algn="ctr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3200" b="1" u="sng" dirty="0">
                <a:latin typeface="Verdana" pitchFamily="34" charset="0"/>
                <a:ea typeface="Verdana" pitchFamily="34" charset="0"/>
                <a:cs typeface="Verdana" pitchFamily="34" charset="0"/>
              </a:rPr>
              <a:t>1º passo: </a:t>
            </a:r>
            <a:r>
              <a:rPr lang="pt-BR" sz="3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Calcular o Custo do Procedimento como já visto (MAT + MOD + Rateio do Ambiente Produtivo)</a:t>
            </a:r>
            <a:endParaRPr lang="pt-BR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2">
              <a:lnSpc>
                <a:spcPct val="80000"/>
              </a:lnSpc>
              <a:buFontTx/>
              <a:buNone/>
              <a:defRPr/>
            </a:pPr>
            <a:r>
              <a:rPr lang="pt-BR" sz="3200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 marL="0" indent="564357" algn="ctr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3200" b="1" u="sng" dirty="0">
                <a:latin typeface="Verdana" pitchFamily="34" charset="0"/>
                <a:ea typeface="Verdana" pitchFamily="34" charset="0"/>
                <a:cs typeface="Verdana" pitchFamily="34" charset="0"/>
              </a:rPr>
              <a:t>2º passo: </a:t>
            </a:r>
            <a:r>
              <a:rPr lang="pt-BR" sz="3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Aplicar a Fórmula </a:t>
            </a:r>
          </a:p>
          <a:p>
            <a:pPr marL="0" indent="564357" algn="ctr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3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Preço = $Custo / (1 – Mark-Up)</a:t>
            </a:r>
            <a:r>
              <a:rPr lang="pt-BR" sz="3200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15592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0607" y="369068"/>
            <a:ext cx="10587813" cy="1059656"/>
          </a:xfrm>
        </p:spPr>
        <p:txBody>
          <a:bodyPr/>
          <a:lstStyle/>
          <a:p>
            <a:pPr algn="ctr"/>
            <a:r>
              <a:rPr lang="pt-BR" sz="4200" dirty="0">
                <a:solidFill>
                  <a:schemeClr val="tx1"/>
                </a:solidFill>
              </a:rPr>
              <a:t>Afinal, como se Forma o Preço?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5272" y="1795128"/>
            <a:ext cx="12745416" cy="7812868"/>
          </a:xfrm>
          <a:prstGeom prst="rect">
            <a:avLst/>
          </a:prstGeom>
        </p:spPr>
        <p:txBody>
          <a:bodyPr lIns="137160" tIns="68580" rIns="137160" bIns="68580"/>
          <a:lstStyle/>
          <a:p>
            <a:pPr marL="0" indent="564357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32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Mas....... O que é </a:t>
            </a:r>
          </a:p>
          <a:p>
            <a:pPr marL="0" indent="564357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4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Mark-Up</a:t>
            </a:r>
            <a:endParaRPr lang="pt-BR" sz="4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2">
              <a:spcBef>
                <a:spcPts val="600"/>
              </a:spcBef>
              <a:spcAft>
                <a:spcPts val="600"/>
              </a:spcAft>
              <a:buFontTx/>
              <a:buNone/>
              <a:defRPr/>
            </a:pPr>
            <a:r>
              <a:rPr lang="pt-BR" sz="3200" dirty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pt-BR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MARK – UP = Impostos + Despesas + Lucro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3A105E6B-9C97-D32C-F0E5-B645AEDAB8DF}"/>
              </a:ext>
            </a:extLst>
          </p:cNvPr>
          <p:cNvGraphicFramePr>
            <a:graphicFrameLocks noGrp="1"/>
          </p:cNvGraphicFramePr>
          <p:nvPr/>
        </p:nvGraphicFramePr>
        <p:xfrm>
          <a:off x="809328" y="4999484"/>
          <a:ext cx="11665296" cy="33458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25567">
                  <a:extLst>
                    <a:ext uri="{9D8B030D-6E8A-4147-A177-3AD203B41FA5}">
                      <a16:colId xmlns:a16="http://schemas.microsoft.com/office/drawing/2014/main" val="2020413143"/>
                    </a:ext>
                  </a:extLst>
                </a:gridCol>
                <a:gridCol w="6298829">
                  <a:extLst>
                    <a:ext uri="{9D8B030D-6E8A-4147-A177-3AD203B41FA5}">
                      <a16:colId xmlns:a16="http://schemas.microsoft.com/office/drawing/2014/main" val="2841862007"/>
                    </a:ext>
                  </a:extLst>
                </a:gridCol>
                <a:gridCol w="2240900">
                  <a:extLst>
                    <a:ext uri="{9D8B030D-6E8A-4147-A177-3AD203B41FA5}">
                      <a16:colId xmlns:a16="http://schemas.microsoft.com/office/drawing/2014/main" val="372834171"/>
                    </a:ext>
                  </a:extLst>
                </a:gridCol>
              </a:tblGrid>
              <a:tr h="6367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400" dirty="0">
                          <a:solidFill>
                            <a:schemeClr val="tx1"/>
                          </a:solidFill>
                          <a:effectLst/>
                        </a:rPr>
                        <a:t>= PREÇO $456,25</a:t>
                      </a:r>
                      <a:endParaRPr lang="pt-BR" sz="2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400" dirty="0">
                          <a:solidFill>
                            <a:schemeClr val="tx1"/>
                          </a:solidFill>
                          <a:effectLst/>
                        </a:rPr>
                        <a:t>Composição do  MARK-UP </a:t>
                      </a:r>
                      <a:endParaRPr lang="pt-BR" sz="2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34,25%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ou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0,3425</a:t>
                      </a:r>
                      <a:endParaRPr lang="pt-BR" sz="2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419632"/>
                  </a:ext>
                </a:extLst>
              </a:tr>
              <a:tr h="63290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400">
                          <a:solidFill>
                            <a:schemeClr val="tx1"/>
                          </a:solidFill>
                          <a:effectLst/>
                        </a:rPr>
                        <a:t>+ LUCRO desejado %</a:t>
                      </a:r>
                      <a:endParaRPr lang="pt-BR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400" dirty="0">
                          <a:solidFill>
                            <a:schemeClr val="tx1"/>
                          </a:solidFill>
                          <a:effectLst/>
                        </a:rPr>
                        <a:t>O que Você, Empresário, deseja obter </a:t>
                      </a:r>
                      <a:endParaRPr lang="pt-BR" sz="2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400" dirty="0">
                          <a:solidFill>
                            <a:schemeClr val="tx1"/>
                          </a:solidFill>
                          <a:effectLst/>
                        </a:rPr>
                        <a:t>7%</a:t>
                      </a:r>
                      <a:endParaRPr lang="pt-BR" sz="2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312293"/>
                  </a:ext>
                </a:extLst>
              </a:tr>
              <a:tr h="63290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400" dirty="0">
                          <a:solidFill>
                            <a:schemeClr val="tx1"/>
                          </a:solidFill>
                          <a:effectLst/>
                        </a:rPr>
                        <a:t>+ DESPESAS (BDI) %</a:t>
                      </a:r>
                      <a:endParaRPr lang="pt-BR" sz="2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400">
                          <a:solidFill>
                            <a:schemeClr val="tx1"/>
                          </a:solidFill>
                          <a:effectLst/>
                        </a:rPr>
                        <a:t>Comerciais + Administrativas + Financeiras em %</a:t>
                      </a:r>
                      <a:endParaRPr lang="pt-BR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400" dirty="0">
                          <a:solidFill>
                            <a:schemeClr val="tx1"/>
                          </a:solidFill>
                          <a:effectLst/>
                        </a:rPr>
                        <a:t>(5% + 8% + 0%)</a:t>
                      </a:r>
                      <a:endParaRPr lang="pt-BR" sz="2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016403"/>
                  </a:ext>
                </a:extLst>
              </a:tr>
              <a:tr h="63290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400" dirty="0">
                          <a:solidFill>
                            <a:schemeClr val="tx1"/>
                          </a:solidFill>
                          <a:effectLst/>
                        </a:rPr>
                        <a:t>+ IMPOSTOS DA NF %</a:t>
                      </a:r>
                      <a:endParaRPr lang="pt-BR" sz="2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400">
                          <a:solidFill>
                            <a:schemeClr val="tx1"/>
                          </a:solidFill>
                          <a:effectLst/>
                        </a:rPr>
                        <a:t>ISS ou ICMS e PIS/COFINS em %</a:t>
                      </a:r>
                      <a:endParaRPr lang="pt-BR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400" dirty="0">
                          <a:solidFill>
                            <a:schemeClr val="tx1"/>
                          </a:solidFill>
                          <a:effectLst/>
                        </a:rPr>
                        <a:t>(5% + 9,25%)</a:t>
                      </a:r>
                      <a:endParaRPr lang="pt-BR" sz="2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635728"/>
                  </a:ext>
                </a:extLst>
              </a:tr>
              <a:tr h="6329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400">
                          <a:solidFill>
                            <a:schemeClr val="tx1"/>
                          </a:solidFill>
                          <a:effectLst/>
                        </a:rPr>
                        <a:t>CUSTO $</a:t>
                      </a:r>
                      <a:endParaRPr lang="pt-BR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400">
                          <a:solidFill>
                            <a:schemeClr val="tx1"/>
                          </a:solidFill>
                          <a:effectLst/>
                        </a:rPr>
                        <a:t>MAT + MOD + GGF  $</a:t>
                      </a:r>
                      <a:endParaRPr lang="pt-BR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400" dirty="0">
                          <a:solidFill>
                            <a:schemeClr val="tx1"/>
                          </a:solidFill>
                          <a:effectLst/>
                        </a:rPr>
                        <a:t>$300</a:t>
                      </a:r>
                      <a:endParaRPr lang="pt-BR" sz="2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27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7491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0607" y="369068"/>
            <a:ext cx="10587813" cy="1059656"/>
          </a:xfrm>
        </p:spPr>
        <p:txBody>
          <a:bodyPr/>
          <a:lstStyle/>
          <a:p>
            <a:pPr algn="ctr"/>
            <a:r>
              <a:rPr lang="pt-BR" sz="4200" dirty="0">
                <a:solidFill>
                  <a:schemeClr val="tx1"/>
                </a:solidFill>
              </a:rPr>
              <a:t>Afinal, como se Forma o Preço?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72E885-9A8C-4AF3-3A96-9DAF21570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48" y="2613963"/>
            <a:ext cx="13105456" cy="4385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564357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2800" b="1" u="sng" dirty="0">
                <a:latin typeface="Verdana" pitchFamily="34" charset="0"/>
                <a:ea typeface="Verdana" pitchFamily="34" charset="0"/>
                <a:cs typeface="Verdana" pitchFamily="34" charset="0"/>
              </a:rPr>
              <a:t>2º passo: </a:t>
            </a:r>
            <a:r>
              <a:rPr lang="pt-BR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Aplicar a Fórmula </a:t>
            </a:r>
          </a:p>
          <a:p>
            <a:pPr marL="0" indent="564357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Preço = $Custo / (1 – Mark-Up)</a:t>
            </a:r>
          </a:p>
          <a:p>
            <a:pPr marL="0" indent="564357" algn="ctr">
              <a:spcBef>
                <a:spcPts val="600"/>
              </a:spcBef>
              <a:spcAft>
                <a:spcPts val="600"/>
              </a:spcAft>
              <a:buNone/>
            </a:pPr>
            <a:endParaRPr kumimoji="0" lang="pt-BR" altLang="pt-BR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</a:endParaRPr>
          </a:p>
          <a:p>
            <a:pPr marL="0" indent="564357" algn="ctr">
              <a:spcBef>
                <a:spcPts val="600"/>
              </a:spcBef>
              <a:spcAft>
                <a:spcPts val="600"/>
              </a:spcAft>
              <a:buNone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Qual o Custo de Execução? = Insumos + hora trabalhada + ambiente de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prod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Procedimento tem como Custo = $20 + $230 + 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$50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= 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$300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Qual o Preço do que Custa para Execução $300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?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1DF79D-D629-2EF5-2D13-99DA0171E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2" y="6980539"/>
            <a:ext cx="126014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Preço = Custo / (1- Mark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up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Preço = $300 / ( 1 – 0,3425)..... $300 / 0,6575 = </a:t>
            </a:r>
            <a:r>
              <a:rPr kumimoji="0" lang="pt-BR" altLang="pt-BR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$456,27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86886373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0607" y="369068"/>
            <a:ext cx="10587813" cy="1059656"/>
          </a:xfrm>
        </p:spPr>
        <p:txBody>
          <a:bodyPr/>
          <a:lstStyle/>
          <a:p>
            <a:pPr algn="ctr"/>
            <a:r>
              <a:rPr lang="pt-BR" sz="4200" dirty="0">
                <a:solidFill>
                  <a:schemeClr val="tx1"/>
                </a:solidFill>
              </a:rPr>
              <a:t>Afinal, como se Forma o Preço?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1DF79D-D629-2EF5-2D13-99DA0171E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320" y="2195911"/>
            <a:ext cx="9580296" cy="658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rgbClr val="0B9CE5"/>
                </a:solidFill>
                <a:effectLst/>
                <a:ea typeface="Calibri" panose="020F0502020204030204" pitchFamily="34" charset="0"/>
              </a:rPr>
              <a:t>Preço = $300 / ( 1 – 0,3425)..... $300 / 0,6575 = </a:t>
            </a:r>
            <a:r>
              <a:rPr kumimoji="0" lang="pt-BR" altLang="pt-BR" sz="2800" b="1" i="0" u="sng" strike="noStrike" cap="none" normalizeH="0" baseline="0" dirty="0">
                <a:ln>
                  <a:noFill/>
                </a:ln>
                <a:solidFill>
                  <a:srgbClr val="0B9CE5"/>
                </a:solidFill>
                <a:effectLst/>
                <a:ea typeface="Calibri" panose="020F0502020204030204" pitchFamily="34" charset="0"/>
              </a:rPr>
              <a:t>$456,27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rgbClr val="0B9CE5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BA60BB-12B5-E8C5-87C6-E100D7948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88" y="3271292"/>
            <a:ext cx="126014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O Concorrente oferta por $420 !!!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Vc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aceita vender pelo Preço do concorrente???  “Você cobre a oferta do Concorrente?”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Calcular o Preço de Custo ou Mínimo :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Preço de Custo ou mínimo = Custo / (1 – (Mark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up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cheio 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ea typeface="Calibri" panose="020F0502020204030204" pitchFamily="34" charset="0"/>
              </a:rPr>
              <a:t>– o lucro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))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Preço de Custo ou mínimo = $300 / (1 -  (0,3425 – 0,07)) 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Preço de Custo ou mínimo = $300 / (1 – 0,2725)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Preço de Custo ou mínimo = $300 / 0,7275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ea typeface="Calibri" panose="020F0502020204030204" pitchFamily="34" charset="0"/>
              </a:rPr>
              <a:t>Preço de Custo ou mínimo = $412,37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87878692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Muito</a:t>
            </a:r>
            <a:r>
              <a:rPr lang="en-US" sz="6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Obrigado!!!</a:t>
            </a:r>
            <a:br>
              <a:rPr lang="en-US" sz="6000" b="1" dirty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en-US" sz="6000" b="1" dirty="0">
                <a:latin typeface="Verdana" pitchFamily="34" charset="0"/>
                <a:ea typeface="Verdana" pitchFamily="34" charset="0"/>
                <a:cs typeface="Verdana" pitchFamily="34" charset="0"/>
                <a:sym typeface="Wingdings" pitchFamily="2" charset="2"/>
              </a:rPr>
              <a:t></a:t>
            </a:r>
            <a:endParaRPr lang="pt-BR" sz="60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57400" y="5400676"/>
            <a:ext cx="9601200" cy="26289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err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Contatos</a:t>
            </a:r>
            <a:r>
              <a:rPr lang="en-US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</a:p>
          <a:p>
            <a:pPr eaLnBrk="1" hangingPunct="1">
              <a:defRPr/>
            </a:pPr>
            <a:r>
              <a:rPr lang="en-US" sz="6000" b="1" dirty="0">
                <a:solidFill>
                  <a:srgbClr val="C0E3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</a:rPr>
              <a:t>wlcapitalintelectual@gmail.com</a:t>
            </a:r>
          </a:p>
          <a:p>
            <a:pPr eaLnBrk="1" hangingPunct="1">
              <a:defRPr/>
            </a:pPr>
            <a:r>
              <a:rPr lang="en-US" sz="6000" b="1" dirty="0">
                <a:solidFill>
                  <a:srgbClr val="C0E3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wladeira@crcrj.org.br</a:t>
            </a:r>
            <a:endParaRPr lang="en-US" sz="6000" b="1" dirty="0">
              <a:solidFill>
                <a:srgbClr val="C0E3F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eaLnBrk="1" hangingPunct="1">
              <a:defRPr/>
            </a:pPr>
            <a:endParaRPr lang="pt-BR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245047"/>
      </p:ext>
    </p:extLst>
  </p:cSld>
  <p:clrMapOvr>
    <a:masterClrMapping/>
  </p:clrMapOvr>
</p:sld>
</file>

<file path=ppt/theme/theme1.xml><?xml version="1.0" encoding="utf-8"?>
<a:theme xmlns:a="http://schemas.openxmlformats.org/drawingml/2006/main" name="modelomaterialdidatico_fgv">
  <a:themeElements>
    <a:clrScheme name="Personalizada 16">
      <a:dk1>
        <a:sysClr val="windowText" lastClr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79646"/>
      </a:hlink>
      <a:folHlink>
        <a:srgbClr val="9236A4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resentação1" id="{1BF3A8CD-93FE-4642-8C34-1B5E2F0F18FD}" vid="{380539FA-782F-4DEA-AB05-7DDC49671130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modelomaterialdidatico_fgv</Template>
  <TotalTime>598</TotalTime>
  <Words>4322</Words>
  <Application>Microsoft Office PowerPoint</Application>
  <PresentationFormat>Personalizar</PresentationFormat>
  <Paragraphs>842</Paragraphs>
  <Slides>65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65</vt:i4>
      </vt:variant>
    </vt:vector>
  </HeadingPairs>
  <TitlesOfParts>
    <vt:vector size="77" baseType="lpstr">
      <vt:lpstr>Arial</vt:lpstr>
      <vt:lpstr>Calibri</vt:lpstr>
      <vt:lpstr>Calibri Light</vt:lpstr>
      <vt:lpstr>Garamond</vt:lpstr>
      <vt:lpstr>Liberation Sans Narrow</vt:lpstr>
      <vt:lpstr>Segoe Print</vt:lpstr>
      <vt:lpstr>Times New Roman</vt:lpstr>
      <vt:lpstr>Verdana</vt:lpstr>
      <vt:lpstr>Wingdings</vt:lpstr>
      <vt:lpstr>modelomaterialdidatico_fgv</vt:lpstr>
      <vt:lpstr>Clip</vt:lpstr>
      <vt:lpstr>Picture</vt:lpstr>
      <vt:lpstr>Apresentação do PowerPoint</vt:lpstr>
      <vt:lpstr>Gestão de Custos em Saúde</vt:lpstr>
      <vt:lpstr>Gestão de Custos em Saúde</vt:lpstr>
      <vt:lpstr>Gestão de Recursos</vt:lpstr>
      <vt:lpstr>Gestão de Recursos</vt:lpstr>
      <vt:lpstr>Gestão de Recursos</vt:lpstr>
      <vt:lpstr>Gestão de Custos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INFORMAÇÃO CONTÁBIL (C O N T A S)</vt:lpstr>
      <vt:lpstr>INFORMAÇÃO CONTÁBIL (C O N T A S)</vt:lpstr>
      <vt:lpstr>Compreensão dos Termos </vt:lpstr>
      <vt:lpstr>Apresentação do PowerPoint</vt:lpstr>
      <vt:lpstr>Compreensão dos Termos </vt:lpstr>
      <vt:lpstr>Apresentação do PowerPoint</vt:lpstr>
      <vt:lpstr>Apresentação do PowerPoint</vt:lpstr>
      <vt:lpstr>Apresentação do PowerPoint</vt:lpstr>
      <vt:lpstr>Apresentação do PowerPoint</vt:lpstr>
      <vt:lpstr>Elementos de Custo</vt:lpstr>
      <vt:lpstr>Como se calcula o Custo do Procedimento?</vt:lpstr>
      <vt:lpstr>Apresentação do PowerPoint</vt:lpstr>
      <vt:lpstr>Apresentação do PowerPoint</vt:lpstr>
      <vt:lpstr>Apresentação do PowerPoint</vt:lpstr>
      <vt:lpstr>Apresentação do PowerPoint</vt:lpstr>
      <vt:lpstr>Comportamento dos Custos</vt:lpstr>
      <vt:lpstr>Apresentação do PowerPoint</vt:lpstr>
      <vt:lpstr>Apresentação do PowerPoint</vt:lpstr>
      <vt:lpstr>Apresentação do PowerPoint</vt:lpstr>
      <vt:lpstr>Ganho de Escala  C. Fixo Unitário = (C. Fixo / Qtde)    Custo por Unidade = (C. Fixo / Qtde) + C. Variável Unitário  </vt:lpstr>
      <vt:lpstr>Ganho de Escala dependerá do Custo Fixo Unitário  Como baratear o custo Unitário?   Evitando a Ociosidade   Como Evitar a Ociosidade?   1a. Executar TUDO que se propôs; usar toda a Capacidade Instalada  2a. Montar o Negócio do tamanho real de sua capacidade de venda </vt:lpstr>
      <vt:lpstr>Métodos de Custeio</vt:lpstr>
      <vt:lpstr>Custeio por Absorção</vt:lpstr>
      <vt:lpstr>Custeio por Absorção</vt:lpstr>
      <vt:lpstr>Custeio por Absorção</vt:lpstr>
      <vt:lpstr>Custeio Variável</vt:lpstr>
      <vt:lpstr>Custeio Variável</vt:lpstr>
      <vt:lpstr>Custeio Variável</vt:lpstr>
      <vt:lpstr>Custeio Variável</vt:lpstr>
      <vt:lpstr>D R E</vt:lpstr>
      <vt:lpstr>Como avaliar o Desempenho de um  Centro de Custo? </vt:lpstr>
      <vt:lpstr>Como avaliar o Desempenho de um  Centro de Custo? Pela MARGEM DE CONTRIBUIÇÃO! </vt:lpstr>
      <vt:lpstr>REFLEXOS DAS VARIAÇÕES DA RECEITA</vt:lpstr>
      <vt:lpstr>Custeio Baseado em Atividade ABC (Activity Based Costing )</vt:lpstr>
      <vt:lpstr>Indicações de uso do ABC</vt:lpstr>
      <vt:lpstr>Direcionadores de Custos</vt:lpstr>
      <vt:lpstr>Principais dificuldades do ABC</vt:lpstr>
      <vt:lpstr>Ponto de Equilíbrio</vt:lpstr>
      <vt:lpstr>Ponto de Equilíbrio Operacional</vt:lpstr>
      <vt:lpstr>Ponto de Equilíbrio</vt:lpstr>
      <vt:lpstr>Ponto de Equilíbrio</vt:lpstr>
      <vt:lpstr>Ponto de Equilíbrio</vt:lpstr>
      <vt:lpstr>Ponto de Equilíbrio</vt:lpstr>
      <vt:lpstr>Afinal, como se Forma o Preço?</vt:lpstr>
      <vt:lpstr>Como se calcula o Preço?</vt:lpstr>
      <vt:lpstr>Afinal, como se Forma o Preço?</vt:lpstr>
      <vt:lpstr>Afinal, como se Forma o Preço?</vt:lpstr>
      <vt:lpstr>Afinal, como se Forma o Preço?</vt:lpstr>
      <vt:lpstr>Afinal, como se Forma o Preço?</vt:lpstr>
      <vt:lpstr>Muito Obrigado!!!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dolor</dc:title>
  <dc:creator>Marcia</dc:creator>
  <cp:keywords>FGV</cp:keywords>
  <cp:lastModifiedBy>Waldir Jorge Ladeira dos Santos</cp:lastModifiedBy>
  <cp:revision>79</cp:revision>
  <dcterms:created xsi:type="dcterms:W3CDTF">2019-07-15T02:25:58Z</dcterms:created>
  <dcterms:modified xsi:type="dcterms:W3CDTF">2025-01-27T17:15:27Z</dcterms:modified>
</cp:coreProperties>
</file>